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80DE87-FBAE-E763-DB93-D2E4555F15D0}" v="3" dt="2026-08-19T18:59:33.8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pic>
        <p:nvPicPr>
          <p:cNvPr id="2" name="Image 0" descr="Ilustración abstracta de flujos de código sobre fondo oscuro"/>
          <p:cNvPicPr>
            <a:picLocks noChangeAspect="1"/>
          </p:cNvPicPr>
          <p:nvPr/>
        </p:nvPicPr>
        <p:blipFill>
          <a:blip r:embed="rId3"/>
          <a:srcRect t="27" b="27"/>
          <a:stretch/>
        </p:blipFill>
        <p:spPr>
          <a:xfrm>
            <a:off x="0" y="0"/>
            <a:ext cx="9144000" cy="5143500"/>
          </a:xfrm>
          <a:prstGeom prst="rect">
            <a:avLst/>
          </a:prstGeom>
        </p:spPr>
      </p:pic>
      <p:sp>
        <p:nvSpPr>
          <p:cNvPr id="3" name="Velo oscuro">
            <a:extLst>
              <a:ext uri="{C183D7F6-B498-43B3-948B-1728B52AA6E4}">
                <adec:decorative xmlns:adec="http://schemas.microsoft.com/office/drawing/2017/decorative" val="1"/>
              </a:ext>
            </a:extLst>
          </p:cNvPr>
          <p:cNvSpPr/>
          <p:nvPr/>
        </p:nvSpPr>
        <p:spPr>
          <a:xfrm>
            <a:off x="0" y="0"/>
            <a:ext cx="9144000" cy="5143500"/>
          </a:xfrm>
          <a:prstGeom prst="rect">
            <a:avLst/>
          </a:prstGeom>
          <a:solidFill>
            <a:srgbClr val="0D1117">
              <a:alpha val="68000"/>
            </a:srgbClr>
          </a:solidFill>
          <a:ln/>
        </p:spPr>
      </p:sp>
      <p:sp>
        <p:nvSpPr>
          <p:cNvPr id="4" name="Barra de acento">
            <a:extLst>
              <a:ext uri="{C183D7F6-B498-43B3-948B-1728B52AA6E4}">
                <adec:decorative xmlns:adec="http://schemas.microsoft.com/office/drawing/2017/decorative" val="1"/>
              </a:ext>
            </a:extLst>
          </p:cNvPr>
          <p:cNvSpPr/>
          <p:nvPr/>
        </p:nvSpPr>
        <p:spPr>
          <a:xfrm>
            <a:off x="640080" y="1298448"/>
            <a:ext cx="64008" cy="1828800"/>
          </a:xfrm>
          <a:prstGeom prst="rect">
            <a:avLst/>
          </a:prstGeom>
          <a:solidFill>
            <a:srgbClr val="7EE787"/>
          </a:solidFill>
          <a:ln/>
        </p:spPr>
      </p:sp>
      <p:sp>
        <p:nvSpPr>
          <p:cNvPr id="5" name="Text 2"/>
          <p:cNvSpPr/>
          <p:nvPr/>
        </p:nvSpPr>
        <p:spPr>
          <a:xfrm>
            <a:off x="896112" y="1298448"/>
            <a:ext cx="6858000" cy="256032"/>
          </a:xfrm>
          <a:prstGeom prst="rect">
            <a:avLst/>
          </a:prstGeom>
          <a:noFill/>
          <a:ln/>
        </p:spPr>
        <p:txBody>
          <a:bodyPr wrap="square" lIns="0" tIns="0" rIns="0" bIns="0" rtlCol="0" anchor="ctr"/>
          <a:lstStyle/>
          <a:p>
            <a:pPr marL="0" indent="0">
              <a:buNone/>
            </a:pPr>
            <a:r>
              <a:rPr lang="en-US" sz="1100" kern="0" spc="300" dirty="0">
                <a:solidFill>
                  <a:srgbClr val="7EE787"/>
                </a:solidFill>
                <a:latin typeface="Consolas" pitchFamily="34" charset="0"/>
                <a:ea typeface="Consolas" pitchFamily="34" charset="-122"/>
                <a:cs typeface="Consolas" pitchFamily="34" charset="-120"/>
              </a:rPr>
              <a:t>MÓDULO DE FORMACIÓN</a:t>
            </a:r>
            <a:endParaRPr lang="en-US" sz="1100" dirty="0"/>
          </a:p>
        </p:txBody>
      </p:sp>
      <p:sp>
        <p:nvSpPr>
          <p:cNvPr id="6" name="Text 3"/>
          <p:cNvSpPr/>
          <p:nvPr/>
        </p:nvSpPr>
        <p:spPr>
          <a:xfrm>
            <a:off x="896112" y="1609344"/>
            <a:ext cx="7498080" cy="777240"/>
          </a:xfrm>
          <a:prstGeom prst="rect">
            <a:avLst/>
          </a:prstGeom>
          <a:noFill/>
          <a:ln/>
        </p:spPr>
        <p:txBody>
          <a:bodyPr wrap="square" lIns="0" tIns="0" rIns="0" bIns="0" rtlCol="0" anchor="ctr"/>
          <a:lstStyle/>
          <a:p>
            <a:pPr marL="0" indent="0">
              <a:buNone/>
            </a:pPr>
            <a:r>
              <a:rPr lang="en-US" sz="4600" b="1" dirty="0">
                <a:solidFill>
                  <a:srgbClr val="E6EDF3"/>
                </a:solidFill>
                <a:latin typeface="Segoe UI" pitchFamily="34" charset="0"/>
                <a:ea typeface="Segoe UI" pitchFamily="34" charset="-122"/>
                <a:cs typeface="Segoe UI" pitchFamily="34" charset="-120"/>
              </a:rPr>
              <a:t>GitHub Copilot</a:t>
            </a:r>
            <a:endParaRPr lang="en-US" sz="4600" dirty="0"/>
          </a:p>
        </p:txBody>
      </p:sp>
      <p:sp>
        <p:nvSpPr>
          <p:cNvPr id="7" name="Text 4"/>
          <p:cNvSpPr/>
          <p:nvPr/>
        </p:nvSpPr>
        <p:spPr>
          <a:xfrm>
            <a:off x="896112" y="2377440"/>
            <a:ext cx="7498080" cy="548640"/>
          </a:xfrm>
          <a:prstGeom prst="rect">
            <a:avLst/>
          </a:prstGeom>
          <a:noFill/>
          <a:ln/>
        </p:spPr>
        <p:txBody>
          <a:bodyPr wrap="square" lIns="0" tIns="0" rIns="0" bIns="0" rtlCol="0" anchor="ctr"/>
          <a:lstStyle/>
          <a:p>
            <a:pPr marL="0" indent="0">
              <a:buNone/>
            </a:pPr>
            <a:r>
              <a:rPr lang="en-US" sz="3000" dirty="0">
                <a:solidFill>
                  <a:srgbClr val="58A6FF"/>
                </a:solidFill>
                <a:latin typeface="Segoe UI" pitchFamily="34" charset="0"/>
                <a:ea typeface="Segoe UI" pitchFamily="34" charset="-122"/>
                <a:cs typeface="Segoe UI" pitchFamily="34" charset="-120"/>
              </a:rPr>
              <a:t>Características avanzadas</a:t>
            </a:r>
            <a:endParaRPr lang="en-US" sz="3000" dirty="0"/>
          </a:p>
        </p:txBody>
      </p:sp>
      <p:sp>
        <p:nvSpPr>
          <p:cNvPr id="8" name="Text 5"/>
          <p:cNvSpPr/>
          <p:nvPr/>
        </p:nvSpPr>
        <p:spPr>
          <a:xfrm>
            <a:off x="896112" y="3054096"/>
            <a:ext cx="6309360" cy="640080"/>
          </a:xfrm>
          <a:prstGeom prst="rect">
            <a:avLst/>
          </a:prstGeom>
          <a:noFill/>
          <a:ln/>
        </p:spPr>
        <p:txBody>
          <a:bodyPr wrap="square" lIns="0" tIns="0" rIns="0" bIns="0" rtlCol="0" anchor="ctr"/>
          <a:lstStyle/>
          <a:p>
            <a:pPr marL="0" indent="0">
              <a:lnSpc>
                <a:spcPct val="120000"/>
              </a:lnSpc>
              <a:buNone/>
            </a:pPr>
            <a:r>
              <a:rPr lang="en-US" sz="1300" dirty="0">
                <a:solidFill>
                  <a:srgbClr val="8B949E"/>
                </a:solidFill>
                <a:latin typeface="Segoe UI" pitchFamily="34" charset="0"/>
                <a:ea typeface="Segoe UI" pitchFamily="34" charset="-122"/>
                <a:cs typeface="Segoe UI" pitchFamily="34" charset="-120"/>
              </a:rPr>
              <a:t>Texto fantasma, chat, comandos de barra diagonal y agentes aplicados a un proyecto real en GitHub Codespaces</a:t>
            </a:r>
            <a:endParaRPr lang="en-US" sz="1300" dirty="0"/>
          </a:p>
        </p:txBody>
      </p:sp>
      <p:sp>
        <p:nvSpPr>
          <p:cNvPr id="9" name="Separador">
            <a:extLst>
              <a:ext uri="{C183D7F6-B498-43B3-948B-1728B52AA6E4}">
                <adec:decorative xmlns:adec="http://schemas.microsoft.com/office/drawing/2017/decorative" val="1"/>
              </a:ext>
            </a:extLst>
          </p:cNvPr>
          <p:cNvSpPr/>
          <p:nvPr/>
        </p:nvSpPr>
        <p:spPr>
          <a:xfrm>
            <a:off x="640080" y="3977640"/>
            <a:ext cx="2926080" cy="13716"/>
          </a:xfrm>
          <a:prstGeom prst="rect">
            <a:avLst/>
          </a:prstGeom>
          <a:solidFill>
            <a:srgbClr val="30363D"/>
          </a:solidFill>
          <a:ln/>
        </p:spPr>
      </p:sp>
      <p:sp>
        <p:nvSpPr>
          <p:cNvPr id="10" name="Text 7"/>
          <p:cNvSpPr/>
          <p:nvPr/>
        </p:nvSpPr>
        <p:spPr>
          <a:xfrm>
            <a:off x="640080" y="4114800"/>
            <a:ext cx="5486400" cy="274320"/>
          </a:xfrm>
          <a:prstGeom prst="rect">
            <a:avLst/>
          </a:prstGeom>
          <a:noFill/>
          <a:ln/>
        </p:spPr>
        <p:txBody>
          <a:bodyPr wrap="square" lIns="0" tIns="0" rIns="0" bIns="0"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Guía práctica  ·  Python  ·  Visual Studio Code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Barra de acento">
            <a:extLst>
              <a:ext uri="{C183D7F6-B498-43B3-948B-1728B52AA6E4}">
                <adec:decorative xmlns:adec="http://schemas.microsoft.com/office/drawing/2017/decorative" val="1"/>
              </a:ext>
            </a:extLst>
          </p:cNvPr>
          <p:cNvSpPr/>
          <p:nvPr/>
        </p:nvSpPr>
        <p:spPr>
          <a:xfrm>
            <a:off x="502920" y="384048"/>
            <a:ext cx="54864" cy="566928"/>
          </a:xfrm>
          <a:prstGeom prst="rect">
            <a:avLst/>
          </a:prstGeom>
          <a:solidFill>
            <a:srgbClr val="7EE787"/>
          </a:solidFill>
          <a:ln/>
        </p:spPr>
      </p:sp>
      <p:sp>
        <p:nvSpPr>
          <p:cNvPr id="3" name="Text 1"/>
          <p:cNvSpPr/>
          <p:nvPr/>
        </p:nvSpPr>
        <p:spPr>
          <a:xfrm>
            <a:off x="713232" y="365760"/>
            <a:ext cx="7955280" cy="219456"/>
          </a:xfrm>
          <a:prstGeom prst="rect">
            <a:avLst/>
          </a:prstGeom>
          <a:noFill/>
          <a:ln/>
        </p:spPr>
        <p:txBody>
          <a:bodyPr wrap="square" lIns="0" tIns="0" rIns="0" bIns="0" rtlCol="0" anchor="ctr"/>
          <a:lstStyle/>
          <a:p>
            <a:pPr marL="0" indent="0">
              <a:buNone/>
            </a:pPr>
            <a:r>
              <a:rPr lang="en-US" sz="1000" kern="0" spc="200" dirty="0">
                <a:solidFill>
                  <a:srgbClr val="7EE787"/>
                </a:solidFill>
                <a:latin typeface="Consolas" pitchFamily="34" charset="0"/>
                <a:ea typeface="Consolas" pitchFamily="34" charset="-122"/>
                <a:cs typeface="Consolas" pitchFamily="34" charset="-120"/>
              </a:rPr>
              <a:t>INTRODUCCIÓN</a:t>
            </a:r>
            <a:endParaRPr lang="en-US" sz="1000" dirty="0"/>
          </a:p>
        </p:txBody>
      </p:sp>
      <p:sp>
        <p:nvSpPr>
          <p:cNvPr id="4" name="Text 2"/>
          <p:cNvSpPr/>
          <p:nvPr/>
        </p:nvSpPr>
        <p:spPr>
          <a:xfrm>
            <a:off x="713232" y="566928"/>
            <a:ext cx="7955280" cy="411480"/>
          </a:xfrm>
          <a:prstGeom prst="rect">
            <a:avLst/>
          </a:prstGeom>
          <a:noFill/>
          <a:ln/>
        </p:spPr>
        <p:txBody>
          <a:bodyPr wrap="square" lIns="0" tIns="0" rIns="0" bIns="0" rtlCol="0" anchor="ctr"/>
          <a:lstStyle/>
          <a:p>
            <a:pPr marL="0" indent="0">
              <a:buNone/>
            </a:pPr>
            <a:r>
              <a:rPr lang="en-US" sz="2600" b="1" dirty="0">
                <a:solidFill>
                  <a:srgbClr val="E6EDF3"/>
                </a:solidFill>
                <a:latin typeface="Segoe UI" pitchFamily="34" charset="0"/>
                <a:ea typeface="Segoe UI" pitchFamily="34" charset="-122"/>
                <a:cs typeface="Segoe UI" pitchFamily="34" charset="-120"/>
              </a:rPr>
              <a:t>Un asistente de codificación con IA</a:t>
            </a:r>
            <a:endParaRPr lang="en-US" sz="2600" dirty="0"/>
          </a:p>
        </p:txBody>
      </p:sp>
      <p:sp>
        <p:nvSpPr>
          <p:cNvPr id="5" name="Text 3"/>
          <p:cNvSpPr/>
          <p:nvPr/>
        </p:nvSpPr>
        <p:spPr>
          <a:xfrm>
            <a:off x="713232" y="1234440"/>
            <a:ext cx="4480560" cy="822960"/>
          </a:xfrm>
          <a:prstGeom prst="rect">
            <a:avLst/>
          </a:prstGeom>
          <a:noFill/>
          <a:ln/>
        </p:spPr>
        <p:txBody>
          <a:bodyPr wrap="square" lIns="0" tIns="0" rIns="0" bIns="0" rtlCol="0" anchor="ctr"/>
          <a:lstStyle/>
          <a:p>
            <a:pPr marL="0" indent="0">
              <a:lnSpc>
                <a:spcPct val="125000"/>
              </a:lnSpc>
              <a:buNone/>
            </a:pPr>
            <a:r>
              <a:rPr lang="en-US" sz="1300" b="1" dirty="0">
                <a:solidFill>
                  <a:srgbClr val="E6EDF3"/>
                </a:solidFill>
                <a:latin typeface="Segoe UI" pitchFamily="34" charset="0"/>
                <a:ea typeface="Segoe UI" pitchFamily="34" charset="-122"/>
                <a:cs typeface="Segoe UI" pitchFamily="34" charset="-120"/>
              </a:rPr>
              <a:t>GitHub Copilot </a:t>
            </a:r>
            <a:r>
              <a:rPr lang="en-US" sz="1300" dirty="0">
                <a:solidFill>
                  <a:srgbClr val="8B949E"/>
                </a:solidFill>
                <a:latin typeface="Segoe UI" pitchFamily="34" charset="0"/>
                <a:ea typeface="Segoe UI" pitchFamily="34" charset="-122"/>
                <a:cs typeface="Segoe UI" pitchFamily="34" charset="-120"/>
              </a:rPr>
              <a:t>proporciona sugerencias de autocompletado mientras se programa, a partir del código ya escrito o mediante lenguaje natural.</a:t>
            </a:r>
            <a:endParaRPr lang="en-US" sz="1300" dirty="0"/>
          </a:p>
        </p:txBody>
      </p:sp>
      <p:sp>
        <p:nvSpPr>
          <p:cNvPr id="6" name="Text 4"/>
          <p:cNvSpPr/>
          <p:nvPr/>
        </p:nvSpPr>
        <p:spPr>
          <a:xfrm>
            <a:off x="713232" y="2103120"/>
            <a:ext cx="4480560" cy="822960"/>
          </a:xfrm>
          <a:prstGeom prst="rect">
            <a:avLst/>
          </a:prstGeom>
          <a:noFill/>
          <a:ln/>
        </p:spPr>
        <p:txBody>
          <a:bodyPr wrap="square" lIns="0" tIns="0" rIns="0" bIns="0" rtlCol="0" anchor="ctr"/>
          <a:lstStyle/>
          <a:p>
            <a:pPr marL="0" indent="0">
              <a:lnSpc>
                <a:spcPct val="125000"/>
              </a:lnSpc>
              <a:buNone/>
            </a:pPr>
            <a:r>
              <a:rPr lang="en-US" sz="1300" dirty="0">
                <a:solidFill>
                  <a:srgbClr val="8B949E"/>
                </a:solidFill>
                <a:latin typeface="Segoe UI" pitchFamily="34" charset="0"/>
                <a:ea typeface="Segoe UI" pitchFamily="34" charset="-122"/>
                <a:cs typeface="Segoe UI" pitchFamily="34" charset="-120"/>
              </a:rPr>
              <a:t>Analiza el archivo actual y los archivos relacionados, y utiliza el contexto del código y de los comentarios para sugerir nuevas líneas o funciones completas.</a:t>
            </a:r>
            <a:endParaRPr lang="en-US" sz="1300" dirty="0"/>
          </a:p>
        </p:txBody>
      </p:sp>
      <p:sp>
        <p:nvSpPr>
          <p:cNvPr id="7" name="Tarjeta de contenido">
            <a:extLst>
              <a:ext uri="{C183D7F6-B498-43B3-948B-1728B52AA6E4}">
                <adec:decorative xmlns:adec="http://schemas.microsoft.com/office/drawing/2017/decorative" val="1"/>
              </a:ext>
            </a:extLst>
          </p:cNvPr>
          <p:cNvSpPr/>
          <p:nvPr/>
        </p:nvSpPr>
        <p:spPr>
          <a:xfrm>
            <a:off x="713232" y="3017520"/>
            <a:ext cx="4480560" cy="1417320"/>
          </a:xfrm>
          <a:prstGeom prst="rect">
            <a:avLst/>
          </a:prstGeom>
          <a:solidFill>
            <a:srgbClr val="161B22"/>
          </a:solidFill>
          <a:ln w="12700">
            <a:solidFill>
              <a:srgbClr val="30363D"/>
            </a:solidFill>
            <a:prstDash val="solid"/>
          </a:ln>
        </p:spPr>
      </p:sp>
      <p:sp>
        <p:nvSpPr>
          <p:cNvPr id="8" name="Acento de tarjeta">
            <a:extLst>
              <a:ext uri="{C183D7F6-B498-43B3-948B-1728B52AA6E4}">
                <adec:decorative xmlns:adec="http://schemas.microsoft.com/office/drawing/2017/decorative" val="1"/>
              </a:ext>
            </a:extLst>
          </p:cNvPr>
          <p:cNvSpPr/>
          <p:nvPr/>
        </p:nvSpPr>
        <p:spPr>
          <a:xfrm>
            <a:off x="713232" y="3017520"/>
            <a:ext cx="45720" cy="1417320"/>
          </a:xfrm>
          <a:prstGeom prst="rect">
            <a:avLst/>
          </a:prstGeom>
          <a:solidFill>
            <a:srgbClr val="58A6FF"/>
          </a:solidFill>
          <a:ln/>
        </p:spPr>
      </p:sp>
      <p:sp>
        <p:nvSpPr>
          <p:cNvPr id="9" name="Text 7"/>
          <p:cNvSpPr/>
          <p:nvPr/>
        </p:nvSpPr>
        <p:spPr>
          <a:xfrm>
            <a:off x="932688" y="3163824"/>
            <a:ext cx="407822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GitHub Codespaces</a:t>
            </a:r>
            <a:endParaRPr lang="en-US" sz="1300" dirty="0"/>
          </a:p>
        </p:txBody>
      </p:sp>
      <p:sp>
        <p:nvSpPr>
          <p:cNvPr id="10" name="Text 8"/>
          <p:cNvSpPr/>
          <p:nvPr/>
        </p:nvSpPr>
        <p:spPr>
          <a:xfrm>
            <a:off x="932688" y="3474720"/>
            <a:ext cx="4078224" cy="813816"/>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Entorno de desarrollo hospedado en la nube que puede ejecutarse con Visual Studio Code. Permite personalizar dependencias, bibliotecas, extensiones y configuración del editor para cada proyecto de GitHub.</a:t>
            </a:r>
            <a:endParaRPr lang="en-US" sz="1050" dirty="0"/>
          </a:p>
        </p:txBody>
      </p:sp>
      <p:pic>
        <p:nvPicPr>
          <p:cNvPr id="11" name="Image 0" descr="Ilustración abstracta de un entorno de desarrollo en la nube"/>
          <p:cNvPicPr>
            <a:picLocks noChangeAspect="1"/>
          </p:cNvPicPr>
          <p:nvPr/>
        </p:nvPicPr>
        <p:blipFill>
          <a:blip r:embed="rId3"/>
          <a:srcRect l="21241" r="21241"/>
          <a:stretch/>
        </p:blipFill>
        <p:spPr>
          <a:xfrm>
            <a:off x="5532120" y="1234440"/>
            <a:ext cx="3108960" cy="3200400"/>
          </a:xfrm>
          <a:prstGeom prst="rect">
            <a:avLst/>
          </a:prstGeom>
        </p:spPr>
      </p:pic>
      <p:sp>
        <p:nvSpPr>
          <p:cNvPr id="12" name="Línea de pie">
            <a:extLst>
              <a:ext uri="{C183D7F6-B498-43B3-948B-1728B52AA6E4}">
                <adec:decorative xmlns:adec="http://schemas.microsoft.com/office/drawing/2017/decorative" val="1"/>
              </a:ext>
            </a:extLst>
          </p:cNvPr>
          <p:cNvSpPr/>
          <p:nvPr/>
        </p:nvSpPr>
        <p:spPr>
          <a:xfrm>
            <a:off x="0" y="4956048"/>
            <a:ext cx="9144000" cy="13716"/>
          </a:xfrm>
          <a:prstGeom prst="rect">
            <a:avLst/>
          </a:prstGeom>
          <a:solidFill>
            <a:srgbClr val="30363D"/>
          </a:solidFill>
          <a:ln/>
        </p:spPr>
      </p:sp>
      <p:sp>
        <p:nvSpPr>
          <p:cNvPr id="13" name="Text 10"/>
          <p:cNvSpPr/>
          <p:nvPr/>
        </p:nvSpPr>
        <p:spPr>
          <a:xfrm>
            <a:off x="502920" y="4718304"/>
            <a:ext cx="5486400" cy="219456"/>
          </a:xfrm>
          <a:prstGeom prst="rect">
            <a:avLst/>
          </a:prstGeom>
          <a:noFill/>
          <a:ln/>
        </p:spPr>
        <p:txBody>
          <a:bodyPr wrap="square" lIns="0" tIns="0" rIns="0" bIns="0"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GitHub Copilot — Características avanzadas</a:t>
            </a:r>
            <a:endParaRPr lang="en-US" sz="900" dirty="0"/>
          </a:p>
        </p:txBody>
      </p:sp>
      <p:sp>
        <p:nvSpPr>
          <p:cNvPr id="14" name="Text 11"/>
          <p:cNvSpPr/>
          <p:nvPr/>
        </p:nvSpPr>
        <p:spPr>
          <a:xfrm>
            <a:off x="7863840" y="4718304"/>
            <a:ext cx="777240" cy="219456"/>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Barra de acento">
            <a:extLst>
              <a:ext uri="{C183D7F6-B498-43B3-948B-1728B52AA6E4}">
                <adec:decorative xmlns:adec="http://schemas.microsoft.com/office/drawing/2017/decorative" val="1"/>
              </a:ext>
            </a:extLst>
          </p:cNvPr>
          <p:cNvSpPr/>
          <p:nvPr/>
        </p:nvSpPr>
        <p:spPr>
          <a:xfrm>
            <a:off x="502920" y="384048"/>
            <a:ext cx="54864" cy="566928"/>
          </a:xfrm>
          <a:prstGeom prst="rect">
            <a:avLst/>
          </a:prstGeom>
          <a:solidFill>
            <a:srgbClr val="7EE787"/>
          </a:solidFill>
          <a:ln/>
        </p:spPr>
      </p:sp>
      <p:sp>
        <p:nvSpPr>
          <p:cNvPr id="3" name="Text 1"/>
          <p:cNvSpPr/>
          <p:nvPr/>
        </p:nvSpPr>
        <p:spPr>
          <a:xfrm>
            <a:off x="713232" y="365760"/>
            <a:ext cx="7955280" cy="219456"/>
          </a:xfrm>
          <a:prstGeom prst="rect">
            <a:avLst/>
          </a:prstGeom>
          <a:noFill/>
          <a:ln/>
        </p:spPr>
        <p:txBody>
          <a:bodyPr wrap="square" lIns="0" tIns="0" rIns="0" bIns="0" rtlCol="0" anchor="ctr"/>
          <a:lstStyle/>
          <a:p>
            <a:pPr marL="0" indent="0">
              <a:buNone/>
            </a:pPr>
            <a:r>
              <a:rPr lang="en-US" sz="1000" kern="0" spc="200" dirty="0">
                <a:solidFill>
                  <a:srgbClr val="7EE787"/>
                </a:solidFill>
                <a:latin typeface="Consolas" pitchFamily="34" charset="0"/>
                <a:ea typeface="Consolas" pitchFamily="34" charset="-122"/>
                <a:cs typeface="Consolas" pitchFamily="34" charset="-120"/>
              </a:rPr>
              <a:t>ESCENARIO</a:t>
            </a:r>
            <a:endParaRPr lang="en-US" sz="1000" dirty="0"/>
          </a:p>
        </p:txBody>
      </p:sp>
      <p:sp>
        <p:nvSpPr>
          <p:cNvPr id="4" name="Text 2"/>
          <p:cNvSpPr/>
          <p:nvPr/>
        </p:nvSpPr>
        <p:spPr>
          <a:xfrm>
            <a:off x="713232" y="566928"/>
            <a:ext cx="7955280" cy="411480"/>
          </a:xfrm>
          <a:prstGeom prst="rect">
            <a:avLst/>
          </a:prstGeom>
          <a:noFill/>
          <a:ln/>
        </p:spPr>
        <p:txBody>
          <a:bodyPr wrap="square" lIns="0" tIns="0" rIns="0" bIns="0" rtlCol="0" anchor="ctr"/>
          <a:lstStyle/>
          <a:p>
            <a:pPr marL="0" indent="0">
              <a:buNone/>
            </a:pPr>
            <a:r>
              <a:rPr lang="en-US" sz="2600" b="1" dirty="0">
                <a:solidFill>
                  <a:srgbClr val="E6EDF3"/>
                </a:solidFill>
                <a:latin typeface="Segoe UI" pitchFamily="34" charset="0"/>
                <a:ea typeface="Segoe UI" pitchFamily="34" charset="-122"/>
                <a:cs typeface="Segoe UI" pitchFamily="34" charset="-120"/>
              </a:rPr>
              <a:t>Trabajar con un proyecto existente</a:t>
            </a:r>
            <a:endParaRPr lang="en-US" sz="2600" dirty="0"/>
          </a:p>
        </p:txBody>
      </p:sp>
      <p:sp>
        <p:nvSpPr>
          <p:cNvPr id="5" name="Text 3"/>
          <p:cNvSpPr/>
          <p:nvPr/>
        </p:nvSpPr>
        <p:spPr>
          <a:xfrm>
            <a:off x="713232" y="1188720"/>
            <a:ext cx="7772400" cy="365760"/>
          </a:xfrm>
          <a:prstGeom prst="rect">
            <a:avLst/>
          </a:prstGeom>
          <a:noFill/>
          <a:ln/>
        </p:spPr>
        <p:txBody>
          <a:bodyPr wrap="square" lIns="0" tIns="0" rIns="0" bIns="0" rtlCol="0" anchor="ctr"/>
          <a:lstStyle/>
          <a:p>
            <a:pPr marL="0" indent="0">
              <a:buNone/>
            </a:pPr>
            <a:r>
              <a:rPr lang="en-US" sz="1300" dirty="0">
                <a:solidFill>
                  <a:srgbClr val="8B949E"/>
                </a:solidFill>
                <a:latin typeface="Segoe UI" pitchFamily="34" charset="0"/>
                <a:ea typeface="Segoe UI" pitchFamily="34" charset="-122"/>
                <a:cs typeface="Segoe UI" pitchFamily="34" charset="-120"/>
              </a:rPr>
              <a:t>Copilot aumenta la productividad tanto en proyectos nuevos como existentes, aplicando funciones avanzadas de IA a tareas cotidianas.</a:t>
            </a:r>
            <a:endParaRPr lang="en-US" sz="1300" dirty="0"/>
          </a:p>
        </p:txBody>
      </p:sp>
      <p:sp>
        <p:nvSpPr>
          <p:cNvPr id="6" name="Tarjeta de contenido">
            <a:extLst>
              <a:ext uri="{C183D7F6-B498-43B3-948B-1728B52AA6E4}">
                <adec:decorative xmlns:adec="http://schemas.microsoft.com/office/drawing/2017/decorative" val="1"/>
              </a:ext>
            </a:extLst>
          </p:cNvPr>
          <p:cNvSpPr/>
          <p:nvPr/>
        </p:nvSpPr>
        <p:spPr>
          <a:xfrm>
            <a:off x="713232" y="1691640"/>
            <a:ext cx="2514600" cy="1188720"/>
          </a:xfrm>
          <a:prstGeom prst="rect">
            <a:avLst/>
          </a:prstGeom>
          <a:solidFill>
            <a:srgbClr val="161B22"/>
          </a:solidFill>
          <a:ln w="12700">
            <a:solidFill>
              <a:srgbClr val="30363D"/>
            </a:solidFill>
            <a:prstDash val="solid"/>
          </a:ln>
        </p:spPr>
      </p:sp>
      <p:sp>
        <p:nvSpPr>
          <p:cNvPr id="7" name="Acento de tarjeta">
            <a:extLst>
              <a:ext uri="{C183D7F6-B498-43B3-948B-1728B52AA6E4}">
                <adec:decorative xmlns:adec="http://schemas.microsoft.com/office/drawing/2017/decorative" val="1"/>
              </a:ext>
            </a:extLst>
          </p:cNvPr>
          <p:cNvSpPr/>
          <p:nvPr/>
        </p:nvSpPr>
        <p:spPr>
          <a:xfrm>
            <a:off x="713232" y="1691640"/>
            <a:ext cx="45720" cy="1188720"/>
          </a:xfrm>
          <a:prstGeom prst="rect">
            <a:avLst/>
          </a:prstGeom>
          <a:solidFill>
            <a:srgbClr val="7EE787"/>
          </a:solidFill>
          <a:ln/>
        </p:spPr>
      </p:sp>
      <p:sp>
        <p:nvSpPr>
          <p:cNvPr id="8" name="Text 6"/>
          <p:cNvSpPr/>
          <p:nvPr/>
        </p:nvSpPr>
        <p:spPr>
          <a:xfrm>
            <a:off x="932688" y="1837944"/>
            <a:ext cx="211226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Escritura de código</a:t>
            </a:r>
            <a:endParaRPr lang="en-US" sz="1300" dirty="0"/>
          </a:p>
        </p:txBody>
      </p:sp>
      <p:sp>
        <p:nvSpPr>
          <p:cNvPr id="9" name="Text 7"/>
          <p:cNvSpPr/>
          <p:nvPr/>
        </p:nvSpPr>
        <p:spPr>
          <a:xfrm>
            <a:off x="932688" y="2148840"/>
            <a:ext cx="2112264" cy="585216"/>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Generación de líneas y funciones completas.</a:t>
            </a:r>
            <a:endParaRPr lang="en-US" sz="1050" dirty="0"/>
          </a:p>
        </p:txBody>
      </p:sp>
      <p:sp>
        <p:nvSpPr>
          <p:cNvPr id="10" name="Tarjeta de contenido">
            <a:extLst>
              <a:ext uri="{C183D7F6-B498-43B3-948B-1728B52AA6E4}">
                <adec:decorative xmlns:adec="http://schemas.microsoft.com/office/drawing/2017/decorative" val="1"/>
              </a:ext>
            </a:extLst>
          </p:cNvPr>
          <p:cNvSpPr/>
          <p:nvPr/>
        </p:nvSpPr>
        <p:spPr>
          <a:xfrm>
            <a:off x="3502152" y="1691640"/>
            <a:ext cx="2514600" cy="1188720"/>
          </a:xfrm>
          <a:prstGeom prst="rect">
            <a:avLst/>
          </a:prstGeom>
          <a:solidFill>
            <a:srgbClr val="161B22"/>
          </a:solidFill>
          <a:ln w="12700">
            <a:solidFill>
              <a:srgbClr val="30363D"/>
            </a:solidFill>
            <a:prstDash val="solid"/>
          </a:ln>
        </p:spPr>
      </p:sp>
      <p:sp>
        <p:nvSpPr>
          <p:cNvPr id="11" name="Acento de tarjeta">
            <a:extLst>
              <a:ext uri="{C183D7F6-B498-43B3-948B-1728B52AA6E4}">
                <adec:decorative xmlns:adec="http://schemas.microsoft.com/office/drawing/2017/decorative" val="1"/>
              </a:ext>
            </a:extLst>
          </p:cNvPr>
          <p:cNvSpPr/>
          <p:nvPr/>
        </p:nvSpPr>
        <p:spPr>
          <a:xfrm>
            <a:off x="3502152" y="1691640"/>
            <a:ext cx="45720" cy="1188720"/>
          </a:xfrm>
          <a:prstGeom prst="rect">
            <a:avLst/>
          </a:prstGeom>
          <a:solidFill>
            <a:srgbClr val="58A6FF"/>
          </a:solidFill>
          <a:ln/>
        </p:spPr>
      </p:sp>
      <p:sp>
        <p:nvSpPr>
          <p:cNvPr id="12" name="Text 10"/>
          <p:cNvSpPr/>
          <p:nvPr/>
        </p:nvSpPr>
        <p:spPr>
          <a:xfrm>
            <a:off x="3721608" y="1837944"/>
            <a:ext cx="211226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Documentación</a:t>
            </a:r>
            <a:endParaRPr lang="en-US" sz="1300" dirty="0"/>
          </a:p>
        </p:txBody>
      </p:sp>
      <p:sp>
        <p:nvSpPr>
          <p:cNvPr id="13" name="Text 11"/>
          <p:cNvSpPr/>
          <p:nvPr/>
        </p:nvSpPr>
        <p:spPr>
          <a:xfrm>
            <a:off x="3721608" y="2148840"/>
            <a:ext cx="2112264" cy="585216"/>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Redacción y actualización de documentos del proyecto.</a:t>
            </a:r>
            <a:endParaRPr lang="en-US" sz="1050" dirty="0"/>
          </a:p>
        </p:txBody>
      </p:sp>
      <p:sp>
        <p:nvSpPr>
          <p:cNvPr id="14" name="Tarjeta de contenido">
            <a:extLst>
              <a:ext uri="{C183D7F6-B498-43B3-948B-1728B52AA6E4}">
                <adec:decorative xmlns:adec="http://schemas.microsoft.com/office/drawing/2017/decorative" val="1"/>
              </a:ext>
            </a:extLst>
          </p:cNvPr>
          <p:cNvSpPr/>
          <p:nvPr/>
        </p:nvSpPr>
        <p:spPr>
          <a:xfrm>
            <a:off x="6291072" y="1691640"/>
            <a:ext cx="2514600" cy="1188720"/>
          </a:xfrm>
          <a:prstGeom prst="rect">
            <a:avLst/>
          </a:prstGeom>
          <a:solidFill>
            <a:srgbClr val="161B22"/>
          </a:solidFill>
          <a:ln w="12700">
            <a:solidFill>
              <a:srgbClr val="30363D"/>
            </a:solidFill>
            <a:prstDash val="solid"/>
          </a:ln>
        </p:spPr>
      </p:sp>
      <p:sp>
        <p:nvSpPr>
          <p:cNvPr id="15" name="Acento de tarjeta">
            <a:extLst>
              <a:ext uri="{C183D7F6-B498-43B3-948B-1728B52AA6E4}">
                <adec:decorative xmlns:adec="http://schemas.microsoft.com/office/drawing/2017/decorative" val="1"/>
              </a:ext>
            </a:extLst>
          </p:cNvPr>
          <p:cNvSpPr/>
          <p:nvPr/>
        </p:nvSpPr>
        <p:spPr>
          <a:xfrm>
            <a:off x="6291072" y="1691640"/>
            <a:ext cx="45720" cy="1188720"/>
          </a:xfrm>
          <a:prstGeom prst="rect">
            <a:avLst/>
          </a:prstGeom>
          <a:solidFill>
            <a:srgbClr val="7EE787"/>
          </a:solidFill>
          <a:ln/>
        </p:spPr>
      </p:sp>
      <p:sp>
        <p:nvSpPr>
          <p:cNvPr id="16" name="Text 14"/>
          <p:cNvSpPr/>
          <p:nvPr/>
        </p:nvSpPr>
        <p:spPr>
          <a:xfrm>
            <a:off x="6510528" y="1837944"/>
            <a:ext cx="211226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Pruebas</a:t>
            </a:r>
            <a:endParaRPr lang="en-US" sz="1300" dirty="0"/>
          </a:p>
        </p:txBody>
      </p:sp>
      <p:sp>
        <p:nvSpPr>
          <p:cNvPr id="17" name="Text 15"/>
          <p:cNvSpPr/>
          <p:nvPr/>
        </p:nvSpPr>
        <p:spPr>
          <a:xfrm>
            <a:off x="6510528" y="2148840"/>
            <a:ext cx="2112264" cy="585216"/>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Creación de pruebas unitarias sobre el código existente.</a:t>
            </a:r>
            <a:endParaRPr lang="en-US" sz="1050" dirty="0"/>
          </a:p>
        </p:txBody>
      </p:sp>
      <p:sp>
        <p:nvSpPr>
          <p:cNvPr id="18" name="Tarjeta de contenido">
            <a:extLst>
              <a:ext uri="{C183D7F6-B498-43B3-948B-1728B52AA6E4}">
                <adec:decorative xmlns:adec="http://schemas.microsoft.com/office/drawing/2017/decorative" val="1"/>
              </a:ext>
            </a:extLst>
          </p:cNvPr>
          <p:cNvSpPr/>
          <p:nvPr/>
        </p:nvSpPr>
        <p:spPr>
          <a:xfrm>
            <a:off x="713232" y="3108960"/>
            <a:ext cx="2514600" cy="1188720"/>
          </a:xfrm>
          <a:prstGeom prst="rect">
            <a:avLst/>
          </a:prstGeom>
          <a:solidFill>
            <a:srgbClr val="161B22"/>
          </a:solidFill>
          <a:ln w="12700">
            <a:solidFill>
              <a:srgbClr val="30363D"/>
            </a:solidFill>
            <a:prstDash val="solid"/>
          </a:ln>
        </p:spPr>
      </p:sp>
      <p:sp>
        <p:nvSpPr>
          <p:cNvPr id="19" name="Acento de tarjeta">
            <a:extLst>
              <a:ext uri="{C183D7F6-B498-43B3-948B-1728B52AA6E4}">
                <adec:decorative xmlns:adec="http://schemas.microsoft.com/office/drawing/2017/decorative" val="1"/>
              </a:ext>
            </a:extLst>
          </p:cNvPr>
          <p:cNvSpPr/>
          <p:nvPr/>
        </p:nvSpPr>
        <p:spPr>
          <a:xfrm>
            <a:off x="713232" y="3108960"/>
            <a:ext cx="45720" cy="1188720"/>
          </a:xfrm>
          <a:prstGeom prst="rect">
            <a:avLst/>
          </a:prstGeom>
          <a:solidFill>
            <a:srgbClr val="58A6FF"/>
          </a:solidFill>
          <a:ln/>
        </p:spPr>
      </p:sp>
      <p:sp>
        <p:nvSpPr>
          <p:cNvPr id="20" name="Text 18"/>
          <p:cNvSpPr/>
          <p:nvPr/>
        </p:nvSpPr>
        <p:spPr>
          <a:xfrm>
            <a:off x="932688" y="3255264"/>
            <a:ext cx="211226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Puntos de conexión de API</a:t>
            </a:r>
            <a:endParaRPr lang="en-US" sz="1300" dirty="0"/>
          </a:p>
        </p:txBody>
      </p:sp>
      <p:sp>
        <p:nvSpPr>
          <p:cNvPr id="21" name="Text 19"/>
          <p:cNvSpPr/>
          <p:nvPr/>
        </p:nvSpPr>
        <p:spPr>
          <a:xfrm>
            <a:off x="932688" y="3566160"/>
            <a:ext cx="2112264" cy="585216"/>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Incorporación de nuevas rutas HTTP.</a:t>
            </a:r>
            <a:endParaRPr lang="en-US" sz="1050" dirty="0"/>
          </a:p>
        </p:txBody>
      </p:sp>
      <p:sp>
        <p:nvSpPr>
          <p:cNvPr id="22" name="Tarjeta de contenido">
            <a:extLst>
              <a:ext uri="{C183D7F6-B498-43B3-948B-1728B52AA6E4}">
                <adec:decorative xmlns:adec="http://schemas.microsoft.com/office/drawing/2017/decorative" val="1"/>
              </a:ext>
            </a:extLst>
          </p:cNvPr>
          <p:cNvSpPr/>
          <p:nvPr/>
        </p:nvSpPr>
        <p:spPr>
          <a:xfrm>
            <a:off x="3502152" y="3108960"/>
            <a:ext cx="2514600" cy="1188720"/>
          </a:xfrm>
          <a:prstGeom prst="rect">
            <a:avLst/>
          </a:prstGeom>
          <a:solidFill>
            <a:srgbClr val="161B22"/>
          </a:solidFill>
          <a:ln w="12700">
            <a:solidFill>
              <a:srgbClr val="30363D"/>
            </a:solidFill>
            <a:prstDash val="solid"/>
          </a:ln>
        </p:spPr>
      </p:sp>
      <p:sp>
        <p:nvSpPr>
          <p:cNvPr id="23" name="Acento de tarjeta">
            <a:extLst>
              <a:ext uri="{C183D7F6-B498-43B3-948B-1728B52AA6E4}">
                <adec:decorative xmlns:adec="http://schemas.microsoft.com/office/drawing/2017/decorative" val="1"/>
              </a:ext>
            </a:extLst>
          </p:cNvPr>
          <p:cNvSpPr/>
          <p:nvPr/>
        </p:nvSpPr>
        <p:spPr>
          <a:xfrm>
            <a:off x="3502152" y="3108960"/>
            <a:ext cx="45720" cy="1188720"/>
          </a:xfrm>
          <a:prstGeom prst="rect">
            <a:avLst/>
          </a:prstGeom>
          <a:solidFill>
            <a:srgbClr val="7EE787"/>
          </a:solidFill>
          <a:ln/>
        </p:spPr>
      </p:sp>
      <p:sp>
        <p:nvSpPr>
          <p:cNvPr id="24" name="Text 22"/>
          <p:cNvSpPr/>
          <p:nvPr/>
        </p:nvSpPr>
        <p:spPr>
          <a:xfrm>
            <a:off x="3721608" y="3255264"/>
            <a:ext cx="211226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Comprensión del código</a:t>
            </a:r>
            <a:endParaRPr lang="en-US" sz="1300" dirty="0"/>
          </a:p>
        </p:txBody>
      </p:sp>
      <p:sp>
        <p:nvSpPr>
          <p:cNvPr id="25" name="Text 23"/>
          <p:cNvSpPr/>
          <p:nvPr/>
        </p:nvSpPr>
        <p:spPr>
          <a:xfrm>
            <a:off x="3721608" y="3566160"/>
            <a:ext cx="2112264" cy="585216"/>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Explicación de un código base ya existente.</a:t>
            </a:r>
            <a:endParaRPr lang="en-US" sz="1050" dirty="0"/>
          </a:p>
        </p:txBody>
      </p:sp>
      <p:sp>
        <p:nvSpPr>
          <p:cNvPr id="26" name="Text 24"/>
          <p:cNvSpPr/>
          <p:nvPr/>
        </p:nvSpPr>
        <p:spPr>
          <a:xfrm>
            <a:off x="713232" y="4224528"/>
            <a:ext cx="7744968" cy="384048"/>
          </a:xfrm>
          <a:prstGeom prst="rect">
            <a:avLst/>
          </a:prstGeom>
          <a:noFill/>
          <a:ln/>
        </p:spPr>
        <p:txBody>
          <a:bodyPr wrap="square" lIns="0" tIns="0" rIns="0" bIns="0" rtlCol="0" anchor="ctr"/>
          <a:lstStyle/>
          <a:p>
            <a:pPr marL="0" indent="0">
              <a:buNone/>
            </a:pPr>
            <a:r>
              <a:rPr lang="en-US" sz="1200" i="1" dirty="0">
                <a:solidFill>
                  <a:srgbClr val="8B949E"/>
                </a:solidFill>
                <a:latin typeface="Segoe UI" pitchFamily="34" charset="0"/>
                <a:ea typeface="Segoe UI" pitchFamily="34" charset="-122"/>
                <a:cs typeface="Segoe UI" pitchFamily="34" charset="-120"/>
              </a:rPr>
              <a:t>El módulo utiliza ejemplos prácticos para modificar un repositorio real mediante distintas técnicas de Copilot.</a:t>
            </a:r>
            <a:endParaRPr lang="en-US" sz="1200" dirty="0"/>
          </a:p>
        </p:txBody>
      </p:sp>
      <p:sp>
        <p:nvSpPr>
          <p:cNvPr id="27" name="Línea de pie">
            <a:extLst>
              <a:ext uri="{C183D7F6-B498-43B3-948B-1728B52AA6E4}">
                <adec:decorative xmlns:adec="http://schemas.microsoft.com/office/drawing/2017/decorative" val="1"/>
              </a:ext>
            </a:extLst>
          </p:cNvPr>
          <p:cNvSpPr/>
          <p:nvPr/>
        </p:nvSpPr>
        <p:spPr>
          <a:xfrm>
            <a:off x="0" y="4956048"/>
            <a:ext cx="9144000" cy="13716"/>
          </a:xfrm>
          <a:prstGeom prst="rect">
            <a:avLst/>
          </a:prstGeom>
          <a:solidFill>
            <a:srgbClr val="30363D"/>
          </a:solidFill>
          <a:ln/>
        </p:spPr>
      </p:sp>
      <p:sp>
        <p:nvSpPr>
          <p:cNvPr id="28" name="Text 26"/>
          <p:cNvSpPr/>
          <p:nvPr/>
        </p:nvSpPr>
        <p:spPr>
          <a:xfrm>
            <a:off x="502920" y="4718304"/>
            <a:ext cx="5486400" cy="219456"/>
          </a:xfrm>
          <a:prstGeom prst="rect">
            <a:avLst/>
          </a:prstGeom>
          <a:noFill/>
          <a:ln/>
        </p:spPr>
        <p:txBody>
          <a:bodyPr wrap="square" lIns="0" tIns="0" rIns="0" bIns="0"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GitHub Copilot — Características avanzadas</a:t>
            </a:r>
            <a:endParaRPr lang="en-US" sz="900" dirty="0"/>
          </a:p>
        </p:txBody>
      </p:sp>
      <p:sp>
        <p:nvSpPr>
          <p:cNvPr id="29" name="Text 27"/>
          <p:cNvSpPr/>
          <p:nvPr/>
        </p:nvSpPr>
        <p:spPr>
          <a:xfrm>
            <a:off x="7863840" y="4718304"/>
            <a:ext cx="777240" cy="219456"/>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Barra de acento">
            <a:extLst>
              <a:ext uri="{C183D7F6-B498-43B3-948B-1728B52AA6E4}">
                <adec:decorative xmlns:adec="http://schemas.microsoft.com/office/drawing/2017/decorative" val="1"/>
              </a:ext>
            </a:extLst>
          </p:cNvPr>
          <p:cNvSpPr/>
          <p:nvPr/>
        </p:nvSpPr>
        <p:spPr>
          <a:xfrm>
            <a:off x="502920" y="384048"/>
            <a:ext cx="54864" cy="566928"/>
          </a:xfrm>
          <a:prstGeom prst="rect">
            <a:avLst/>
          </a:prstGeom>
          <a:solidFill>
            <a:srgbClr val="7EE787"/>
          </a:solidFill>
          <a:ln/>
        </p:spPr>
      </p:sp>
      <p:sp>
        <p:nvSpPr>
          <p:cNvPr id="3" name="Text 1"/>
          <p:cNvSpPr/>
          <p:nvPr/>
        </p:nvSpPr>
        <p:spPr>
          <a:xfrm>
            <a:off x="713232" y="365760"/>
            <a:ext cx="7955280" cy="219456"/>
          </a:xfrm>
          <a:prstGeom prst="rect">
            <a:avLst/>
          </a:prstGeom>
          <a:noFill/>
          <a:ln/>
        </p:spPr>
        <p:txBody>
          <a:bodyPr wrap="square" lIns="0" tIns="0" rIns="0" bIns="0" rtlCol="0" anchor="ctr"/>
          <a:lstStyle/>
          <a:p>
            <a:pPr marL="0" indent="0">
              <a:buNone/>
            </a:pPr>
            <a:r>
              <a:rPr lang="en-US" sz="1000" kern="0" spc="200" dirty="0">
                <a:solidFill>
                  <a:srgbClr val="7EE787"/>
                </a:solidFill>
                <a:latin typeface="Consolas" pitchFamily="34" charset="0"/>
                <a:ea typeface="Consolas" pitchFamily="34" charset="-122"/>
                <a:cs typeface="Consolas" pitchFamily="34" charset="-120"/>
              </a:rPr>
              <a:t>OBJETIVOS DE APRENDIZAJE</a:t>
            </a:r>
            <a:endParaRPr lang="en-US" sz="1000" dirty="0"/>
          </a:p>
        </p:txBody>
      </p:sp>
      <p:sp>
        <p:nvSpPr>
          <p:cNvPr id="4" name="Text 2"/>
          <p:cNvSpPr/>
          <p:nvPr/>
        </p:nvSpPr>
        <p:spPr>
          <a:xfrm>
            <a:off x="713232" y="566928"/>
            <a:ext cx="7955280" cy="411480"/>
          </a:xfrm>
          <a:prstGeom prst="rect">
            <a:avLst/>
          </a:prstGeom>
          <a:noFill/>
          <a:ln/>
        </p:spPr>
        <p:txBody>
          <a:bodyPr wrap="square" lIns="0" tIns="0" rIns="0" bIns="0" rtlCol="0" anchor="ctr"/>
          <a:lstStyle/>
          <a:p>
            <a:pPr marL="0" indent="0">
              <a:buNone/>
            </a:pPr>
            <a:r>
              <a:rPr lang="en-US" sz="2600" b="1" dirty="0">
                <a:solidFill>
                  <a:srgbClr val="E6EDF3"/>
                </a:solidFill>
                <a:latin typeface="Segoe UI" pitchFamily="34" charset="0"/>
                <a:ea typeface="Segoe UI" pitchFamily="34" charset="-122"/>
                <a:cs typeface="Segoe UI" pitchFamily="34" charset="-120"/>
              </a:rPr>
              <a:t>Al finalizar el módulo se podrá</a:t>
            </a:r>
            <a:endParaRPr lang="en-US" sz="2600" dirty="0"/>
          </a:p>
        </p:txBody>
      </p:sp>
      <p:sp>
        <p:nvSpPr>
          <p:cNvPr id="5" name="Contenedor de número">
            <a:extLst>
              <a:ext uri="{C183D7F6-B498-43B3-948B-1728B52AA6E4}">
                <adec:decorative xmlns:adec="http://schemas.microsoft.com/office/drawing/2017/decorative" val="1"/>
              </a:ext>
            </a:extLst>
          </p:cNvPr>
          <p:cNvSpPr/>
          <p:nvPr/>
        </p:nvSpPr>
        <p:spPr>
          <a:xfrm>
            <a:off x="713232" y="1280160"/>
            <a:ext cx="475488" cy="566928"/>
          </a:xfrm>
          <a:prstGeom prst="rect">
            <a:avLst/>
          </a:prstGeom>
          <a:solidFill>
            <a:srgbClr val="1C2430"/>
          </a:solidFill>
          <a:ln/>
        </p:spPr>
      </p:sp>
      <p:sp>
        <p:nvSpPr>
          <p:cNvPr id="6" name="Text 4"/>
          <p:cNvSpPr/>
          <p:nvPr/>
        </p:nvSpPr>
        <p:spPr>
          <a:xfrm>
            <a:off x="713232" y="1280160"/>
            <a:ext cx="475488" cy="566928"/>
          </a:xfrm>
          <a:prstGeom prst="rect">
            <a:avLst/>
          </a:prstGeom>
          <a:noFill/>
          <a:ln/>
        </p:spPr>
        <p:txBody>
          <a:bodyPr wrap="square" lIns="0" tIns="0" rIns="0" bIns="0" rtlCol="0" anchor="ctr"/>
          <a:lstStyle/>
          <a:p>
            <a:pPr marL="0" indent="0" algn="ctr">
              <a:buNone/>
            </a:pPr>
            <a:r>
              <a:rPr lang="en-US" sz="1500" b="1" dirty="0">
                <a:solidFill>
                  <a:srgbClr val="7EE787"/>
                </a:solidFill>
                <a:latin typeface="Consolas" pitchFamily="34" charset="0"/>
                <a:ea typeface="Consolas" pitchFamily="34" charset="-122"/>
                <a:cs typeface="Consolas" pitchFamily="34" charset="-120"/>
              </a:rPr>
              <a:t>01</a:t>
            </a:r>
            <a:endParaRPr lang="en-US" sz="1500" dirty="0"/>
          </a:p>
        </p:txBody>
      </p:sp>
      <p:sp>
        <p:nvSpPr>
          <p:cNvPr id="7" name="Text 5"/>
          <p:cNvSpPr/>
          <p:nvPr/>
        </p:nvSpPr>
        <p:spPr>
          <a:xfrm>
            <a:off x="1371600" y="1280160"/>
            <a:ext cx="7086600" cy="566928"/>
          </a:xfrm>
          <a:prstGeom prst="rect">
            <a:avLst/>
          </a:prstGeom>
          <a:noFill/>
          <a:ln/>
        </p:spPr>
        <p:txBody>
          <a:bodyPr wrap="square" lIns="0" tIns="0" rIns="0" bIns="0" rtlCol="0" anchor="ctr"/>
          <a:lstStyle/>
          <a:p>
            <a:pPr marL="0" indent="0">
              <a:lnSpc>
                <a:spcPct val="115000"/>
              </a:lnSpc>
              <a:buNone/>
            </a:pPr>
            <a:r>
              <a:rPr lang="en-US" sz="1350" dirty="0">
                <a:solidFill>
                  <a:srgbClr val="E6EDF3"/>
                </a:solidFill>
                <a:latin typeface="Segoe UI" pitchFamily="34" charset="0"/>
                <a:ea typeface="Segoe UI" pitchFamily="34" charset="-122"/>
                <a:cs typeface="Segoe UI" pitchFamily="34" charset="-120"/>
              </a:rPr>
              <a:t>Trabajar con un repositorio de GitHub preconfigurado en Codespaces con la extensión GitHub Copilot.</a:t>
            </a:r>
            <a:endParaRPr lang="en-US" sz="1350" dirty="0"/>
          </a:p>
        </p:txBody>
      </p:sp>
      <p:sp>
        <p:nvSpPr>
          <p:cNvPr id="8" name="Contenedor de número">
            <a:extLst>
              <a:ext uri="{C183D7F6-B498-43B3-948B-1728B52AA6E4}">
                <adec:decorative xmlns:adec="http://schemas.microsoft.com/office/drawing/2017/decorative" val="1"/>
              </a:ext>
            </a:extLst>
          </p:cNvPr>
          <p:cNvSpPr/>
          <p:nvPr/>
        </p:nvSpPr>
        <p:spPr>
          <a:xfrm>
            <a:off x="713232" y="2121408"/>
            <a:ext cx="475488" cy="566928"/>
          </a:xfrm>
          <a:prstGeom prst="rect">
            <a:avLst/>
          </a:prstGeom>
          <a:solidFill>
            <a:srgbClr val="1C2430"/>
          </a:solidFill>
          <a:ln/>
        </p:spPr>
      </p:sp>
      <p:sp>
        <p:nvSpPr>
          <p:cNvPr id="9" name="Text 7"/>
          <p:cNvSpPr/>
          <p:nvPr/>
        </p:nvSpPr>
        <p:spPr>
          <a:xfrm>
            <a:off x="713232" y="2121408"/>
            <a:ext cx="475488" cy="566928"/>
          </a:xfrm>
          <a:prstGeom prst="rect">
            <a:avLst/>
          </a:prstGeom>
          <a:noFill/>
          <a:ln/>
        </p:spPr>
        <p:txBody>
          <a:bodyPr wrap="square" lIns="0" tIns="0" rIns="0" bIns="0" rtlCol="0" anchor="ctr"/>
          <a:lstStyle/>
          <a:p>
            <a:pPr marL="0" indent="0" algn="ctr">
              <a:buNone/>
            </a:pPr>
            <a:r>
              <a:rPr lang="en-US" sz="1500" b="1" dirty="0">
                <a:solidFill>
                  <a:srgbClr val="7EE787"/>
                </a:solidFill>
                <a:latin typeface="Consolas" pitchFamily="34" charset="0"/>
                <a:ea typeface="Consolas" pitchFamily="34" charset="-122"/>
                <a:cs typeface="Consolas" pitchFamily="34" charset="-120"/>
              </a:rPr>
              <a:t>02</a:t>
            </a:r>
            <a:endParaRPr lang="en-US" sz="1500" dirty="0"/>
          </a:p>
        </p:txBody>
      </p:sp>
      <p:sp>
        <p:nvSpPr>
          <p:cNvPr id="10" name="Text 8"/>
          <p:cNvSpPr/>
          <p:nvPr/>
        </p:nvSpPr>
        <p:spPr>
          <a:xfrm>
            <a:off x="1371600" y="2121408"/>
            <a:ext cx="7086600" cy="566928"/>
          </a:xfrm>
          <a:prstGeom prst="rect">
            <a:avLst/>
          </a:prstGeom>
          <a:noFill/>
          <a:ln/>
        </p:spPr>
        <p:txBody>
          <a:bodyPr wrap="square" lIns="0" tIns="0" rIns="0" bIns="0" rtlCol="0" anchor="ctr"/>
          <a:lstStyle/>
          <a:p>
            <a:pPr marL="0" indent="0">
              <a:lnSpc>
                <a:spcPct val="115000"/>
              </a:lnSpc>
              <a:buNone/>
            </a:pPr>
            <a:r>
              <a:rPr lang="en-US" sz="1350" dirty="0">
                <a:solidFill>
                  <a:srgbClr val="E6EDF3"/>
                </a:solidFill>
                <a:latin typeface="Segoe UI" pitchFamily="34" charset="0"/>
                <a:ea typeface="Segoe UI" pitchFamily="34" charset="-122"/>
                <a:cs typeface="Segoe UI" pitchFamily="34" charset="-120"/>
              </a:rPr>
              <a:t>Utilizar características interactivas de Copilot para generar sugerencias útiles en un proyecto existente.</a:t>
            </a:r>
            <a:endParaRPr lang="en-US" sz="1350" dirty="0"/>
          </a:p>
        </p:txBody>
      </p:sp>
      <p:sp>
        <p:nvSpPr>
          <p:cNvPr id="11" name="Contenedor de número">
            <a:extLst>
              <a:ext uri="{C183D7F6-B498-43B3-948B-1728B52AA6E4}">
                <adec:decorative xmlns:adec="http://schemas.microsoft.com/office/drawing/2017/decorative" val="1"/>
              </a:ext>
            </a:extLst>
          </p:cNvPr>
          <p:cNvSpPr/>
          <p:nvPr/>
        </p:nvSpPr>
        <p:spPr>
          <a:xfrm>
            <a:off x="713232" y="2962656"/>
            <a:ext cx="475488" cy="566928"/>
          </a:xfrm>
          <a:prstGeom prst="rect">
            <a:avLst/>
          </a:prstGeom>
          <a:solidFill>
            <a:srgbClr val="1C2430"/>
          </a:solidFill>
          <a:ln/>
        </p:spPr>
      </p:sp>
      <p:sp>
        <p:nvSpPr>
          <p:cNvPr id="12" name="Text 10"/>
          <p:cNvSpPr/>
          <p:nvPr/>
        </p:nvSpPr>
        <p:spPr>
          <a:xfrm>
            <a:off x="713232" y="2962656"/>
            <a:ext cx="475488" cy="566928"/>
          </a:xfrm>
          <a:prstGeom prst="rect">
            <a:avLst/>
          </a:prstGeom>
          <a:noFill/>
          <a:ln/>
        </p:spPr>
        <p:txBody>
          <a:bodyPr wrap="square" lIns="0" tIns="0" rIns="0" bIns="0" rtlCol="0" anchor="ctr"/>
          <a:lstStyle/>
          <a:p>
            <a:pPr marL="0" indent="0" algn="ctr">
              <a:buNone/>
            </a:pPr>
            <a:r>
              <a:rPr lang="en-US" sz="1500" b="1" dirty="0">
                <a:solidFill>
                  <a:srgbClr val="7EE787"/>
                </a:solidFill>
                <a:latin typeface="Consolas" pitchFamily="34" charset="0"/>
                <a:ea typeface="Consolas" pitchFamily="34" charset="-122"/>
                <a:cs typeface="Consolas" pitchFamily="34" charset="-120"/>
              </a:rPr>
              <a:t>03</a:t>
            </a:r>
            <a:endParaRPr lang="en-US" sz="1500" dirty="0"/>
          </a:p>
        </p:txBody>
      </p:sp>
      <p:sp>
        <p:nvSpPr>
          <p:cNvPr id="13" name="Text 11"/>
          <p:cNvSpPr/>
          <p:nvPr/>
        </p:nvSpPr>
        <p:spPr>
          <a:xfrm>
            <a:off x="1371600" y="2962656"/>
            <a:ext cx="7086600" cy="566928"/>
          </a:xfrm>
          <a:prstGeom prst="rect">
            <a:avLst/>
          </a:prstGeom>
          <a:noFill/>
          <a:ln/>
        </p:spPr>
        <p:txBody>
          <a:bodyPr wrap="square" lIns="0" tIns="0" rIns="0" bIns="0" rtlCol="0" anchor="ctr"/>
          <a:lstStyle/>
          <a:p>
            <a:pPr marL="0" indent="0">
              <a:lnSpc>
                <a:spcPct val="115000"/>
              </a:lnSpc>
              <a:buNone/>
            </a:pPr>
            <a:r>
              <a:rPr lang="en-US" sz="1350" dirty="0">
                <a:solidFill>
                  <a:srgbClr val="E6EDF3"/>
                </a:solidFill>
                <a:latin typeface="Segoe UI" pitchFamily="34" charset="0"/>
                <a:ea typeface="Segoe UI" pitchFamily="34" charset="-122"/>
                <a:cs typeface="Segoe UI" pitchFamily="34" charset="-120"/>
              </a:rPr>
              <a:t>Aplicar características avanzadas para comprender un proyecto, escribir documentación y crear pruebas unitarias.</a:t>
            </a:r>
            <a:endParaRPr lang="en-US" sz="1350" dirty="0"/>
          </a:p>
        </p:txBody>
      </p:sp>
      <p:sp>
        <p:nvSpPr>
          <p:cNvPr id="14" name="Contenedor de número">
            <a:extLst>
              <a:ext uri="{C183D7F6-B498-43B3-948B-1728B52AA6E4}">
                <adec:decorative xmlns:adec="http://schemas.microsoft.com/office/drawing/2017/decorative" val="1"/>
              </a:ext>
            </a:extLst>
          </p:cNvPr>
          <p:cNvSpPr/>
          <p:nvPr/>
        </p:nvSpPr>
        <p:spPr>
          <a:xfrm>
            <a:off x="713232" y="3803904"/>
            <a:ext cx="475488" cy="566928"/>
          </a:xfrm>
          <a:prstGeom prst="rect">
            <a:avLst/>
          </a:prstGeom>
          <a:solidFill>
            <a:srgbClr val="1C2430"/>
          </a:solidFill>
          <a:ln/>
        </p:spPr>
      </p:sp>
      <p:sp>
        <p:nvSpPr>
          <p:cNvPr id="15" name="Text 13"/>
          <p:cNvSpPr/>
          <p:nvPr/>
        </p:nvSpPr>
        <p:spPr>
          <a:xfrm>
            <a:off x="713232" y="3803904"/>
            <a:ext cx="475488" cy="566928"/>
          </a:xfrm>
          <a:prstGeom prst="rect">
            <a:avLst/>
          </a:prstGeom>
          <a:noFill/>
          <a:ln/>
        </p:spPr>
        <p:txBody>
          <a:bodyPr wrap="square" lIns="0" tIns="0" rIns="0" bIns="0" rtlCol="0" anchor="ctr"/>
          <a:lstStyle/>
          <a:p>
            <a:pPr marL="0" indent="0" algn="ctr">
              <a:buNone/>
            </a:pPr>
            <a:r>
              <a:rPr lang="en-US" sz="1500" b="1" dirty="0">
                <a:solidFill>
                  <a:srgbClr val="7EE787"/>
                </a:solidFill>
                <a:latin typeface="Consolas" pitchFamily="34" charset="0"/>
                <a:ea typeface="Consolas" pitchFamily="34" charset="-122"/>
                <a:cs typeface="Consolas" pitchFamily="34" charset="-120"/>
              </a:rPr>
              <a:t>04</a:t>
            </a:r>
            <a:endParaRPr lang="en-US" sz="1500" dirty="0"/>
          </a:p>
        </p:txBody>
      </p:sp>
      <p:sp>
        <p:nvSpPr>
          <p:cNvPr id="16" name="Text 14"/>
          <p:cNvSpPr/>
          <p:nvPr/>
        </p:nvSpPr>
        <p:spPr>
          <a:xfrm>
            <a:off x="1371600" y="3803904"/>
            <a:ext cx="7086600" cy="566928"/>
          </a:xfrm>
          <a:prstGeom prst="rect">
            <a:avLst/>
          </a:prstGeom>
          <a:noFill/>
          <a:ln/>
        </p:spPr>
        <p:txBody>
          <a:bodyPr wrap="square" lIns="0" tIns="0" rIns="0" bIns="0" rtlCol="0" anchor="ctr"/>
          <a:lstStyle/>
          <a:p>
            <a:pPr marL="0" indent="0">
              <a:lnSpc>
                <a:spcPct val="115000"/>
              </a:lnSpc>
              <a:buNone/>
            </a:pPr>
            <a:r>
              <a:rPr lang="en-US" sz="1350" dirty="0">
                <a:solidFill>
                  <a:srgbClr val="E6EDF3"/>
                </a:solidFill>
                <a:latin typeface="Segoe UI" pitchFamily="34" charset="0"/>
                <a:ea typeface="Segoe UI" pitchFamily="34" charset="-122"/>
                <a:cs typeface="Segoe UI" pitchFamily="34" charset="-120"/>
              </a:rPr>
              <a:t>Utilizar avisos interactivos y otras funciones avanzadas para mejorar un proyecto de software.</a:t>
            </a:r>
            <a:endParaRPr lang="en-US" sz="1350" dirty="0"/>
          </a:p>
        </p:txBody>
      </p:sp>
      <p:sp>
        <p:nvSpPr>
          <p:cNvPr id="17" name="Línea de pie">
            <a:extLst>
              <a:ext uri="{C183D7F6-B498-43B3-948B-1728B52AA6E4}">
                <adec:decorative xmlns:adec="http://schemas.microsoft.com/office/drawing/2017/decorative" val="1"/>
              </a:ext>
            </a:extLst>
          </p:cNvPr>
          <p:cNvSpPr/>
          <p:nvPr/>
        </p:nvSpPr>
        <p:spPr>
          <a:xfrm>
            <a:off x="0" y="4956048"/>
            <a:ext cx="9144000" cy="13716"/>
          </a:xfrm>
          <a:prstGeom prst="rect">
            <a:avLst/>
          </a:prstGeom>
          <a:solidFill>
            <a:srgbClr val="30363D"/>
          </a:solidFill>
          <a:ln/>
        </p:spPr>
      </p:sp>
      <p:sp>
        <p:nvSpPr>
          <p:cNvPr id="18" name="Text 16"/>
          <p:cNvSpPr/>
          <p:nvPr/>
        </p:nvSpPr>
        <p:spPr>
          <a:xfrm>
            <a:off x="502920" y="4718304"/>
            <a:ext cx="5486400" cy="219456"/>
          </a:xfrm>
          <a:prstGeom prst="rect">
            <a:avLst/>
          </a:prstGeom>
          <a:noFill/>
          <a:ln/>
        </p:spPr>
        <p:txBody>
          <a:bodyPr wrap="square" lIns="0" tIns="0" rIns="0" bIns="0"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GitHub Copilot — Características avanzadas</a:t>
            </a:r>
            <a:endParaRPr lang="en-US" sz="900" dirty="0"/>
          </a:p>
        </p:txBody>
      </p:sp>
      <p:sp>
        <p:nvSpPr>
          <p:cNvPr id="19" name="Text 17"/>
          <p:cNvSpPr/>
          <p:nvPr/>
        </p:nvSpPr>
        <p:spPr>
          <a:xfrm>
            <a:off x="7863840" y="4718304"/>
            <a:ext cx="777240" cy="219456"/>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Barra de acento">
            <a:extLst>
              <a:ext uri="{C183D7F6-B498-43B3-948B-1728B52AA6E4}">
                <adec:decorative xmlns:adec="http://schemas.microsoft.com/office/drawing/2017/decorative" val="1"/>
              </a:ext>
            </a:extLst>
          </p:cNvPr>
          <p:cNvSpPr/>
          <p:nvPr/>
        </p:nvSpPr>
        <p:spPr>
          <a:xfrm>
            <a:off x="502920" y="384048"/>
            <a:ext cx="54864" cy="566928"/>
          </a:xfrm>
          <a:prstGeom prst="rect">
            <a:avLst/>
          </a:prstGeom>
          <a:solidFill>
            <a:srgbClr val="7EE787"/>
          </a:solidFill>
          <a:ln/>
        </p:spPr>
      </p:sp>
      <p:sp>
        <p:nvSpPr>
          <p:cNvPr id="3" name="Text 1"/>
          <p:cNvSpPr/>
          <p:nvPr/>
        </p:nvSpPr>
        <p:spPr>
          <a:xfrm>
            <a:off x="713232" y="365760"/>
            <a:ext cx="7955280" cy="219456"/>
          </a:xfrm>
          <a:prstGeom prst="rect">
            <a:avLst/>
          </a:prstGeom>
          <a:noFill/>
          <a:ln/>
        </p:spPr>
        <p:txBody>
          <a:bodyPr wrap="square" lIns="0" tIns="0" rIns="0" bIns="0" rtlCol="0" anchor="ctr"/>
          <a:lstStyle/>
          <a:p>
            <a:pPr marL="0" indent="0">
              <a:buNone/>
            </a:pPr>
            <a:r>
              <a:rPr lang="en-US" sz="1000" kern="0" spc="200" dirty="0">
                <a:solidFill>
                  <a:srgbClr val="7EE787"/>
                </a:solidFill>
                <a:latin typeface="Consolas" pitchFamily="34" charset="0"/>
                <a:ea typeface="Consolas" pitchFamily="34" charset="-122"/>
                <a:cs typeface="Consolas" pitchFamily="34" charset="-120"/>
              </a:rPr>
              <a:t>REQUISITOS PREVIOS</a:t>
            </a:r>
            <a:endParaRPr lang="en-US" sz="1000" dirty="0"/>
          </a:p>
        </p:txBody>
      </p:sp>
      <p:sp>
        <p:nvSpPr>
          <p:cNvPr id="4" name="Text 2"/>
          <p:cNvSpPr/>
          <p:nvPr/>
        </p:nvSpPr>
        <p:spPr>
          <a:xfrm>
            <a:off x="713232" y="566928"/>
            <a:ext cx="7955280" cy="411480"/>
          </a:xfrm>
          <a:prstGeom prst="rect">
            <a:avLst/>
          </a:prstGeom>
          <a:noFill/>
          <a:ln/>
        </p:spPr>
        <p:txBody>
          <a:bodyPr wrap="square" lIns="0" tIns="0" rIns="0" bIns="0" rtlCol="0" anchor="ctr"/>
          <a:lstStyle/>
          <a:p>
            <a:pPr marL="0" indent="0">
              <a:buNone/>
            </a:pPr>
            <a:r>
              <a:rPr lang="en-US" sz="2600" b="1" dirty="0">
                <a:solidFill>
                  <a:srgbClr val="E6EDF3"/>
                </a:solidFill>
                <a:latin typeface="Segoe UI" pitchFamily="34" charset="0"/>
                <a:ea typeface="Segoe UI" pitchFamily="34" charset="-122"/>
                <a:cs typeface="Segoe UI" pitchFamily="34" charset="-120"/>
              </a:rPr>
              <a:t>Qué se necesita antes de empezar</a:t>
            </a:r>
            <a:endParaRPr lang="en-US" sz="2600" dirty="0"/>
          </a:p>
        </p:txBody>
      </p:sp>
      <p:sp>
        <p:nvSpPr>
          <p:cNvPr id="5" name="Tarjeta de contenido">
            <a:extLst>
              <a:ext uri="{C183D7F6-B498-43B3-948B-1728B52AA6E4}">
                <adec:decorative xmlns:adec="http://schemas.microsoft.com/office/drawing/2017/decorative" val="1"/>
              </a:ext>
            </a:extLst>
          </p:cNvPr>
          <p:cNvSpPr/>
          <p:nvPr/>
        </p:nvSpPr>
        <p:spPr>
          <a:xfrm>
            <a:off x="713232" y="1234440"/>
            <a:ext cx="3794760" cy="1481328"/>
          </a:xfrm>
          <a:prstGeom prst="rect">
            <a:avLst/>
          </a:prstGeom>
          <a:solidFill>
            <a:srgbClr val="161B22"/>
          </a:solidFill>
          <a:ln w="12700">
            <a:solidFill>
              <a:srgbClr val="30363D"/>
            </a:solidFill>
            <a:prstDash val="solid"/>
          </a:ln>
        </p:spPr>
      </p:sp>
      <p:sp>
        <p:nvSpPr>
          <p:cNvPr id="6" name="Acento de tarjeta">
            <a:extLst>
              <a:ext uri="{C183D7F6-B498-43B3-948B-1728B52AA6E4}">
                <adec:decorative xmlns:adec="http://schemas.microsoft.com/office/drawing/2017/decorative" val="1"/>
              </a:ext>
            </a:extLst>
          </p:cNvPr>
          <p:cNvSpPr/>
          <p:nvPr/>
        </p:nvSpPr>
        <p:spPr>
          <a:xfrm>
            <a:off x="713232" y="1234440"/>
            <a:ext cx="45720" cy="1481328"/>
          </a:xfrm>
          <a:prstGeom prst="rect">
            <a:avLst/>
          </a:prstGeom>
          <a:solidFill>
            <a:srgbClr val="7EE787"/>
          </a:solidFill>
          <a:ln/>
        </p:spPr>
      </p:sp>
      <p:sp>
        <p:nvSpPr>
          <p:cNvPr id="7" name="Text 5"/>
          <p:cNvSpPr/>
          <p:nvPr/>
        </p:nvSpPr>
        <p:spPr>
          <a:xfrm>
            <a:off x="932688" y="1380744"/>
            <a:ext cx="339242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Conocimientos técnicos</a:t>
            </a:r>
            <a:endParaRPr lang="en-US" sz="1300" dirty="0"/>
          </a:p>
        </p:txBody>
      </p:sp>
      <p:sp>
        <p:nvSpPr>
          <p:cNvPr id="8" name="Text 6"/>
          <p:cNvSpPr/>
          <p:nvPr/>
        </p:nvSpPr>
        <p:spPr>
          <a:xfrm>
            <a:off x="932688" y="1691640"/>
            <a:ext cx="3392424" cy="877824"/>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Python y editores de texto a nivel básico. Comprensión de Git y GitHub Fundamentals, incluidos comandos como git add y git push.</a:t>
            </a:r>
            <a:endParaRPr lang="en-US" sz="1050" dirty="0"/>
          </a:p>
        </p:txBody>
      </p:sp>
      <p:sp>
        <p:nvSpPr>
          <p:cNvPr id="9" name="Tarjeta de contenido">
            <a:extLst>
              <a:ext uri="{C183D7F6-B498-43B3-948B-1728B52AA6E4}">
                <adec:decorative xmlns:adec="http://schemas.microsoft.com/office/drawing/2017/decorative" val="1"/>
              </a:ext>
            </a:extLst>
          </p:cNvPr>
          <p:cNvSpPr/>
          <p:nvPr/>
        </p:nvSpPr>
        <p:spPr>
          <a:xfrm>
            <a:off x="4709160" y="1234440"/>
            <a:ext cx="3749040" cy="1481328"/>
          </a:xfrm>
          <a:prstGeom prst="rect">
            <a:avLst/>
          </a:prstGeom>
          <a:solidFill>
            <a:srgbClr val="161B22"/>
          </a:solidFill>
          <a:ln w="12700">
            <a:solidFill>
              <a:srgbClr val="30363D"/>
            </a:solidFill>
            <a:prstDash val="solid"/>
          </a:ln>
        </p:spPr>
      </p:sp>
      <p:sp>
        <p:nvSpPr>
          <p:cNvPr id="10" name="Acento de tarjeta">
            <a:extLst>
              <a:ext uri="{C183D7F6-B498-43B3-948B-1728B52AA6E4}">
                <adec:decorative xmlns:adec="http://schemas.microsoft.com/office/drawing/2017/decorative" val="1"/>
              </a:ext>
            </a:extLst>
          </p:cNvPr>
          <p:cNvSpPr/>
          <p:nvPr/>
        </p:nvSpPr>
        <p:spPr>
          <a:xfrm>
            <a:off x="4709160" y="1234440"/>
            <a:ext cx="45720" cy="1481328"/>
          </a:xfrm>
          <a:prstGeom prst="rect">
            <a:avLst/>
          </a:prstGeom>
          <a:solidFill>
            <a:srgbClr val="58A6FF"/>
          </a:solidFill>
          <a:ln/>
        </p:spPr>
      </p:sp>
      <p:sp>
        <p:nvSpPr>
          <p:cNvPr id="11" name="Text 9"/>
          <p:cNvSpPr/>
          <p:nvPr/>
        </p:nvSpPr>
        <p:spPr>
          <a:xfrm>
            <a:off x="4928616" y="1380744"/>
            <a:ext cx="334670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Cuenta y suscripción</a:t>
            </a:r>
            <a:endParaRPr lang="en-US" sz="1300" dirty="0"/>
          </a:p>
        </p:txBody>
      </p:sp>
      <p:sp>
        <p:nvSpPr>
          <p:cNvPr id="12" name="Text 10"/>
          <p:cNvSpPr/>
          <p:nvPr/>
        </p:nvSpPr>
        <p:spPr>
          <a:xfrm>
            <a:off x="4928616" y="1691640"/>
            <a:ext cx="3346704" cy="877824"/>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Cuenta de GitHub con una suscripción activa a GitHub Copilot: personal o administrada por una organización o empresa.</a:t>
            </a:r>
            <a:endParaRPr lang="en-US" sz="1050" dirty="0"/>
          </a:p>
        </p:txBody>
      </p:sp>
      <p:sp>
        <p:nvSpPr>
          <p:cNvPr id="13" name="Panel destacado">
            <a:extLst>
              <a:ext uri="{C183D7F6-B498-43B3-948B-1728B52AA6E4}">
                <adec:decorative xmlns:adec="http://schemas.microsoft.com/office/drawing/2017/decorative" val="1"/>
              </a:ext>
            </a:extLst>
          </p:cNvPr>
          <p:cNvSpPr/>
          <p:nvPr/>
        </p:nvSpPr>
        <p:spPr>
          <a:xfrm>
            <a:off x="713232" y="2971800"/>
            <a:ext cx="7744968" cy="1234440"/>
          </a:xfrm>
          <a:prstGeom prst="rect">
            <a:avLst/>
          </a:prstGeom>
          <a:solidFill>
            <a:srgbClr val="1C2430"/>
          </a:solidFill>
          <a:ln/>
        </p:spPr>
      </p:sp>
      <p:sp>
        <p:nvSpPr>
          <p:cNvPr id="14" name="Acento del panel">
            <a:extLst>
              <a:ext uri="{C183D7F6-B498-43B3-948B-1728B52AA6E4}">
                <adec:decorative xmlns:adec="http://schemas.microsoft.com/office/drawing/2017/decorative" val="1"/>
              </a:ext>
            </a:extLst>
          </p:cNvPr>
          <p:cNvSpPr/>
          <p:nvPr/>
        </p:nvSpPr>
        <p:spPr>
          <a:xfrm>
            <a:off x="713232" y="2971800"/>
            <a:ext cx="45720" cy="1234440"/>
          </a:xfrm>
          <a:prstGeom prst="rect">
            <a:avLst/>
          </a:prstGeom>
          <a:solidFill>
            <a:srgbClr val="7EE787"/>
          </a:solidFill>
          <a:ln/>
        </p:spPr>
      </p:sp>
      <p:sp>
        <p:nvSpPr>
          <p:cNvPr id="15" name="Text 13"/>
          <p:cNvSpPr/>
          <p:nvPr/>
        </p:nvSpPr>
        <p:spPr>
          <a:xfrm>
            <a:off x="960120" y="3154680"/>
            <a:ext cx="7315200" cy="320040"/>
          </a:xfrm>
          <a:prstGeom prst="rect">
            <a:avLst/>
          </a:prstGeom>
          <a:noFill/>
          <a:ln/>
        </p:spPr>
        <p:txBody>
          <a:bodyPr wrap="square" lIns="0" tIns="0" rIns="0" bIns="0" rtlCol="0" anchor="ctr"/>
          <a:lstStyle/>
          <a:p>
            <a:pPr marL="0" indent="0">
              <a:buNone/>
            </a:pPr>
            <a:r>
              <a:rPr lang="en-US" sz="1500" b="1" dirty="0">
                <a:solidFill>
                  <a:srgbClr val="E6EDF3"/>
                </a:solidFill>
                <a:latin typeface="Segoe UI" pitchFamily="34" charset="0"/>
                <a:ea typeface="Segoe UI" pitchFamily="34" charset="-122"/>
                <a:cs typeface="Segoe UI" pitchFamily="34" charset="-120"/>
              </a:rPr>
              <a:t>Para aprendizaje, Copilot Free es suficiente</a:t>
            </a:r>
            <a:endParaRPr lang="en-US" sz="1500" dirty="0"/>
          </a:p>
        </p:txBody>
      </p:sp>
      <p:sp>
        <p:nvSpPr>
          <p:cNvPr id="16" name="Text 14"/>
          <p:cNvSpPr/>
          <p:nvPr/>
        </p:nvSpPr>
        <p:spPr>
          <a:xfrm>
            <a:off x="960120" y="3493008"/>
            <a:ext cx="7315200" cy="548640"/>
          </a:xfrm>
          <a:prstGeom prst="rect">
            <a:avLst/>
          </a:prstGeom>
          <a:noFill/>
          <a:ln/>
        </p:spPr>
        <p:txBody>
          <a:bodyPr wrap="square" lIns="0" tIns="0" rIns="0" bIns="0" rtlCol="0" anchor="ctr"/>
          <a:lstStyle/>
          <a:p>
            <a:pPr marL="0" indent="0">
              <a:lnSpc>
                <a:spcPct val="120000"/>
              </a:lnSpc>
              <a:buNone/>
            </a:pPr>
            <a:r>
              <a:rPr lang="en-US" sz="1200" dirty="0">
                <a:solidFill>
                  <a:srgbClr val="8B949E"/>
                </a:solidFill>
                <a:latin typeface="Segoe UI" pitchFamily="34" charset="0"/>
                <a:ea typeface="Segoe UI" pitchFamily="34" charset="-122"/>
                <a:cs typeface="Segoe UI" pitchFamily="34" charset="-120"/>
              </a:rPr>
              <a:t>El nivel gratuito incluye límites de uso mensuales y permite completar los ejercicios del módulo sin contratar una suscripción de pago.</a:t>
            </a:r>
            <a:endParaRPr lang="en-US" sz="1200" dirty="0"/>
          </a:p>
        </p:txBody>
      </p:sp>
      <p:sp>
        <p:nvSpPr>
          <p:cNvPr id="17" name="Línea de pie">
            <a:extLst>
              <a:ext uri="{C183D7F6-B498-43B3-948B-1728B52AA6E4}">
                <adec:decorative xmlns:adec="http://schemas.microsoft.com/office/drawing/2017/decorative" val="1"/>
              </a:ext>
            </a:extLst>
          </p:cNvPr>
          <p:cNvSpPr/>
          <p:nvPr/>
        </p:nvSpPr>
        <p:spPr>
          <a:xfrm>
            <a:off x="0" y="4956048"/>
            <a:ext cx="9144000" cy="13716"/>
          </a:xfrm>
          <a:prstGeom prst="rect">
            <a:avLst/>
          </a:prstGeom>
          <a:solidFill>
            <a:srgbClr val="30363D"/>
          </a:solidFill>
          <a:ln/>
        </p:spPr>
      </p:sp>
      <p:sp>
        <p:nvSpPr>
          <p:cNvPr id="18" name="Text 16"/>
          <p:cNvSpPr/>
          <p:nvPr/>
        </p:nvSpPr>
        <p:spPr>
          <a:xfrm>
            <a:off x="502920" y="4718304"/>
            <a:ext cx="5486400" cy="219456"/>
          </a:xfrm>
          <a:prstGeom prst="rect">
            <a:avLst/>
          </a:prstGeom>
          <a:noFill/>
          <a:ln/>
        </p:spPr>
        <p:txBody>
          <a:bodyPr wrap="square" lIns="0" tIns="0" rIns="0" bIns="0"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GitHub Copilot — Características avanzadas</a:t>
            </a:r>
            <a:endParaRPr lang="en-US" sz="900" dirty="0"/>
          </a:p>
        </p:txBody>
      </p:sp>
      <p:sp>
        <p:nvSpPr>
          <p:cNvPr id="19" name="Text 17"/>
          <p:cNvSpPr/>
          <p:nvPr/>
        </p:nvSpPr>
        <p:spPr>
          <a:xfrm>
            <a:off x="7863840" y="4718304"/>
            <a:ext cx="777240" cy="219456"/>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pic>
        <p:nvPicPr>
          <p:cNvPr id="2" name="Image 0" descr="Ilustración abstracta de un editor de código con una sugerencia resaltada"/>
          <p:cNvPicPr>
            <a:picLocks noChangeAspect="1"/>
          </p:cNvPicPr>
          <p:nvPr/>
        </p:nvPicPr>
        <p:blipFill>
          <a:blip r:embed="rId3"/>
          <a:srcRect l="21471" r="21471"/>
          <a:stretch/>
        </p:blipFill>
        <p:spPr>
          <a:xfrm>
            <a:off x="4572000" y="0"/>
            <a:ext cx="4572000" cy="5143500"/>
          </a:xfrm>
          <a:prstGeom prst="rect">
            <a:avLst/>
          </a:prstGeom>
        </p:spPr>
      </p:pic>
      <p:sp>
        <p:nvSpPr>
          <p:cNvPr id="3" name="Velo oscuro">
            <a:extLst>
              <a:ext uri="{C183D7F6-B498-43B3-948B-1728B52AA6E4}">
                <adec:decorative xmlns:adec="http://schemas.microsoft.com/office/drawing/2017/decorative" val="1"/>
              </a:ext>
            </a:extLst>
          </p:cNvPr>
          <p:cNvSpPr/>
          <p:nvPr/>
        </p:nvSpPr>
        <p:spPr>
          <a:xfrm>
            <a:off x="4572000" y="0"/>
            <a:ext cx="4572000" cy="5143500"/>
          </a:xfrm>
          <a:prstGeom prst="rect">
            <a:avLst/>
          </a:prstGeom>
          <a:solidFill>
            <a:srgbClr val="0D1117">
              <a:alpha val="55000"/>
            </a:srgbClr>
          </a:solidFill>
          <a:ln/>
        </p:spPr>
      </p:sp>
      <p:sp>
        <p:nvSpPr>
          <p:cNvPr id="4" name="Text 1"/>
          <p:cNvSpPr/>
          <p:nvPr/>
        </p:nvSpPr>
        <p:spPr>
          <a:xfrm>
            <a:off x="640080" y="1600200"/>
            <a:ext cx="3657600" cy="256032"/>
          </a:xfrm>
          <a:prstGeom prst="rect">
            <a:avLst/>
          </a:prstGeom>
          <a:noFill/>
          <a:ln/>
        </p:spPr>
        <p:txBody>
          <a:bodyPr wrap="square" lIns="0" tIns="0" rIns="0" bIns="0" rtlCol="0" anchor="ctr"/>
          <a:lstStyle/>
          <a:p>
            <a:pPr marL="0" indent="0">
              <a:buNone/>
            </a:pPr>
            <a:r>
              <a:rPr lang="en-US" sz="1100" kern="0" spc="300" dirty="0">
                <a:solidFill>
                  <a:srgbClr val="7EE787"/>
                </a:solidFill>
                <a:latin typeface="Consolas" pitchFamily="34" charset="0"/>
                <a:ea typeface="Consolas" pitchFamily="34" charset="-122"/>
                <a:cs typeface="Consolas" pitchFamily="34" charset="-120"/>
              </a:rPr>
              <a:t>SECCIÓN 01</a:t>
            </a:r>
            <a:endParaRPr lang="en-US" sz="1100" dirty="0"/>
          </a:p>
        </p:txBody>
      </p:sp>
      <p:sp>
        <p:nvSpPr>
          <p:cNvPr id="5" name="Text 2"/>
          <p:cNvSpPr/>
          <p:nvPr/>
        </p:nvSpPr>
        <p:spPr>
          <a:xfrm>
            <a:off x="640080" y="1920240"/>
            <a:ext cx="3749040" cy="1371600"/>
          </a:xfrm>
          <a:prstGeom prst="rect">
            <a:avLst/>
          </a:prstGeom>
          <a:noFill/>
          <a:ln/>
        </p:spPr>
        <p:txBody>
          <a:bodyPr wrap="square" lIns="0" tIns="0" rIns="0" bIns="0" rtlCol="0" anchor="ctr"/>
          <a:lstStyle/>
          <a:p>
            <a:pPr marL="0" indent="0">
              <a:lnSpc>
                <a:spcPct val="105000"/>
              </a:lnSpc>
              <a:buNone/>
            </a:pPr>
            <a:r>
              <a:rPr lang="en-US" sz="3000" b="1" dirty="0">
                <a:solidFill>
                  <a:srgbClr val="E6EDF3"/>
                </a:solidFill>
                <a:latin typeface="Segoe UI" pitchFamily="34" charset="0"/>
                <a:ea typeface="Segoe UI" pitchFamily="34" charset="-122"/>
                <a:cs typeface="Segoe UI" pitchFamily="34" charset="-120"/>
              </a:rPr>
              <a:t>Características avanzadas de GitHub Copilot</a:t>
            </a:r>
            <a:endParaRPr lang="en-US" sz="3000" dirty="0"/>
          </a:p>
        </p:txBody>
      </p:sp>
      <p:sp>
        <p:nvSpPr>
          <p:cNvPr id="6" name="Text 3"/>
          <p:cNvSpPr/>
          <p:nvPr/>
        </p:nvSpPr>
        <p:spPr>
          <a:xfrm>
            <a:off x="640080" y="3383280"/>
            <a:ext cx="3749040" cy="914400"/>
          </a:xfrm>
          <a:prstGeom prst="rect">
            <a:avLst/>
          </a:prstGeom>
          <a:noFill/>
          <a:ln/>
        </p:spPr>
        <p:txBody>
          <a:bodyPr wrap="square" lIns="0" tIns="0" rIns="0" bIns="0" rtlCol="0" anchor="ctr"/>
          <a:lstStyle/>
          <a:p>
            <a:pPr marL="0" indent="0">
              <a:lnSpc>
                <a:spcPct val="120000"/>
              </a:lnSpc>
              <a:buNone/>
            </a:pPr>
            <a:r>
              <a:rPr lang="en-US" sz="1200" dirty="0">
                <a:solidFill>
                  <a:srgbClr val="8B949E"/>
                </a:solidFill>
                <a:latin typeface="Segoe UI" pitchFamily="34" charset="0"/>
                <a:ea typeface="Segoe UI" pitchFamily="34" charset="-122"/>
                <a:cs typeface="Segoe UI" pitchFamily="34" charset="-120"/>
              </a:rPr>
              <a:t>Consultar documentación, comprender el código base, corregir errores y escribir pruebas consume mucho tiempo. Copilot ofrece funciones para facilitar estas tareas.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Barra de acento">
            <a:extLst>
              <a:ext uri="{C183D7F6-B498-43B3-948B-1728B52AA6E4}">
                <adec:decorative xmlns:adec="http://schemas.microsoft.com/office/drawing/2017/decorative" val="1"/>
              </a:ext>
            </a:extLst>
          </p:cNvPr>
          <p:cNvSpPr/>
          <p:nvPr/>
        </p:nvSpPr>
        <p:spPr>
          <a:xfrm>
            <a:off x="502920" y="384048"/>
            <a:ext cx="54864" cy="566928"/>
          </a:xfrm>
          <a:prstGeom prst="rect">
            <a:avLst/>
          </a:prstGeom>
          <a:solidFill>
            <a:srgbClr val="7EE787"/>
          </a:solidFill>
          <a:ln/>
        </p:spPr>
      </p:sp>
      <p:sp>
        <p:nvSpPr>
          <p:cNvPr id="3" name="Text 1"/>
          <p:cNvSpPr/>
          <p:nvPr/>
        </p:nvSpPr>
        <p:spPr>
          <a:xfrm>
            <a:off x="713232" y="365760"/>
            <a:ext cx="7955280" cy="219456"/>
          </a:xfrm>
          <a:prstGeom prst="rect">
            <a:avLst/>
          </a:prstGeom>
          <a:noFill/>
          <a:ln/>
        </p:spPr>
        <p:txBody>
          <a:bodyPr wrap="square" lIns="0" tIns="0" rIns="0" bIns="0" rtlCol="0" anchor="ctr"/>
          <a:lstStyle/>
          <a:p>
            <a:pPr marL="0" indent="0">
              <a:buNone/>
            </a:pPr>
            <a:r>
              <a:rPr lang="en-US" sz="1000" kern="0" spc="200" dirty="0">
                <a:solidFill>
                  <a:srgbClr val="7EE787"/>
                </a:solidFill>
                <a:latin typeface="Consolas" pitchFamily="34" charset="0"/>
                <a:ea typeface="Consolas" pitchFamily="34" charset="-122"/>
                <a:cs typeface="Consolas" pitchFamily="34" charset="-120"/>
              </a:rPr>
              <a:t>CARACTERÍSTICA</a:t>
            </a:r>
            <a:endParaRPr lang="en-US" sz="1000" dirty="0"/>
          </a:p>
        </p:txBody>
      </p:sp>
      <p:sp>
        <p:nvSpPr>
          <p:cNvPr id="4" name="Text 2"/>
          <p:cNvSpPr/>
          <p:nvPr/>
        </p:nvSpPr>
        <p:spPr>
          <a:xfrm>
            <a:off x="713232" y="566928"/>
            <a:ext cx="7955280" cy="411480"/>
          </a:xfrm>
          <a:prstGeom prst="rect">
            <a:avLst/>
          </a:prstGeom>
          <a:noFill/>
          <a:ln/>
        </p:spPr>
        <p:txBody>
          <a:bodyPr wrap="square" lIns="0" tIns="0" rIns="0" bIns="0" rtlCol="0" anchor="ctr"/>
          <a:lstStyle/>
          <a:p>
            <a:pPr marL="0" indent="0">
              <a:buNone/>
            </a:pPr>
            <a:r>
              <a:rPr lang="en-US" sz="2600" b="1" dirty="0">
                <a:solidFill>
                  <a:srgbClr val="E6EDF3"/>
                </a:solidFill>
                <a:latin typeface="Segoe UI" pitchFamily="34" charset="0"/>
                <a:ea typeface="Segoe UI" pitchFamily="34" charset="-122"/>
                <a:cs typeface="Segoe UI" pitchFamily="34" charset="-120"/>
              </a:rPr>
              <a:t>Texto fantasma</a:t>
            </a:r>
            <a:endParaRPr lang="en-US" sz="2600" dirty="0"/>
          </a:p>
        </p:txBody>
      </p:sp>
      <p:sp>
        <p:nvSpPr>
          <p:cNvPr id="5" name="Text 3"/>
          <p:cNvSpPr/>
          <p:nvPr/>
        </p:nvSpPr>
        <p:spPr>
          <a:xfrm>
            <a:off x="713232" y="1188720"/>
            <a:ext cx="4846320" cy="365760"/>
          </a:xfrm>
          <a:prstGeom prst="rect">
            <a:avLst/>
          </a:prstGeom>
          <a:noFill/>
          <a:ln/>
        </p:spPr>
        <p:txBody>
          <a:bodyPr wrap="square" lIns="0" tIns="0" rIns="0" bIns="0" rtlCol="0" anchor="ctr"/>
          <a:lstStyle/>
          <a:p>
            <a:pPr marL="0" indent="0">
              <a:buNone/>
            </a:pPr>
            <a:r>
              <a:rPr lang="en-US" sz="1300" dirty="0">
                <a:solidFill>
                  <a:srgbClr val="8B949E"/>
                </a:solidFill>
                <a:latin typeface="Segoe UI" pitchFamily="34" charset="0"/>
                <a:ea typeface="Segoe UI" pitchFamily="34" charset="-122"/>
                <a:cs typeface="Segoe UI" pitchFamily="34" charset="-120"/>
              </a:rPr>
              <a:t>Cuando Copilot está habilitado, muestra sugerencias en línea denominadas texto fantasma.</a:t>
            </a:r>
            <a:endParaRPr lang="en-US" sz="1300" dirty="0"/>
          </a:p>
        </p:txBody>
      </p:sp>
      <p:sp>
        <p:nvSpPr>
          <p:cNvPr id="6" name="Text 4"/>
          <p:cNvSpPr/>
          <p:nvPr/>
        </p:nvSpPr>
        <p:spPr>
          <a:xfrm>
            <a:off x="713232" y="1645920"/>
            <a:ext cx="4846320" cy="21945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E6EDF3"/>
                </a:solidFill>
                <a:latin typeface="Segoe UI" pitchFamily="34" charset="0"/>
                <a:ea typeface="Segoe UI" pitchFamily="34" charset="-122"/>
                <a:cs typeface="Segoe UI" pitchFamily="34" charset="-120"/>
              </a:rPr>
              <a:t>La sugerencia puede ignorarse simplemente al seguir escribiendo.</a:t>
            </a:r>
            <a:endParaRPr lang="en-US" sz="1300" dirty="0"/>
          </a:p>
          <a:p>
            <a:pPr marL="342900" indent="-342900">
              <a:spcAft>
                <a:spcPts val="1000"/>
              </a:spcAft>
              <a:buSzPct val="100000"/>
              <a:buChar char="•"/>
            </a:pPr>
            <a:r>
              <a:rPr lang="en-US" sz="1300" dirty="0">
                <a:solidFill>
                  <a:srgbClr val="E6EDF3"/>
                </a:solidFill>
                <a:latin typeface="Segoe UI" pitchFamily="34" charset="0"/>
                <a:ea typeface="Segoe UI" pitchFamily="34" charset="-122"/>
                <a:cs typeface="Segoe UI" pitchFamily="34" charset="-120"/>
              </a:rPr>
              <a:t>Se acepta presionando la tecla Tabulador.</a:t>
            </a:r>
            <a:endParaRPr lang="en-US" sz="1300" dirty="0"/>
          </a:p>
          <a:p>
            <a:pPr marL="342900" indent="-342900">
              <a:spcAft>
                <a:spcPts val="1000"/>
              </a:spcAft>
              <a:buSzPct val="100000"/>
              <a:buChar char="•"/>
            </a:pPr>
            <a:r>
              <a:rPr lang="en-US" sz="1300" dirty="0">
                <a:solidFill>
                  <a:srgbClr val="E6EDF3"/>
                </a:solidFill>
                <a:latin typeface="Segoe UI" pitchFamily="34" charset="0"/>
                <a:ea typeface="Segoe UI" pitchFamily="34" charset="-122"/>
                <a:cs typeface="Segoe UI" pitchFamily="34" charset="-120"/>
              </a:rPr>
              <a:t>No hace falta escribir una indicación: Copilot usa de forma predeterminada los archivos abiertos como contexto.</a:t>
            </a:r>
            <a:endParaRPr lang="en-US" sz="1300" dirty="0"/>
          </a:p>
          <a:p>
            <a:pPr marL="342900" indent="-342900">
              <a:spcAft>
                <a:spcPts val="1000"/>
              </a:spcAft>
              <a:buSzPct val="100000"/>
              <a:buChar char="•"/>
            </a:pPr>
            <a:r>
              <a:rPr lang="en-US" sz="1300" dirty="0">
                <a:solidFill>
                  <a:srgbClr val="E6EDF3"/>
                </a:solidFill>
                <a:latin typeface="Segoe UI" pitchFamily="34" charset="0"/>
                <a:ea typeface="Segoe UI" pitchFamily="34" charset="-122"/>
                <a:cs typeface="Segoe UI" pitchFamily="34" charset="-120"/>
              </a:rPr>
              <a:t>También se puede solicitar mediante comentarios, la ventana de chat o el chat en línea.</a:t>
            </a:r>
            <a:endParaRPr lang="en-US" sz="1300" dirty="0"/>
          </a:p>
        </p:txBody>
      </p:sp>
      <p:sp>
        <p:nvSpPr>
          <p:cNvPr id="7" name="Bloque de código">
            <a:extLst>
              <a:ext uri="{C183D7F6-B498-43B3-948B-1728B52AA6E4}">
                <adec:decorative xmlns:adec="http://schemas.microsoft.com/office/drawing/2017/decorative" val="1"/>
              </a:ext>
            </a:extLst>
          </p:cNvPr>
          <p:cNvSpPr/>
          <p:nvPr/>
        </p:nvSpPr>
        <p:spPr>
          <a:xfrm>
            <a:off x="713232" y="3886200"/>
            <a:ext cx="4846320" cy="777240"/>
          </a:xfrm>
          <a:prstGeom prst="rect">
            <a:avLst/>
          </a:prstGeom>
          <a:solidFill>
            <a:srgbClr val="010409"/>
          </a:solidFill>
          <a:ln w="12700">
            <a:solidFill>
              <a:srgbClr val="30363D"/>
            </a:solidFill>
            <a:prstDash val="solid"/>
          </a:ln>
        </p:spPr>
      </p:sp>
      <p:sp>
        <p:nvSpPr>
          <p:cNvPr id="8" name="Text 6"/>
          <p:cNvSpPr/>
          <p:nvPr/>
        </p:nvSpPr>
        <p:spPr>
          <a:xfrm>
            <a:off x="896112" y="4014216"/>
            <a:ext cx="4480560" cy="521208"/>
          </a:xfrm>
          <a:prstGeom prst="rect">
            <a:avLst/>
          </a:prstGeom>
          <a:noFill/>
          <a:ln/>
        </p:spPr>
        <p:txBody>
          <a:bodyPr wrap="square" lIns="0" tIns="0" rIns="0" bIns="0" rtlCol="0" anchor="t"/>
          <a:lstStyle/>
          <a:p>
            <a:pPr marL="0" indent="0">
              <a:lnSpc>
                <a:spcPct val="120000"/>
              </a:lnSpc>
              <a:buNone/>
            </a:pPr>
            <a:r>
              <a:rPr lang="en-US" sz="1000" dirty="0">
                <a:solidFill>
                  <a:srgbClr val="7EE787"/>
                </a:solidFill>
                <a:latin typeface="Consolas" pitchFamily="34" charset="0"/>
                <a:ea typeface="Consolas" pitchFamily="34" charset="-122"/>
                <a:cs typeface="Consolas" pitchFamily="34" charset="-120"/>
              </a:rPr>
              <a:t>def calcular_total(items):</a:t>
            </a:r>
            <a:endParaRPr lang="en-US" sz="1000" dirty="0"/>
          </a:p>
          <a:p>
            <a:pPr marL="0" indent="0">
              <a:lnSpc>
                <a:spcPct val="120000"/>
              </a:lnSpc>
              <a:buNone/>
            </a:pPr>
            <a:r>
              <a:rPr lang="en-US" sz="1000" dirty="0">
                <a:solidFill>
                  <a:srgbClr val="7EE787"/>
                </a:solidFill>
                <a:latin typeface="Consolas" pitchFamily="34" charset="0"/>
                <a:ea typeface="Consolas" pitchFamily="34" charset="-122"/>
                <a:cs typeface="Consolas" pitchFamily="34" charset="-120"/>
              </a:rPr>
              <a:t>    # Copilot sugiere la implementación → Tab</a:t>
            </a:r>
            <a:endParaRPr lang="en-US" sz="1000" dirty="0"/>
          </a:p>
        </p:txBody>
      </p:sp>
      <p:pic>
        <p:nvPicPr>
          <p:cNvPr id="9" name="Image 0" descr="Ilustración de una sugerencia de código en línea dentro del editor"/>
          <p:cNvPicPr>
            <a:picLocks noChangeAspect="1"/>
          </p:cNvPicPr>
          <p:nvPr/>
        </p:nvPicPr>
        <p:blipFill>
          <a:blip r:embed="rId3"/>
          <a:srcRect l="25084" r="25084"/>
          <a:stretch/>
        </p:blipFill>
        <p:spPr>
          <a:xfrm>
            <a:off x="5897880" y="1188720"/>
            <a:ext cx="2697480" cy="3474720"/>
          </a:xfrm>
          <a:prstGeom prst="rect">
            <a:avLst/>
          </a:prstGeom>
        </p:spPr>
      </p:pic>
      <p:sp>
        <p:nvSpPr>
          <p:cNvPr id="10" name="Línea de pie">
            <a:extLst>
              <a:ext uri="{C183D7F6-B498-43B3-948B-1728B52AA6E4}">
                <adec:decorative xmlns:adec="http://schemas.microsoft.com/office/drawing/2017/decorative" val="1"/>
              </a:ext>
            </a:extLst>
          </p:cNvPr>
          <p:cNvSpPr/>
          <p:nvPr/>
        </p:nvSpPr>
        <p:spPr>
          <a:xfrm>
            <a:off x="0" y="4956048"/>
            <a:ext cx="9144000" cy="13716"/>
          </a:xfrm>
          <a:prstGeom prst="rect">
            <a:avLst/>
          </a:prstGeom>
          <a:solidFill>
            <a:srgbClr val="30363D"/>
          </a:solidFill>
          <a:ln/>
        </p:spPr>
      </p:sp>
      <p:sp>
        <p:nvSpPr>
          <p:cNvPr id="11" name="Text 8"/>
          <p:cNvSpPr/>
          <p:nvPr/>
        </p:nvSpPr>
        <p:spPr>
          <a:xfrm>
            <a:off x="502920" y="4718304"/>
            <a:ext cx="5486400" cy="219456"/>
          </a:xfrm>
          <a:prstGeom prst="rect">
            <a:avLst/>
          </a:prstGeom>
          <a:noFill/>
          <a:ln/>
        </p:spPr>
        <p:txBody>
          <a:bodyPr wrap="square" lIns="0" tIns="0" rIns="0" bIns="0"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GitHub Copilot — Características avanzadas</a:t>
            </a:r>
            <a:endParaRPr lang="en-US" sz="900" dirty="0"/>
          </a:p>
        </p:txBody>
      </p:sp>
      <p:sp>
        <p:nvSpPr>
          <p:cNvPr id="12" name="Text 9"/>
          <p:cNvSpPr/>
          <p:nvPr/>
        </p:nvSpPr>
        <p:spPr>
          <a:xfrm>
            <a:off x="7863840" y="4718304"/>
            <a:ext cx="777240" cy="219456"/>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Barra de acento">
            <a:extLst>
              <a:ext uri="{C183D7F6-B498-43B3-948B-1728B52AA6E4}">
                <adec:decorative xmlns:adec="http://schemas.microsoft.com/office/drawing/2017/decorative" val="1"/>
              </a:ext>
            </a:extLst>
          </p:cNvPr>
          <p:cNvSpPr/>
          <p:nvPr/>
        </p:nvSpPr>
        <p:spPr>
          <a:xfrm>
            <a:off x="502920" y="384048"/>
            <a:ext cx="54864" cy="566928"/>
          </a:xfrm>
          <a:prstGeom prst="rect">
            <a:avLst/>
          </a:prstGeom>
          <a:solidFill>
            <a:srgbClr val="7EE787"/>
          </a:solidFill>
          <a:ln/>
        </p:spPr>
      </p:sp>
      <p:sp>
        <p:nvSpPr>
          <p:cNvPr id="3" name="Text 1"/>
          <p:cNvSpPr/>
          <p:nvPr/>
        </p:nvSpPr>
        <p:spPr>
          <a:xfrm>
            <a:off x="713232" y="365760"/>
            <a:ext cx="7955280" cy="219456"/>
          </a:xfrm>
          <a:prstGeom prst="rect">
            <a:avLst/>
          </a:prstGeom>
          <a:noFill/>
          <a:ln/>
        </p:spPr>
        <p:txBody>
          <a:bodyPr wrap="square" lIns="0" tIns="0" rIns="0" bIns="0" rtlCol="0" anchor="ctr"/>
          <a:lstStyle/>
          <a:p>
            <a:pPr marL="0" indent="0">
              <a:buNone/>
            </a:pPr>
            <a:r>
              <a:rPr lang="en-US" sz="1000" kern="0" spc="200" dirty="0">
                <a:solidFill>
                  <a:srgbClr val="7EE787"/>
                </a:solidFill>
                <a:latin typeface="Consolas" pitchFamily="34" charset="0"/>
                <a:ea typeface="Consolas" pitchFamily="34" charset="-122"/>
                <a:cs typeface="Consolas" pitchFamily="34" charset="-120"/>
              </a:rPr>
              <a:t>CARACTERÍSTICA</a:t>
            </a:r>
            <a:endParaRPr lang="en-US" sz="1000" dirty="0"/>
          </a:p>
        </p:txBody>
      </p:sp>
      <p:sp>
        <p:nvSpPr>
          <p:cNvPr id="4" name="Text 2"/>
          <p:cNvSpPr/>
          <p:nvPr/>
        </p:nvSpPr>
        <p:spPr>
          <a:xfrm>
            <a:off x="713232" y="566928"/>
            <a:ext cx="7955280" cy="411480"/>
          </a:xfrm>
          <a:prstGeom prst="rect">
            <a:avLst/>
          </a:prstGeom>
          <a:noFill/>
          <a:ln/>
        </p:spPr>
        <p:txBody>
          <a:bodyPr wrap="square" lIns="0" tIns="0" rIns="0" bIns="0" rtlCol="0" anchor="ctr"/>
          <a:lstStyle/>
          <a:p>
            <a:pPr marL="0" indent="0">
              <a:buNone/>
            </a:pPr>
            <a:r>
              <a:rPr lang="en-US" sz="2600" b="1" dirty="0">
                <a:solidFill>
                  <a:srgbClr val="E6EDF3"/>
                </a:solidFill>
                <a:latin typeface="Segoe UI" pitchFamily="34" charset="0"/>
                <a:ea typeface="Segoe UI" pitchFamily="34" charset="-122"/>
                <a:cs typeface="Segoe UI" pitchFamily="34" charset="-120"/>
              </a:rPr>
              <a:t>Chat y chat en línea</a:t>
            </a:r>
            <a:endParaRPr lang="en-US" sz="2600" dirty="0"/>
          </a:p>
        </p:txBody>
      </p:sp>
      <p:sp>
        <p:nvSpPr>
          <p:cNvPr id="5" name="Tarjeta de contenido">
            <a:extLst>
              <a:ext uri="{C183D7F6-B498-43B3-948B-1728B52AA6E4}">
                <adec:decorative xmlns:adec="http://schemas.microsoft.com/office/drawing/2017/decorative" val="1"/>
              </a:ext>
            </a:extLst>
          </p:cNvPr>
          <p:cNvSpPr/>
          <p:nvPr/>
        </p:nvSpPr>
        <p:spPr>
          <a:xfrm>
            <a:off x="713232" y="1234440"/>
            <a:ext cx="3794760" cy="1600200"/>
          </a:xfrm>
          <a:prstGeom prst="rect">
            <a:avLst/>
          </a:prstGeom>
          <a:solidFill>
            <a:srgbClr val="161B22"/>
          </a:solidFill>
          <a:ln w="12700">
            <a:solidFill>
              <a:srgbClr val="30363D"/>
            </a:solidFill>
            <a:prstDash val="solid"/>
          </a:ln>
        </p:spPr>
      </p:sp>
      <p:sp>
        <p:nvSpPr>
          <p:cNvPr id="6" name="Acento de tarjeta">
            <a:extLst>
              <a:ext uri="{C183D7F6-B498-43B3-948B-1728B52AA6E4}">
                <adec:decorative xmlns:adec="http://schemas.microsoft.com/office/drawing/2017/decorative" val="1"/>
              </a:ext>
            </a:extLst>
          </p:cNvPr>
          <p:cNvSpPr/>
          <p:nvPr/>
        </p:nvSpPr>
        <p:spPr>
          <a:xfrm>
            <a:off x="713232" y="1234440"/>
            <a:ext cx="45720" cy="1600200"/>
          </a:xfrm>
          <a:prstGeom prst="rect">
            <a:avLst/>
          </a:prstGeom>
          <a:solidFill>
            <a:srgbClr val="7EE787"/>
          </a:solidFill>
          <a:ln/>
        </p:spPr>
      </p:sp>
      <p:sp>
        <p:nvSpPr>
          <p:cNvPr id="7" name="Text 5"/>
          <p:cNvSpPr/>
          <p:nvPr/>
        </p:nvSpPr>
        <p:spPr>
          <a:xfrm>
            <a:off x="932688" y="1380744"/>
            <a:ext cx="339242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Chat con GitHub Copilot</a:t>
            </a:r>
            <a:endParaRPr lang="en-US" sz="1300" dirty="0"/>
          </a:p>
        </p:txBody>
      </p:sp>
      <p:sp>
        <p:nvSpPr>
          <p:cNvPr id="8" name="Text 6"/>
          <p:cNvSpPr/>
          <p:nvPr/>
        </p:nvSpPr>
        <p:spPr>
          <a:xfrm>
            <a:off x="932688" y="1691640"/>
            <a:ext cx="3392424" cy="996696"/>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Conversación interactiva desde una interfaz dedicada. En Visual Studio Code se abre con el icono de chat de la barra lateral izquierda para preguntar sobre el código en el que se trabaja u otras cuestiones de software.</a:t>
            </a:r>
            <a:endParaRPr lang="en-US" sz="1050" dirty="0"/>
          </a:p>
        </p:txBody>
      </p:sp>
      <p:sp>
        <p:nvSpPr>
          <p:cNvPr id="9" name="Tarjeta de contenido">
            <a:extLst>
              <a:ext uri="{C183D7F6-B498-43B3-948B-1728B52AA6E4}">
                <adec:decorative xmlns:adec="http://schemas.microsoft.com/office/drawing/2017/decorative" val="1"/>
              </a:ext>
            </a:extLst>
          </p:cNvPr>
          <p:cNvSpPr/>
          <p:nvPr/>
        </p:nvSpPr>
        <p:spPr>
          <a:xfrm>
            <a:off x="4709160" y="1234440"/>
            <a:ext cx="3749040" cy="1600200"/>
          </a:xfrm>
          <a:prstGeom prst="rect">
            <a:avLst/>
          </a:prstGeom>
          <a:solidFill>
            <a:srgbClr val="161B22"/>
          </a:solidFill>
          <a:ln w="12700">
            <a:solidFill>
              <a:srgbClr val="30363D"/>
            </a:solidFill>
            <a:prstDash val="solid"/>
          </a:ln>
        </p:spPr>
      </p:sp>
      <p:sp>
        <p:nvSpPr>
          <p:cNvPr id="10" name="Acento de tarjeta">
            <a:extLst>
              <a:ext uri="{C183D7F6-B498-43B3-948B-1728B52AA6E4}">
                <adec:decorative xmlns:adec="http://schemas.microsoft.com/office/drawing/2017/decorative" val="1"/>
              </a:ext>
            </a:extLst>
          </p:cNvPr>
          <p:cNvSpPr/>
          <p:nvPr/>
        </p:nvSpPr>
        <p:spPr>
          <a:xfrm>
            <a:off x="4709160" y="1234440"/>
            <a:ext cx="45720" cy="1600200"/>
          </a:xfrm>
          <a:prstGeom prst="rect">
            <a:avLst/>
          </a:prstGeom>
          <a:solidFill>
            <a:srgbClr val="58A6FF"/>
          </a:solidFill>
          <a:ln/>
        </p:spPr>
      </p:sp>
      <p:sp>
        <p:nvSpPr>
          <p:cNvPr id="11" name="Text 9"/>
          <p:cNvSpPr/>
          <p:nvPr/>
        </p:nvSpPr>
        <p:spPr>
          <a:xfrm>
            <a:off x="4928616" y="1380744"/>
            <a:ext cx="334670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Chat en línea</a:t>
            </a:r>
            <a:endParaRPr lang="en-US" sz="1300" dirty="0"/>
          </a:p>
        </p:txBody>
      </p:sp>
      <p:sp>
        <p:nvSpPr>
          <p:cNvPr id="12" name="Text 10"/>
          <p:cNvSpPr/>
          <p:nvPr/>
        </p:nvSpPr>
        <p:spPr>
          <a:xfrm>
            <a:off x="4928616" y="1691640"/>
            <a:ext cx="3346704" cy="996696"/>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Permite interactuar con Copilot directamente desde el código, sin cambiar de contexto. Las sugerencias aparecen junto al código, evitando saltar a otro panel.</a:t>
            </a:r>
            <a:endParaRPr lang="en-US" sz="1050" dirty="0"/>
          </a:p>
        </p:txBody>
      </p:sp>
      <p:sp>
        <p:nvSpPr>
          <p:cNvPr id="13" name="Text 11"/>
          <p:cNvSpPr/>
          <p:nvPr/>
        </p:nvSpPr>
        <p:spPr>
          <a:xfrm>
            <a:off x="713232" y="3063240"/>
            <a:ext cx="7744968"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Accesos directos del chat en línea</a:t>
            </a:r>
            <a:endParaRPr lang="en-US" sz="1300" dirty="0"/>
          </a:p>
        </p:txBody>
      </p:sp>
      <p:sp>
        <p:nvSpPr>
          <p:cNvPr id="14" name="Contenedor de atajo">
            <a:extLst>
              <a:ext uri="{C183D7F6-B498-43B3-948B-1728B52AA6E4}">
                <adec:decorative xmlns:adec="http://schemas.microsoft.com/office/drawing/2017/decorative" val="1"/>
              </a:ext>
            </a:extLst>
          </p:cNvPr>
          <p:cNvSpPr/>
          <p:nvPr/>
        </p:nvSpPr>
        <p:spPr>
          <a:xfrm>
            <a:off x="713232" y="3456432"/>
            <a:ext cx="3794760" cy="777240"/>
          </a:xfrm>
          <a:prstGeom prst="rect">
            <a:avLst/>
          </a:prstGeom>
          <a:solidFill>
            <a:srgbClr val="1C2430"/>
          </a:solidFill>
          <a:ln/>
        </p:spPr>
      </p:sp>
      <p:sp>
        <p:nvSpPr>
          <p:cNvPr id="15" name="Text 13"/>
          <p:cNvSpPr/>
          <p:nvPr/>
        </p:nvSpPr>
        <p:spPr>
          <a:xfrm>
            <a:off x="914400" y="3547872"/>
            <a:ext cx="1554480" cy="228600"/>
          </a:xfrm>
          <a:prstGeom prst="rect">
            <a:avLst/>
          </a:prstGeom>
          <a:noFill/>
          <a:ln/>
        </p:spPr>
        <p:txBody>
          <a:bodyPr wrap="square" lIns="0" tIns="0" rIns="0" bIns="0"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Windows</a:t>
            </a:r>
            <a:endParaRPr lang="en-US" sz="1100" dirty="0"/>
          </a:p>
        </p:txBody>
      </p:sp>
      <p:sp>
        <p:nvSpPr>
          <p:cNvPr id="16" name="Text 14"/>
          <p:cNvSpPr/>
          <p:nvPr/>
        </p:nvSpPr>
        <p:spPr>
          <a:xfrm>
            <a:off x="914400" y="3776472"/>
            <a:ext cx="3383280" cy="320040"/>
          </a:xfrm>
          <a:prstGeom prst="rect">
            <a:avLst/>
          </a:prstGeom>
          <a:noFill/>
          <a:ln/>
        </p:spPr>
        <p:txBody>
          <a:bodyPr wrap="square" lIns="0" tIns="0" rIns="0" bIns="0" rtlCol="0" anchor="ctr"/>
          <a:lstStyle/>
          <a:p>
            <a:pPr marL="0" indent="0">
              <a:buNone/>
            </a:pPr>
            <a:r>
              <a:rPr lang="en-US" sz="1800" b="1" dirty="0">
                <a:solidFill>
                  <a:srgbClr val="7EE787"/>
                </a:solidFill>
                <a:latin typeface="Consolas" pitchFamily="34" charset="0"/>
                <a:ea typeface="Consolas" pitchFamily="34" charset="-122"/>
                <a:cs typeface="Consolas" pitchFamily="34" charset="-120"/>
              </a:rPr>
              <a:t>Ctrl + i</a:t>
            </a:r>
            <a:endParaRPr lang="en-US" sz="1800" dirty="0"/>
          </a:p>
        </p:txBody>
      </p:sp>
      <p:sp>
        <p:nvSpPr>
          <p:cNvPr id="17" name="Contenedor de atajo">
            <a:extLst>
              <a:ext uri="{C183D7F6-B498-43B3-948B-1728B52AA6E4}">
                <adec:decorative xmlns:adec="http://schemas.microsoft.com/office/drawing/2017/decorative" val="1"/>
              </a:ext>
            </a:extLst>
          </p:cNvPr>
          <p:cNvSpPr/>
          <p:nvPr/>
        </p:nvSpPr>
        <p:spPr>
          <a:xfrm>
            <a:off x="4709160" y="3456432"/>
            <a:ext cx="3749040" cy="777240"/>
          </a:xfrm>
          <a:prstGeom prst="rect">
            <a:avLst/>
          </a:prstGeom>
          <a:solidFill>
            <a:srgbClr val="1C2430"/>
          </a:solidFill>
          <a:ln/>
        </p:spPr>
      </p:sp>
      <p:sp>
        <p:nvSpPr>
          <p:cNvPr id="18" name="Text 16"/>
          <p:cNvSpPr/>
          <p:nvPr/>
        </p:nvSpPr>
        <p:spPr>
          <a:xfrm>
            <a:off x="4910328" y="3547872"/>
            <a:ext cx="1554480" cy="228600"/>
          </a:xfrm>
          <a:prstGeom prst="rect">
            <a:avLst/>
          </a:prstGeom>
          <a:noFill/>
          <a:ln/>
        </p:spPr>
        <p:txBody>
          <a:bodyPr wrap="square" lIns="0" tIns="0" rIns="0" bIns="0"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Mac</a:t>
            </a:r>
            <a:endParaRPr lang="en-US" sz="1100" dirty="0"/>
          </a:p>
        </p:txBody>
      </p:sp>
      <p:sp>
        <p:nvSpPr>
          <p:cNvPr id="19" name="Text 17"/>
          <p:cNvSpPr/>
          <p:nvPr/>
        </p:nvSpPr>
        <p:spPr>
          <a:xfrm>
            <a:off x="4910328" y="3776472"/>
            <a:ext cx="3383280" cy="320040"/>
          </a:xfrm>
          <a:prstGeom prst="rect">
            <a:avLst/>
          </a:prstGeom>
          <a:noFill/>
          <a:ln/>
        </p:spPr>
        <p:txBody>
          <a:bodyPr wrap="square" lIns="0" tIns="0" rIns="0" bIns="0" rtlCol="0" anchor="ctr"/>
          <a:lstStyle/>
          <a:p>
            <a:pPr marL="0" indent="0">
              <a:buNone/>
            </a:pPr>
            <a:r>
              <a:rPr lang="en-US" sz="1800" b="1" dirty="0">
                <a:solidFill>
                  <a:srgbClr val="58A6FF"/>
                </a:solidFill>
                <a:latin typeface="Consolas" pitchFamily="34" charset="0"/>
                <a:ea typeface="Consolas" pitchFamily="34" charset="-122"/>
                <a:cs typeface="Consolas" pitchFamily="34" charset="-120"/>
              </a:rPr>
              <a:t>Command + i</a:t>
            </a:r>
            <a:endParaRPr lang="en-US" sz="1800" dirty="0"/>
          </a:p>
        </p:txBody>
      </p:sp>
      <p:sp>
        <p:nvSpPr>
          <p:cNvPr id="20" name="Línea de pie">
            <a:extLst>
              <a:ext uri="{C183D7F6-B498-43B3-948B-1728B52AA6E4}">
                <adec:decorative xmlns:adec="http://schemas.microsoft.com/office/drawing/2017/decorative" val="1"/>
              </a:ext>
            </a:extLst>
          </p:cNvPr>
          <p:cNvSpPr/>
          <p:nvPr/>
        </p:nvSpPr>
        <p:spPr>
          <a:xfrm>
            <a:off x="0" y="4956048"/>
            <a:ext cx="9144000" cy="13716"/>
          </a:xfrm>
          <a:prstGeom prst="rect">
            <a:avLst/>
          </a:prstGeom>
          <a:solidFill>
            <a:srgbClr val="30363D"/>
          </a:solidFill>
          <a:ln/>
        </p:spPr>
      </p:sp>
      <p:sp>
        <p:nvSpPr>
          <p:cNvPr id="21" name="Text 19"/>
          <p:cNvSpPr/>
          <p:nvPr/>
        </p:nvSpPr>
        <p:spPr>
          <a:xfrm>
            <a:off x="502920" y="4718304"/>
            <a:ext cx="5486400" cy="219456"/>
          </a:xfrm>
          <a:prstGeom prst="rect">
            <a:avLst/>
          </a:prstGeom>
          <a:noFill/>
          <a:ln/>
        </p:spPr>
        <p:txBody>
          <a:bodyPr wrap="square" lIns="0" tIns="0" rIns="0" bIns="0"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GitHub Copilot — Características avanzadas</a:t>
            </a:r>
            <a:endParaRPr lang="en-US" sz="900" dirty="0"/>
          </a:p>
        </p:txBody>
      </p:sp>
      <p:sp>
        <p:nvSpPr>
          <p:cNvPr id="22" name="Text 20"/>
          <p:cNvSpPr/>
          <p:nvPr/>
        </p:nvSpPr>
        <p:spPr>
          <a:xfrm>
            <a:off x="7863840" y="4718304"/>
            <a:ext cx="777240" cy="219456"/>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Barra de acento">
            <a:extLst>
              <a:ext uri="{C183D7F6-B498-43B3-948B-1728B52AA6E4}">
                <adec:decorative xmlns:adec="http://schemas.microsoft.com/office/drawing/2017/decorative" val="1"/>
              </a:ext>
            </a:extLst>
          </p:cNvPr>
          <p:cNvSpPr/>
          <p:nvPr/>
        </p:nvSpPr>
        <p:spPr>
          <a:xfrm>
            <a:off x="502920" y="384048"/>
            <a:ext cx="54864" cy="566928"/>
          </a:xfrm>
          <a:prstGeom prst="rect">
            <a:avLst/>
          </a:prstGeom>
          <a:solidFill>
            <a:srgbClr val="7EE787"/>
          </a:solidFill>
          <a:ln/>
        </p:spPr>
      </p:sp>
      <p:sp>
        <p:nvSpPr>
          <p:cNvPr id="3" name="Text 1"/>
          <p:cNvSpPr/>
          <p:nvPr/>
        </p:nvSpPr>
        <p:spPr>
          <a:xfrm>
            <a:off x="713232" y="365760"/>
            <a:ext cx="7955280" cy="219456"/>
          </a:xfrm>
          <a:prstGeom prst="rect">
            <a:avLst/>
          </a:prstGeom>
          <a:noFill/>
          <a:ln/>
        </p:spPr>
        <p:txBody>
          <a:bodyPr wrap="square" lIns="0" tIns="0" rIns="0" bIns="0" rtlCol="0" anchor="ctr"/>
          <a:lstStyle/>
          <a:p>
            <a:pPr marL="0" indent="0">
              <a:buNone/>
            </a:pPr>
            <a:r>
              <a:rPr lang="en-US" sz="1000" kern="0" spc="200" dirty="0">
                <a:solidFill>
                  <a:srgbClr val="7EE787"/>
                </a:solidFill>
                <a:latin typeface="Consolas" pitchFamily="34" charset="0"/>
                <a:ea typeface="Consolas" pitchFamily="34" charset="-122"/>
                <a:cs typeface="Consolas" pitchFamily="34" charset="-120"/>
              </a:rPr>
              <a:t>CARACTERÍSTICA</a:t>
            </a:r>
            <a:endParaRPr lang="en-US" sz="1000" dirty="0"/>
          </a:p>
        </p:txBody>
      </p:sp>
      <p:sp>
        <p:nvSpPr>
          <p:cNvPr id="4" name="Text 2"/>
          <p:cNvSpPr/>
          <p:nvPr/>
        </p:nvSpPr>
        <p:spPr>
          <a:xfrm>
            <a:off x="713232" y="566928"/>
            <a:ext cx="7955280" cy="411480"/>
          </a:xfrm>
          <a:prstGeom prst="rect">
            <a:avLst/>
          </a:prstGeom>
          <a:noFill/>
          <a:ln/>
        </p:spPr>
        <p:txBody>
          <a:bodyPr wrap="square" lIns="0" tIns="0" rIns="0" bIns="0" rtlCol="0" anchor="ctr"/>
          <a:lstStyle/>
          <a:p>
            <a:pPr marL="0" indent="0">
              <a:buNone/>
            </a:pPr>
            <a:r>
              <a:rPr lang="en-US" sz="2600" b="1" dirty="0">
                <a:solidFill>
                  <a:srgbClr val="E6EDF3"/>
                </a:solidFill>
                <a:latin typeface="Segoe UI" pitchFamily="34" charset="0"/>
                <a:ea typeface="Segoe UI" pitchFamily="34" charset="-122"/>
                <a:cs typeface="Segoe UI" pitchFamily="34" charset="-120"/>
              </a:rPr>
              <a:t>Comandos de barra diagonal y agentes</a:t>
            </a:r>
            <a:endParaRPr lang="en-US" sz="2600" dirty="0"/>
          </a:p>
        </p:txBody>
      </p:sp>
      <p:sp>
        <p:nvSpPr>
          <p:cNvPr id="5" name="Text 3"/>
          <p:cNvSpPr/>
          <p:nvPr/>
        </p:nvSpPr>
        <p:spPr>
          <a:xfrm>
            <a:off x="713232" y="1188720"/>
            <a:ext cx="7744968" cy="502920"/>
          </a:xfrm>
          <a:prstGeom prst="rect">
            <a:avLst/>
          </a:prstGeom>
          <a:noFill/>
          <a:ln/>
        </p:spPr>
        <p:txBody>
          <a:bodyPr wrap="square" lIns="0" tIns="0" rIns="0" bIns="0" rtlCol="0" anchor="ctr"/>
          <a:lstStyle/>
          <a:p>
            <a:pPr marL="0" indent="0">
              <a:lnSpc>
                <a:spcPct val="120000"/>
              </a:lnSpc>
              <a:buNone/>
            </a:pPr>
            <a:r>
              <a:rPr lang="en-US" sz="1250" dirty="0">
                <a:solidFill>
                  <a:srgbClr val="8B949E"/>
                </a:solidFill>
                <a:latin typeface="Segoe UI" pitchFamily="34" charset="0"/>
                <a:ea typeface="Segoe UI" pitchFamily="34" charset="-122"/>
                <a:cs typeface="Segoe UI" pitchFamily="34" charset="-120"/>
              </a:rPr>
              <a:t>Al escribir / en el panel de chat o en el chat en línea aparece un menú con los comandos disponibles. Indican una intención específica y resuelven tareas comunes sin escribir mensajes extensos.</a:t>
            </a:r>
            <a:endParaRPr lang="en-US" sz="1250" dirty="0"/>
          </a:p>
        </p:txBody>
      </p:sp>
      <p:sp>
        <p:nvSpPr>
          <p:cNvPr id="6" name="Fila de comando">
            <a:extLst>
              <a:ext uri="{C183D7F6-B498-43B3-948B-1728B52AA6E4}">
                <adec:decorative xmlns:adec="http://schemas.microsoft.com/office/drawing/2017/decorative" val="1"/>
              </a:ext>
            </a:extLst>
          </p:cNvPr>
          <p:cNvSpPr/>
          <p:nvPr/>
        </p:nvSpPr>
        <p:spPr>
          <a:xfrm>
            <a:off x="713232" y="1828800"/>
            <a:ext cx="3794760" cy="502920"/>
          </a:xfrm>
          <a:prstGeom prst="rect">
            <a:avLst/>
          </a:prstGeom>
          <a:solidFill>
            <a:srgbClr val="161B22"/>
          </a:solidFill>
          <a:ln w="12700">
            <a:solidFill>
              <a:srgbClr val="30363D"/>
            </a:solidFill>
            <a:prstDash val="solid"/>
          </a:ln>
        </p:spPr>
      </p:sp>
      <p:sp>
        <p:nvSpPr>
          <p:cNvPr id="7" name="Text 5"/>
          <p:cNvSpPr/>
          <p:nvPr/>
        </p:nvSpPr>
        <p:spPr>
          <a:xfrm>
            <a:off x="877824" y="1828800"/>
            <a:ext cx="1234440" cy="502920"/>
          </a:xfrm>
          <a:prstGeom prst="rect">
            <a:avLst/>
          </a:prstGeom>
          <a:noFill/>
          <a:ln/>
        </p:spPr>
        <p:txBody>
          <a:bodyPr wrap="square" lIns="0" tIns="0" rIns="0" bIns="0" rtlCol="0" anchor="ctr"/>
          <a:lstStyle/>
          <a:p>
            <a:pPr marL="0" indent="0">
              <a:buNone/>
            </a:pPr>
            <a:r>
              <a:rPr lang="en-US" sz="1250" b="1" dirty="0">
                <a:solidFill>
                  <a:srgbClr val="7EE787"/>
                </a:solidFill>
                <a:latin typeface="Consolas" pitchFamily="34" charset="0"/>
                <a:ea typeface="Consolas" pitchFamily="34" charset="-122"/>
                <a:cs typeface="Consolas" pitchFamily="34" charset="-120"/>
              </a:rPr>
              <a:t>/fix</a:t>
            </a:r>
            <a:endParaRPr lang="en-US" sz="1250" dirty="0"/>
          </a:p>
        </p:txBody>
      </p:sp>
      <p:sp>
        <p:nvSpPr>
          <p:cNvPr id="8" name="Text 6"/>
          <p:cNvSpPr/>
          <p:nvPr/>
        </p:nvSpPr>
        <p:spPr>
          <a:xfrm>
            <a:off x="2157984" y="1828800"/>
            <a:ext cx="2185416" cy="502920"/>
          </a:xfrm>
          <a:prstGeom prst="rect">
            <a:avLst/>
          </a:prstGeom>
          <a:noFill/>
          <a:ln/>
        </p:spPr>
        <p:txBody>
          <a:bodyPr wrap="square" lIns="0" tIns="0" rIns="0" bIns="0"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Corrige problemas en el código</a:t>
            </a:r>
            <a:endParaRPr lang="en-US" sz="1100" dirty="0"/>
          </a:p>
        </p:txBody>
      </p:sp>
      <p:sp>
        <p:nvSpPr>
          <p:cNvPr id="9" name="Fila de comando">
            <a:extLst>
              <a:ext uri="{C183D7F6-B498-43B3-948B-1728B52AA6E4}">
                <adec:decorative xmlns:adec="http://schemas.microsoft.com/office/drawing/2017/decorative" val="1"/>
              </a:ext>
            </a:extLst>
          </p:cNvPr>
          <p:cNvSpPr/>
          <p:nvPr/>
        </p:nvSpPr>
        <p:spPr>
          <a:xfrm>
            <a:off x="4800600" y="1828800"/>
            <a:ext cx="3794760" cy="502920"/>
          </a:xfrm>
          <a:prstGeom prst="rect">
            <a:avLst/>
          </a:prstGeom>
          <a:solidFill>
            <a:srgbClr val="161B22"/>
          </a:solidFill>
          <a:ln w="12700">
            <a:solidFill>
              <a:srgbClr val="30363D"/>
            </a:solidFill>
            <a:prstDash val="solid"/>
          </a:ln>
        </p:spPr>
      </p:sp>
      <p:sp>
        <p:nvSpPr>
          <p:cNvPr id="10" name="Text 8"/>
          <p:cNvSpPr/>
          <p:nvPr/>
        </p:nvSpPr>
        <p:spPr>
          <a:xfrm>
            <a:off x="4965192" y="1828800"/>
            <a:ext cx="1234440" cy="502920"/>
          </a:xfrm>
          <a:prstGeom prst="rect">
            <a:avLst/>
          </a:prstGeom>
          <a:noFill/>
          <a:ln/>
        </p:spPr>
        <p:txBody>
          <a:bodyPr wrap="square" lIns="0" tIns="0" rIns="0" bIns="0" rtlCol="0" anchor="ctr"/>
          <a:lstStyle/>
          <a:p>
            <a:pPr marL="0" indent="0">
              <a:buNone/>
            </a:pPr>
            <a:r>
              <a:rPr lang="en-US" sz="1250" b="1" dirty="0">
                <a:solidFill>
                  <a:srgbClr val="7EE787"/>
                </a:solidFill>
                <a:latin typeface="Consolas" pitchFamily="34" charset="0"/>
                <a:ea typeface="Consolas" pitchFamily="34" charset="-122"/>
                <a:cs typeface="Consolas" pitchFamily="34" charset="-120"/>
              </a:rPr>
              <a:t>/doc</a:t>
            </a:r>
            <a:endParaRPr lang="en-US" sz="1250" dirty="0"/>
          </a:p>
        </p:txBody>
      </p:sp>
      <p:sp>
        <p:nvSpPr>
          <p:cNvPr id="11" name="Text 9"/>
          <p:cNvSpPr/>
          <p:nvPr/>
        </p:nvSpPr>
        <p:spPr>
          <a:xfrm>
            <a:off x="6245352" y="1828800"/>
            <a:ext cx="2185416" cy="502920"/>
          </a:xfrm>
          <a:prstGeom prst="rect">
            <a:avLst/>
          </a:prstGeom>
          <a:noFill/>
          <a:ln/>
        </p:spPr>
        <p:txBody>
          <a:bodyPr wrap="square" lIns="0" tIns="0" rIns="0" bIns="0"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Agrega comentarios al código seleccionado</a:t>
            </a:r>
            <a:endParaRPr lang="en-US" sz="1100" dirty="0"/>
          </a:p>
        </p:txBody>
      </p:sp>
      <p:sp>
        <p:nvSpPr>
          <p:cNvPr id="12" name="Fila de comando">
            <a:extLst>
              <a:ext uri="{C183D7F6-B498-43B3-948B-1728B52AA6E4}">
                <adec:decorative xmlns:adec="http://schemas.microsoft.com/office/drawing/2017/decorative" val="1"/>
              </a:ext>
            </a:extLst>
          </p:cNvPr>
          <p:cNvSpPr/>
          <p:nvPr/>
        </p:nvSpPr>
        <p:spPr>
          <a:xfrm>
            <a:off x="713232" y="2459736"/>
            <a:ext cx="3794760" cy="502920"/>
          </a:xfrm>
          <a:prstGeom prst="rect">
            <a:avLst/>
          </a:prstGeom>
          <a:solidFill>
            <a:srgbClr val="161B22"/>
          </a:solidFill>
          <a:ln w="12700">
            <a:solidFill>
              <a:srgbClr val="30363D"/>
            </a:solidFill>
            <a:prstDash val="solid"/>
          </a:ln>
        </p:spPr>
      </p:sp>
      <p:sp>
        <p:nvSpPr>
          <p:cNvPr id="13" name="Text 11"/>
          <p:cNvSpPr/>
          <p:nvPr/>
        </p:nvSpPr>
        <p:spPr>
          <a:xfrm>
            <a:off x="877824" y="2459736"/>
            <a:ext cx="1234440" cy="502920"/>
          </a:xfrm>
          <a:prstGeom prst="rect">
            <a:avLst/>
          </a:prstGeom>
          <a:noFill/>
          <a:ln/>
        </p:spPr>
        <p:txBody>
          <a:bodyPr wrap="square" lIns="0" tIns="0" rIns="0" bIns="0" rtlCol="0" anchor="ctr"/>
          <a:lstStyle/>
          <a:p>
            <a:pPr marL="0" indent="0">
              <a:buNone/>
            </a:pPr>
            <a:r>
              <a:rPr lang="en-US" sz="1250" b="1" dirty="0">
                <a:solidFill>
                  <a:srgbClr val="7EE787"/>
                </a:solidFill>
                <a:latin typeface="Consolas" pitchFamily="34" charset="0"/>
                <a:ea typeface="Consolas" pitchFamily="34" charset="-122"/>
                <a:cs typeface="Consolas" pitchFamily="34" charset="-120"/>
              </a:rPr>
              <a:t>/explain</a:t>
            </a:r>
            <a:endParaRPr lang="en-US" sz="1250" dirty="0"/>
          </a:p>
        </p:txBody>
      </p:sp>
      <p:sp>
        <p:nvSpPr>
          <p:cNvPr id="14" name="Text 12"/>
          <p:cNvSpPr/>
          <p:nvPr/>
        </p:nvSpPr>
        <p:spPr>
          <a:xfrm>
            <a:off x="2157984" y="2459736"/>
            <a:ext cx="2185416" cy="502920"/>
          </a:xfrm>
          <a:prstGeom prst="rect">
            <a:avLst/>
          </a:prstGeom>
          <a:noFill/>
          <a:ln/>
        </p:spPr>
        <p:txBody>
          <a:bodyPr wrap="square" lIns="0" tIns="0" rIns="0" bIns="0"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Explica el código</a:t>
            </a:r>
            <a:endParaRPr lang="en-US" sz="1100" dirty="0"/>
          </a:p>
        </p:txBody>
      </p:sp>
      <p:sp>
        <p:nvSpPr>
          <p:cNvPr id="15" name="Fila de comando">
            <a:extLst>
              <a:ext uri="{C183D7F6-B498-43B3-948B-1728B52AA6E4}">
                <adec:decorative xmlns:adec="http://schemas.microsoft.com/office/drawing/2017/decorative" val="1"/>
              </a:ext>
            </a:extLst>
          </p:cNvPr>
          <p:cNvSpPr/>
          <p:nvPr/>
        </p:nvSpPr>
        <p:spPr>
          <a:xfrm>
            <a:off x="4800600" y="2459736"/>
            <a:ext cx="3794760" cy="502920"/>
          </a:xfrm>
          <a:prstGeom prst="rect">
            <a:avLst/>
          </a:prstGeom>
          <a:solidFill>
            <a:srgbClr val="161B22"/>
          </a:solidFill>
          <a:ln w="12700">
            <a:solidFill>
              <a:srgbClr val="30363D"/>
            </a:solidFill>
            <a:prstDash val="solid"/>
          </a:ln>
        </p:spPr>
      </p:sp>
      <p:sp>
        <p:nvSpPr>
          <p:cNvPr id="16" name="Text 14"/>
          <p:cNvSpPr/>
          <p:nvPr/>
        </p:nvSpPr>
        <p:spPr>
          <a:xfrm>
            <a:off x="4965192" y="2459736"/>
            <a:ext cx="1234440" cy="502920"/>
          </a:xfrm>
          <a:prstGeom prst="rect">
            <a:avLst/>
          </a:prstGeom>
          <a:noFill/>
          <a:ln/>
        </p:spPr>
        <p:txBody>
          <a:bodyPr wrap="square" lIns="0" tIns="0" rIns="0" bIns="0" rtlCol="0" anchor="ctr"/>
          <a:lstStyle/>
          <a:p>
            <a:pPr marL="0" indent="0">
              <a:buNone/>
            </a:pPr>
            <a:r>
              <a:rPr lang="en-US" sz="1250" b="1" dirty="0">
                <a:solidFill>
                  <a:srgbClr val="7EE787"/>
                </a:solidFill>
                <a:latin typeface="Consolas" pitchFamily="34" charset="0"/>
                <a:ea typeface="Consolas" pitchFamily="34" charset="-122"/>
                <a:cs typeface="Consolas" pitchFamily="34" charset="-120"/>
              </a:rPr>
              <a:t>/generate</a:t>
            </a:r>
            <a:endParaRPr lang="en-US" sz="1250" dirty="0"/>
          </a:p>
        </p:txBody>
      </p:sp>
      <p:sp>
        <p:nvSpPr>
          <p:cNvPr id="17" name="Text 15"/>
          <p:cNvSpPr/>
          <p:nvPr/>
        </p:nvSpPr>
        <p:spPr>
          <a:xfrm>
            <a:off x="6245352" y="2459736"/>
            <a:ext cx="2185416" cy="502920"/>
          </a:xfrm>
          <a:prstGeom prst="rect">
            <a:avLst/>
          </a:prstGeom>
          <a:noFill/>
          <a:ln/>
        </p:spPr>
        <p:txBody>
          <a:bodyPr wrap="square" lIns="0" tIns="0" rIns="0" bIns="0"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Genera código para una solicitud</a:t>
            </a:r>
            <a:endParaRPr lang="en-US" sz="1100" dirty="0"/>
          </a:p>
        </p:txBody>
      </p:sp>
      <p:sp>
        <p:nvSpPr>
          <p:cNvPr id="18" name="Fila de comando">
            <a:extLst>
              <a:ext uri="{C183D7F6-B498-43B3-948B-1728B52AA6E4}">
                <adec:decorative xmlns:adec="http://schemas.microsoft.com/office/drawing/2017/decorative" val="1"/>
              </a:ext>
            </a:extLst>
          </p:cNvPr>
          <p:cNvSpPr/>
          <p:nvPr/>
        </p:nvSpPr>
        <p:spPr>
          <a:xfrm>
            <a:off x="713232" y="3090672"/>
            <a:ext cx="3794760" cy="502920"/>
          </a:xfrm>
          <a:prstGeom prst="rect">
            <a:avLst/>
          </a:prstGeom>
          <a:solidFill>
            <a:srgbClr val="161B22"/>
          </a:solidFill>
          <a:ln w="12700">
            <a:solidFill>
              <a:srgbClr val="30363D"/>
            </a:solidFill>
            <a:prstDash val="solid"/>
          </a:ln>
        </p:spPr>
      </p:sp>
      <p:sp>
        <p:nvSpPr>
          <p:cNvPr id="19" name="Text 17"/>
          <p:cNvSpPr/>
          <p:nvPr/>
        </p:nvSpPr>
        <p:spPr>
          <a:xfrm>
            <a:off x="877824" y="3090672"/>
            <a:ext cx="1234440" cy="502920"/>
          </a:xfrm>
          <a:prstGeom prst="rect">
            <a:avLst/>
          </a:prstGeom>
          <a:noFill/>
          <a:ln/>
        </p:spPr>
        <p:txBody>
          <a:bodyPr wrap="square" lIns="0" tIns="0" rIns="0" bIns="0" rtlCol="0" anchor="ctr"/>
          <a:lstStyle/>
          <a:p>
            <a:pPr marL="0" indent="0">
              <a:buNone/>
            </a:pPr>
            <a:r>
              <a:rPr lang="en-US" sz="1250" b="1" dirty="0">
                <a:solidFill>
                  <a:srgbClr val="7EE787"/>
                </a:solidFill>
                <a:latin typeface="Consolas" pitchFamily="34" charset="0"/>
                <a:ea typeface="Consolas" pitchFamily="34" charset="-122"/>
                <a:cs typeface="Consolas" pitchFamily="34" charset="-120"/>
              </a:rPr>
              <a:t>/help</a:t>
            </a:r>
            <a:endParaRPr lang="en-US" sz="1250" dirty="0"/>
          </a:p>
        </p:txBody>
      </p:sp>
      <p:sp>
        <p:nvSpPr>
          <p:cNvPr id="20" name="Text 18"/>
          <p:cNvSpPr/>
          <p:nvPr/>
        </p:nvSpPr>
        <p:spPr>
          <a:xfrm>
            <a:off x="2157984" y="3090672"/>
            <a:ext cx="2185416" cy="502920"/>
          </a:xfrm>
          <a:prstGeom prst="rect">
            <a:avLst/>
          </a:prstGeom>
          <a:noFill/>
          <a:ln/>
        </p:spPr>
        <p:txBody>
          <a:bodyPr wrap="square" lIns="0" tIns="0" rIns="0" bIns="0"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Ayuda sobre el uso del chat</a:t>
            </a:r>
            <a:endParaRPr lang="en-US" sz="1100" dirty="0"/>
          </a:p>
        </p:txBody>
      </p:sp>
      <p:sp>
        <p:nvSpPr>
          <p:cNvPr id="21" name="Fila de comando">
            <a:extLst>
              <a:ext uri="{C183D7F6-B498-43B3-948B-1728B52AA6E4}">
                <adec:decorative xmlns:adec="http://schemas.microsoft.com/office/drawing/2017/decorative" val="1"/>
              </a:ext>
            </a:extLst>
          </p:cNvPr>
          <p:cNvSpPr/>
          <p:nvPr/>
        </p:nvSpPr>
        <p:spPr>
          <a:xfrm>
            <a:off x="4800600" y="3090672"/>
            <a:ext cx="3794760" cy="502920"/>
          </a:xfrm>
          <a:prstGeom prst="rect">
            <a:avLst/>
          </a:prstGeom>
          <a:solidFill>
            <a:srgbClr val="161B22"/>
          </a:solidFill>
          <a:ln w="12700">
            <a:solidFill>
              <a:srgbClr val="30363D"/>
            </a:solidFill>
            <a:prstDash val="solid"/>
          </a:ln>
        </p:spPr>
      </p:sp>
      <p:sp>
        <p:nvSpPr>
          <p:cNvPr id="22" name="Text 20"/>
          <p:cNvSpPr/>
          <p:nvPr/>
        </p:nvSpPr>
        <p:spPr>
          <a:xfrm>
            <a:off x="4965192" y="3090672"/>
            <a:ext cx="1234440" cy="502920"/>
          </a:xfrm>
          <a:prstGeom prst="rect">
            <a:avLst/>
          </a:prstGeom>
          <a:noFill/>
          <a:ln/>
        </p:spPr>
        <p:txBody>
          <a:bodyPr wrap="square" lIns="0" tIns="0" rIns="0" bIns="0" rtlCol="0" anchor="ctr"/>
          <a:lstStyle/>
          <a:p>
            <a:pPr marL="0" indent="0">
              <a:buNone/>
            </a:pPr>
            <a:r>
              <a:rPr lang="en-US" sz="1250" b="1" dirty="0">
                <a:solidFill>
                  <a:srgbClr val="7EE787"/>
                </a:solidFill>
                <a:latin typeface="Consolas" pitchFamily="34" charset="0"/>
                <a:ea typeface="Consolas" pitchFamily="34" charset="-122"/>
                <a:cs typeface="Consolas" pitchFamily="34" charset="-120"/>
              </a:rPr>
              <a:t>/optimize</a:t>
            </a:r>
            <a:endParaRPr lang="en-US" sz="1250" dirty="0"/>
          </a:p>
        </p:txBody>
      </p:sp>
      <p:sp>
        <p:nvSpPr>
          <p:cNvPr id="23" name="Text 21"/>
          <p:cNvSpPr/>
          <p:nvPr/>
        </p:nvSpPr>
        <p:spPr>
          <a:xfrm>
            <a:off x="6245352" y="3090672"/>
            <a:ext cx="2185416" cy="502920"/>
          </a:xfrm>
          <a:prstGeom prst="rect">
            <a:avLst/>
          </a:prstGeom>
          <a:noFill/>
          <a:ln/>
        </p:spPr>
        <p:txBody>
          <a:bodyPr wrap="square" lIns="0" tIns="0" rIns="0" bIns="0"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Analiza y mejora el tiempo de ejecución</a:t>
            </a:r>
            <a:endParaRPr lang="en-US" sz="1100" dirty="0"/>
          </a:p>
        </p:txBody>
      </p:sp>
      <p:sp>
        <p:nvSpPr>
          <p:cNvPr id="24" name="Fila de comando">
            <a:extLst>
              <a:ext uri="{C183D7F6-B498-43B3-948B-1728B52AA6E4}">
                <adec:decorative xmlns:adec="http://schemas.microsoft.com/office/drawing/2017/decorative" val="1"/>
              </a:ext>
            </a:extLst>
          </p:cNvPr>
          <p:cNvSpPr/>
          <p:nvPr/>
        </p:nvSpPr>
        <p:spPr>
          <a:xfrm>
            <a:off x="713232" y="3721608"/>
            <a:ext cx="3794760" cy="502920"/>
          </a:xfrm>
          <a:prstGeom prst="rect">
            <a:avLst/>
          </a:prstGeom>
          <a:solidFill>
            <a:srgbClr val="161B22"/>
          </a:solidFill>
          <a:ln w="12700">
            <a:solidFill>
              <a:srgbClr val="30363D"/>
            </a:solidFill>
            <a:prstDash val="solid"/>
          </a:ln>
        </p:spPr>
      </p:sp>
      <p:sp>
        <p:nvSpPr>
          <p:cNvPr id="25" name="Text 23"/>
          <p:cNvSpPr/>
          <p:nvPr/>
        </p:nvSpPr>
        <p:spPr>
          <a:xfrm>
            <a:off x="877824" y="3721608"/>
            <a:ext cx="1234440" cy="502920"/>
          </a:xfrm>
          <a:prstGeom prst="rect">
            <a:avLst/>
          </a:prstGeom>
          <a:noFill/>
          <a:ln/>
        </p:spPr>
        <p:txBody>
          <a:bodyPr wrap="square" lIns="0" tIns="0" rIns="0" bIns="0" rtlCol="0" anchor="ctr"/>
          <a:lstStyle/>
          <a:p>
            <a:pPr marL="0" indent="0">
              <a:buNone/>
            </a:pPr>
            <a:r>
              <a:rPr lang="en-US" sz="1250" b="1" dirty="0">
                <a:solidFill>
                  <a:srgbClr val="7EE787"/>
                </a:solidFill>
                <a:latin typeface="Consolas" pitchFamily="34" charset="0"/>
                <a:ea typeface="Consolas" pitchFamily="34" charset="-122"/>
                <a:cs typeface="Consolas" pitchFamily="34" charset="-120"/>
              </a:rPr>
              <a:t>/tests</a:t>
            </a:r>
            <a:endParaRPr lang="en-US" sz="1250" dirty="0"/>
          </a:p>
        </p:txBody>
      </p:sp>
      <p:sp>
        <p:nvSpPr>
          <p:cNvPr id="26" name="Text 24"/>
          <p:cNvSpPr/>
          <p:nvPr/>
        </p:nvSpPr>
        <p:spPr>
          <a:xfrm>
            <a:off x="2157984" y="3721608"/>
            <a:ext cx="2185416" cy="502920"/>
          </a:xfrm>
          <a:prstGeom prst="rect">
            <a:avLst/>
          </a:prstGeom>
          <a:noFill/>
          <a:ln/>
        </p:spPr>
        <p:txBody>
          <a:bodyPr wrap="square" lIns="0" tIns="0" rIns="0" bIns="0"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Crea pruebas unitarias</a:t>
            </a:r>
            <a:endParaRPr lang="en-US" sz="1100" dirty="0"/>
          </a:p>
        </p:txBody>
      </p:sp>
      <p:sp>
        <p:nvSpPr>
          <p:cNvPr id="27" name="Fila de comando">
            <a:extLst>
              <a:ext uri="{C183D7F6-B498-43B3-948B-1728B52AA6E4}">
                <adec:decorative xmlns:adec="http://schemas.microsoft.com/office/drawing/2017/decorative" val="1"/>
              </a:ext>
            </a:extLst>
          </p:cNvPr>
          <p:cNvSpPr/>
          <p:nvPr/>
        </p:nvSpPr>
        <p:spPr>
          <a:xfrm>
            <a:off x="4800600" y="3721608"/>
            <a:ext cx="3794760" cy="502920"/>
          </a:xfrm>
          <a:prstGeom prst="rect">
            <a:avLst/>
          </a:prstGeom>
          <a:solidFill>
            <a:srgbClr val="161B22"/>
          </a:solidFill>
          <a:ln w="12700">
            <a:solidFill>
              <a:srgbClr val="30363D"/>
            </a:solidFill>
            <a:prstDash val="solid"/>
          </a:ln>
        </p:spPr>
      </p:sp>
      <p:sp>
        <p:nvSpPr>
          <p:cNvPr id="28" name="Text 26"/>
          <p:cNvSpPr/>
          <p:nvPr/>
        </p:nvSpPr>
        <p:spPr>
          <a:xfrm>
            <a:off x="4965192" y="3721608"/>
            <a:ext cx="1234440" cy="502920"/>
          </a:xfrm>
          <a:prstGeom prst="rect">
            <a:avLst/>
          </a:prstGeom>
          <a:noFill/>
          <a:ln/>
        </p:spPr>
        <p:txBody>
          <a:bodyPr wrap="square" lIns="0" tIns="0" rIns="0" bIns="0" rtlCol="0" anchor="ctr"/>
          <a:lstStyle/>
          <a:p>
            <a:pPr marL="0" indent="0">
              <a:buNone/>
            </a:pPr>
            <a:r>
              <a:rPr lang="en-US" sz="1250" b="1" dirty="0">
                <a:solidFill>
                  <a:srgbClr val="58A6FF"/>
                </a:solidFill>
                <a:latin typeface="Consolas" pitchFamily="34" charset="0"/>
                <a:ea typeface="Consolas" pitchFamily="34" charset="-122"/>
                <a:cs typeface="Consolas" pitchFamily="34" charset="-120"/>
              </a:rPr>
              <a:t>@terminal</a:t>
            </a:r>
            <a:endParaRPr lang="en-US" sz="1250" dirty="0"/>
          </a:p>
        </p:txBody>
      </p:sp>
      <p:sp>
        <p:nvSpPr>
          <p:cNvPr id="29" name="Text 27"/>
          <p:cNvSpPr/>
          <p:nvPr/>
        </p:nvSpPr>
        <p:spPr>
          <a:xfrm>
            <a:off x="6245352" y="3721608"/>
            <a:ext cx="2185416" cy="502920"/>
          </a:xfrm>
          <a:prstGeom prst="rect">
            <a:avLst/>
          </a:prstGeom>
          <a:noFill/>
          <a:ln/>
        </p:spPr>
        <p:txBody>
          <a:bodyPr wrap="square" lIns="0" tIns="0" rIns="0" bIns="0"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Agente: contexto del terminal</a:t>
            </a:r>
            <a:endParaRPr lang="en-US" sz="1100" dirty="0"/>
          </a:p>
        </p:txBody>
      </p:sp>
      <p:sp>
        <p:nvSpPr>
          <p:cNvPr id="30" name="Text 28"/>
          <p:cNvSpPr/>
          <p:nvPr/>
        </p:nvSpPr>
        <p:spPr>
          <a:xfrm>
            <a:off x="713232" y="4315968"/>
            <a:ext cx="7744968" cy="329184"/>
          </a:xfrm>
          <a:prstGeom prst="rect">
            <a:avLst/>
          </a:prstGeom>
          <a:noFill/>
          <a:ln/>
        </p:spPr>
        <p:txBody>
          <a:bodyPr wrap="square" lIns="0" tIns="0" rIns="0" bIns="0" rtlCol="0" anchor="ctr"/>
          <a:lstStyle/>
          <a:p>
            <a:pPr marL="0" indent="0">
              <a:buNone/>
            </a:pPr>
            <a:r>
              <a:rPr lang="en-US" sz="1050" i="1" dirty="0">
                <a:solidFill>
                  <a:srgbClr val="8B949E"/>
                </a:solidFill>
                <a:latin typeface="Segoe UI" pitchFamily="34" charset="0"/>
                <a:ea typeface="Segoe UI" pitchFamily="34" charset="-122"/>
                <a:cs typeface="Segoe UI" pitchFamily="34" charset="-120"/>
              </a:rPr>
              <a:t>Los agentes de Visual Studio Code permiten interactuar con Copilot usando un contexto específico, como la salida del terminal con @terminal.</a:t>
            </a:r>
            <a:endParaRPr lang="en-US" sz="1050" dirty="0"/>
          </a:p>
        </p:txBody>
      </p:sp>
      <p:sp>
        <p:nvSpPr>
          <p:cNvPr id="31" name="Línea de pie">
            <a:extLst>
              <a:ext uri="{C183D7F6-B498-43B3-948B-1728B52AA6E4}">
                <adec:decorative xmlns:adec="http://schemas.microsoft.com/office/drawing/2017/decorative" val="1"/>
              </a:ext>
            </a:extLst>
          </p:cNvPr>
          <p:cNvSpPr/>
          <p:nvPr/>
        </p:nvSpPr>
        <p:spPr>
          <a:xfrm>
            <a:off x="0" y="4956048"/>
            <a:ext cx="9144000" cy="13716"/>
          </a:xfrm>
          <a:prstGeom prst="rect">
            <a:avLst/>
          </a:prstGeom>
          <a:solidFill>
            <a:srgbClr val="30363D"/>
          </a:solidFill>
          <a:ln/>
        </p:spPr>
      </p:sp>
      <p:sp>
        <p:nvSpPr>
          <p:cNvPr id="32" name="Text 30"/>
          <p:cNvSpPr/>
          <p:nvPr/>
        </p:nvSpPr>
        <p:spPr>
          <a:xfrm>
            <a:off x="502920" y="4718304"/>
            <a:ext cx="5486400" cy="219456"/>
          </a:xfrm>
          <a:prstGeom prst="rect">
            <a:avLst/>
          </a:prstGeom>
          <a:noFill/>
          <a:ln/>
        </p:spPr>
        <p:txBody>
          <a:bodyPr wrap="square" lIns="0" tIns="0" rIns="0" bIns="0"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GitHub Copilot — Características avanzadas</a:t>
            </a:r>
            <a:endParaRPr lang="en-US" sz="900" dirty="0"/>
          </a:p>
        </p:txBody>
      </p:sp>
      <p:sp>
        <p:nvSpPr>
          <p:cNvPr id="33" name="Text 31"/>
          <p:cNvSpPr/>
          <p:nvPr/>
        </p:nvSpPr>
        <p:spPr>
          <a:xfrm>
            <a:off x="7863840" y="4718304"/>
            <a:ext cx="777240" cy="219456"/>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Barra de acento">
            <a:extLst>
              <a:ext uri="{C183D7F6-B498-43B3-948B-1728B52AA6E4}">
                <adec:decorative xmlns:adec="http://schemas.microsoft.com/office/drawing/2017/decorative" val="1"/>
              </a:ext>
            </a:extLst>
          </p:cNvPr>
          <p:cNvSpPr/>
          <p:nvPr/>
        </p:nvSpPr>
        <p:spPr>
          <a:xfrm>
            <a:off x="502920" y="384048"/>
            <a:ext cx="54864" cy="566928"/>
          </a:xfrm>
          <a:prstGeom prst="rect">
            <a:avLst/>
          </a:prstGeom>
          <a:solidFill>
            <a:srgbClr val="7EE787"/>
          </a:solidFill>
          <a:ln/>
        </p:spPr>
      </p:sp>
      <p:sp>
        <p:nvSpPr>
          <p:cNvPr id="3" name="Text 1"/>
          <p:cNvSpPr/>
          <p:nvPr/>
        </p:nvSpPr>
        <p:spPr>
          <a:xfrm>
            <a:off x="713232" y="365760"/>
            <a:ext cx="7955280" cy="219456"/>
          </a:xfrm>
          <a:prstGeom prst="rect">
            <a:avLst/>
          </a:prstGeom>
          <a:noFill/>
          <a:ln/>
        </p:spPr>
        <p:txBody>
          <a:bodyPr wrap="square" lIns="0" tIns="0" rIns="0" bIns="0" rtlCol="0" anchor="ctr"/>
          <a:lstStyle/>
          <a:p>
            <a:pPr marL="0" indent="0">
              <a:buNone/>
            </a:pPr>
            <a:r>
              <a:rPr lang="en-US" sz="1000" kern="0" spc="200" dirty="0">
                <a:solidFill>
                  <a:srgbClr val="7EE787"/>
                </a:solidFill>
                <a:latin typeface="Consolas" pitchFamily="34" charset="0"/>
                <a:ea typeface="Consolas" pitchFamily="34" charset="-122"/>
                <a:cs typeface="Consolas" pitchFamily="34" charset="-120"/>
              </a:rPr>
              <a:t>EJERCICIO 1</a:t>
            </a:r>
            <a:endParaRPr lang="en-US" sz="1000" dirty="0"/>
          </a:p>
        </p:txBody>
      </p:sp>
      <p:sp>
        <p:nvSpPr>
          <p:cNvPr id="4" name="Text 2"/>
          <p:cNvSpPr/>
          <p:nvPr/>
        </p:nvSpPr>
        <p:spPr>
          <a:xfrm>
            <a:off x="713232" y="566928"/>
            <a:ext cx="7955280" cy="411480"/>
          </a:xfrm>
          <a:prstGeom prst="rect">
            <a:avLst/>
          </a:prstGeom>
          <a:noFill/>
          <a:ln/>
        </p:spPr>
        <p:txBody>
          <a:bodyPr wrap="square" lIns="0" tIns="0" rIns="0" bIns="0" rtlCol="0" anchor="ctr"/>
          <a:lstStyle/>
          <a:p>
            <a:pPr marL="0" indent="0">
              <a:buNone/>
            </a:pPr>
            <a:r>
              <a:rPr lang="en-US" sz="2600" b="1" dirty="0">
                <a:solidFill>
                  <a:srgbClr val="E6EDF3"/>
                </a:solidFill>
                <a:latin typeface="Segoe UI" pitchFamily="34" charset="0"/>
                <a:ea typeface="Segoe UI" pitchFamily="34" charset="-122"/>
                <a:cs typeface="Segoe UI" pitchFamily="34" charset="-120"/>
              </a:rPr>
              <a:t>Configuración de Copilot en Visual Studio Code</a:t>
            </a:r>
            <a:endParaRPr lang="en-US" sz="2600" dirty="0"/>
          </a:p>
        </p:txBody>
      </p:sp>
      <p:sp>
        <p:nvSpPr>
          <p:cNvPr id="5" name="Text 3"/>
          <p:cNvSpPr/>
          <p:nvPr/>
        </p:nvSpPr>
        <p:spPr>
          <a:xfrm>
            <a:off x="713232" y="1188720"/>
            <a:ext cx="5029200" cy="548640"/>
          </a:xfrm>
          <a:prstGeom prst="rect">
            <a:avLst/>
          </a:prstGeom>
          <a:noFill/>
          <a:ln/>
        </p:spPr>
        <p:txBody>
          <a:bodyPr wrap="square" lIns="0" tIns="0" rIns="0" bIns="0" rtlCol="0" anchor="ctr"/>
          <a:lstStyle/>
          <a:p>
            <a:pPr marL="0" indent="0">
              <a:lnSpc>
                <a:spcPct val="120000"/>
              </a:lnSpc>
              <a:buNone/>
            </a:pPr>
            <a:r>
              <a:rPr lang="en-US" sz="1250" dirty="0">
                <a:solidFill>
                  <a:srgbClr val="8B949E"/>
                </a:solidFill>
                <a:latin typeface="Segoe UI" pitchFamily="34" charset="0"/>
                <a:ea typeface="Segoe UI" pitchFamily="34" charset="-122"/>
                <a:cs typeface="Segoe UI" pitchFamily="34" charset="-120"/>
              </a:rPr>
              <a:t>Se crea un repositorio a partir de una plantilla de GitHub para una API web desarrollada con Python, usando un Codespace preconfigurado con la extensión de Copilot.</a:t>
            </a:r>
            <a:endParaRPr lang="en-US" sz="1250" dirty="0"/>
          </a:p>
        </p:txBody>
      </p:sp>
      <p:sp>
        <p:nvSpPr>
          <p:cNvPr id="6" name="Marcador de paso">
            <a:extLst>
              <a:ext uri="{C183D7F6-B498-43B3-948B-1728B52AA6E4}">
                <adec:decorative xmlns:adec="http://schemas.microsoft.com/office/drawing/2017/decorative" val="1"/>
              </a:ext>
            </a:extLst>
          </p:cNvPr>
          <p:cNvSpPr/>
          <p:nvPr/>
        </p:nvSpPr>
        <p:spPr>
          <a:xfrm>
            <a:off x="713232" y="1901952"/>
            <a:ext cx="384048" cy="384048"/>
          </a:xfrm>
          <a:prstGeom prst="ellipse">
            <a:avLst/>
          </a:prstGeom>
          <a:solidFill>
            <a:srgbClr val="1C2430"/>
          </a:solidFill>
          <a:ln/>
        </p:spPr>
      </p:sp>
      <p:sp>
        <p:nvSpPr>
          <p:cNvPr id="7" name="Text 5"/>
          <p:cNvSpPr/>
          <p:nvPr/>
        </p:nvSpPr>
        <p:spPr>
          <a:xfrm>
            <a:off x="713232" y="1901952"/>
            <a:ext cx="384048" cy="384048"/>
          </a:xfrm>
          <a:prstGeom prst="rect">
            <a:avLst/>
          </a:prstGeom>
          <a:noFill/>
          <a:ln/>
        </p:spPr>
        <p:txBody>
          <a:bodyPr wrap="square" lIns="0" tIns="0" rIns="0" bIns="0" rtlCol="0" anchor="ctr"/>
          <a:lstStyle/>
          <a:p>
            <a:pPr marL="0" indent="0" algn="ctr">
              <a:buNone/>
            </a:pPr>
            <a:r>
              <a:rPr lang="en-US" sz="1200" b="1" dirty="0">
                <a:solidFill>
                  <a:srgbClr val="7EE787"/>
                </a:solidFill>
                <a:latin typeface="Consolas" pitchFamily="34" charset="0"/>
                <a:ea typeface="Consolas" pitchFamily="34" charset="-122"/>
                <a:cs typeface="Consolas" pitchFamily="34" charset="-120"/>
              </a:rPr>
              <a:t>1</a:t>
            </a:r>
            <a:endParaRPr lang="en-US" sz="1200" dirty="0"/>
          </a:p>
        </p:txBody>
      </p:sp>
      <p:sp>
        <p:nvSpPr>
          <p:cNvPr id="8" name="Text 6"/>
          <p:cNvSpPr/>
          <p:nvPr/>
        </p:nvSpPr>
        <p:spPr>
          <a:xfrm>
            <a:off x="1234440" y="1847088"/>
            <a:ext cx="4526280" cy="502920"/>
          </a:xfrm>
          <a:prstGeom prst="rect">
            <a:avLst/>
          </a:prstGeom>
          <a:noFill/>
          <a:ln/>
        </p:spPr>
        <p:txBody>
          <a:bodyPr wrap="square" lIns="0" tIns="0" rIns="0" bIns="0" rtlCol="0" anchor="ctr"/>
          <a:lstStyle/>
          <a:p>
            <a:pPr marL="0" indent="0">
              <a:lnSpc>
                <a:spcPct val="115000"/>
              </a:lnSpc>
              <a:buNone/>
            </a:pPr>
            <a:r>
              <a:rPr lang="en-US" sz="1200" dirty="0">
                <a:solidFill>
                  <a:srgbClr val="E6EDF3"/>
                </a:solidFill>
                <a:latin typeface="Segoe UI" pitchFamily="34" charset="0"/>
                <a:ea typeface="Segoe UI" pitchFamily="34" charset="-122"/>
                <a:cs typeface="Segoe UI" pitchFamily="34" charset="-120"/>
              </a:rPr>
              <a:t>Abrir el Codespace con el entorno preconfigurado.</a:t>
            </a:r>
            <a:endParaRPr lang="en-US" sz="1200" dirty="0"/>
          </a:p>
        </p:txBody>
      </p:sp>
      <p:sp>
        <p:nvSpPr>
          <p:cNvPr id="9" name="Marcador de paso">
            <a:extLst>
              <a:ext uri="{C183D7F6-B498-43B3-948B-1728B52AA6E4}">
                <adec:decorative xmlns:adec="http://schemas.microsoft.com/office/drawing/2017/decorative" val="1"/>
              </a:ext>
            </a:extLst>
          </p:cNvPr>
          <p:cNvSpPr/>
          <p:nvPr/>
        </p:nvSpPr>
        <p:spPr>
          <a:xfrm>
            <a:off x="713232" y="2560320"/>
            <a:ext cx="384048" cy="384048"/>
          </a:xfrm>
          <a:prstGeom prst="ellipse">
            <a:avLst/>
          </a:prstGeom>
          <a:solidFill>
            <a:srgbClr val="1C2430"/>
          </a:solidFill>
          <a:ln/>
        </p:spPr>
      </p:sp>
      <p:sp>
        <p:nvSpPr>
          <p:cNvPr id="10" name="Text 8"/>
          <p:cNvSpPr/>
          <p:nvPr/>
        </p:nvSpPr>
        <p:spPr>
          <a:xfrm>
            <a:off x="713232" y="2560320"/>
            <a:ext cx="384048" cy="384048"/>
          </a:xfrm>
          <a:prstGeom prst="rect">
            <a:avLst/>
          </a:prstGeom>
          <a:noFill/>
          <a:ln/>
        </p:spPr>
        <p:txBody>
          <a:bodyPr wrap="square" lIns="0" tIns="0" rIns="0" bIns="0" rtlCol="0" anchor="ctr"/>
          <a:lstStyle/>
          <a:p>
            <a:pPr marL="0" indent="0" algn="ctr">
              <a:buNone/>
            </a:pPr>
            <a:r>
              <a:rPr lang="en-US" sz="1200" b="1" dirty="0">
                <a:solidFill>
                  <a:srgbClr val="7EE787"/>
                </a:solidFill>
                <a:latin typeface="Consolas" pitchFamily="34" charset="0"/>
                <a:ea typeface="Consolas" pitchFamily="34" charset="-122"/>
                <a:cs typeface="Consolas" pitchFamily="34" charset="-120"/>
              </a:rPr>
              <a:t>2</a:t>
            </a:r>
            <a:endParaRPr lang="en-US" sz="1200" dirty="0"/>
          </a:p>
        </p:txBody>
      </p:sp>
      <p:sp>
        <p:nvSpPr>
          <p:cNvPr id="11" name="Text 9"/>
          <p:cNvSpPr/>
          <p:nvPr/>
        </p:nvSpPr>
        <p:spPr>
          <a:xfrm>
            <a:off x="1234440" y="2505456"/>
            <a:ext cx="4526280" cy="502920"/>
          </a:xfrm>
          <a:prstGeom prst="rect">
            <a:avLst/>
          </a:prstGeom>
          <a:noFill/>
          <a:ln/>
        </p:spPr>
        <p:txBody>
          <a:bodyPr wrap="square" lIns="0" tIns="0" rIns="0" bIns="0" rtlCol="0" anchor="ctr"/>
          <a:lstStyle/>
          <a:p>
            <a:pPr marL="0" indent="0">
              <a:lnSpc>
                <a:spcPct val="115000"/>
              </a:lnSpc>
              <a:buNone/>
            </a:pPr>
            <a:r>
              <a:rPr lang="en-US" sz="1200" dirty="0">
                <a:solidFill>
                  <a:srgbClr val="E6EDF3"/>
                </a:solidFill>
                <a:latin typeface="Segoe UI" pitchFamily="34" charset="0"/>
                <a:ea typeface="Segoe UI" pitchFamily="34" charset="-122"/>
                <a:cs typeface="Segoe UI" pitchFamily="34" charset="-120"/>
              </a:rPr>
              <a:t>En Crear codespace, revisar las opciones y seleccionar Crear nuevo codespace.</a:t>
            </a:r>
            <a:endParaRPr lang="en-US" sz="1200" dirty="0"/>
          </a:p>
        </p:txBody>
      </p:sp>
      <p:sp>
        <p:nvSpPr>
          <p:cNvPr id="12" name="Marcador de paso">
            <a:extLst>
              <a:ext uri="{C183D7F6-B498-43B3-948B-1728B52AA6E4}">
                <adec:decorative xmlns:adec="http://schemas.microsoft.com/office/drawing/2017/decorative" val="1"/>
              </a:ext>
            </a:extLst>
          </p:cNvPr>
          <p:cNvSpPr/>
          <p:nvPr/>
        </p:nvSpPr>
        <p:spPr>
          <a:xfrm>
            <a:off x="713232" y="3218688"/>
            <a:ext cx="384048" cy="384048"/>
          </a:xfrm>
          <a:prstGeom prst="ellipse">
            <a:avLst/>
          </a:prstGeom>
          <a:solidFill>
            <a:srgbClr val="1C2430"/>
          </a:solidFill>
          <a:ln/>
        </p:spPr>
      </p:sp>
      <p:sp>
        <p:nvSpPr>
          <p:cNvPr id="13" name="Text 11"/>
          <p:cNvSpPr/>
          <p:nvPr/>
        </p:nvSpPr>
        <p:spPr>
          <a:xfrm>
            <a:off x="713232" y="3218688"/>
            <a:ext cx="384048" cy="384048"/>
          </a:xfrm>
          <a:prstGeom prst="rect">
            <a:avLst/>
          </a:prstGeom>
          <a:noFill/>
          <a:ln/>
        </p:spPr>
        <p:txBody>
          <a:bodyPr wrap="square" lIns="0" tIns="0" rIns="0" bIns="0" rtlCol="0" anchor="ctr"/>
          <a:lstStyle/>
          <a:p>
            <a:pPr marL="0" indent="0" algn="ctr">
              <a:buNone/>
            </a:pPr>
            <a:r>
              <a:rPr lang="en-US" sz="1200" b="1" dirty="0">
                <a:solidFill>
                  <a:srgbClr val="7EE787"/>
                </a:solidFill>
                <a:latin typeface="Consolas" pitchFamily="34" charset="0"/>
                <a:ea typeface="Consolas" pitchFamily="34" charset="-122"/>
                <a:cs typeface="Consolas" pitchFamily="34" charset="-120"/>
              </a:rPr>
              <a:t>3</a:t>
            </a:r>
            <a:endParaRPr lang="en-US" sz="1200" dirty="0"/>
          </a:p>
        </p:txBody>
      </p:sp>
      <p:sp>
        <p:nvSpPr>
          <p:cNvPr id="14" name="Text 12"/>
          <p:cNvSpPr/>
          <p:nvPr/>
        </p:nvSpPr>
        <p:spPr>
          <a:xfrm>
            <a:off x="1234440" y="3163824"/>
            <a:ext cx="4526280" cy="502920"/>
          </a:xfrm>
          <a:prstGeom prst="rect">
            <a:avLst/>
          </a:prstGeom>
          <a:noFill/>
          <a:ln/>
        </p:spPr>
        <p:txBody>
          <a:bodyPr wrap="square" lIns="0" tIns="0" rIns="0" bIns="0" rtlCol="0" anchor="ctr"/>
          <a:lstStyle/>
          <a:p>
            <a:pPr marL="0" indent="0">
              <a:lnSpc>
                <a:spcPct val="115000"/>
              </a:lnSpc>
              <a:buNone/>
            </a:pPr>
            <a:r>
              <a:rPr lang="en-US" sz="1200" dirty="0">
                <a:solidFill>
                  <a:srgbClr val="E6EDF3"/>
                </a:solidFill>
                <a:latin typeface="Segoe UI" pitchFamily="34" charset="0"/>
                <a:ea typeface="Segoe UI" pitchFamily="34" charset="-122"/>
                <a:cs typeface="Segoe UI" pitchFamily="34" charset="-120"/>
              </a:rPr>
              <a:t>Esperar a que se inicie; el proceso puede tardar unos minutos.</a:t>
            </a:r>
            <a:endParaRPr lang="en-US" sz="1200" dirty="0"/>
          </a:p>
        </p:txBody>
      </p:sp>
      <p:sp>
        <p:nvSpPr>
          <p:cNvPr id="15" name="Marcador de paso">
            <a:extLst>
              <a:ext uri="{C183D7F6-B498-43B3-948B-1728B52AA6E4}">
                <adec:decorative xmlns:adec="http://schemas.microsoft.com/office/drawing/2017/decorative" val="1"/>
              </a:ext>
            </a:extLst>
          </p:cNvPr>
          <p:cNvSpPr/>
          <p:nvPr/>
        </p:nvSpPr>
        <p:spPr>
          <a:xfrm>
            <a:off x="713232" y="3877056"/>
            <a:ext cx="384048" cy="384048"/>
          </a:xfrm>
          <a:prstGeom prst="ellipse">
            <a:avLst/>
          </a:prstGeom>
          <a:solidFill>
            <a:srgbClr val="1C2430"/>
          </a:solidFill>
          <a:ln/>
        </p:spPr>
      </p:sp>
      <p:sp>
        <p:nvSpPr>
          <p:cNvPr id="16" name="Text 14"/>
          <p:cNvSpPr/>
          <p:nvPr/>
        </p:nvSpPr>
        <p:spPr>
          <a:xfrm>
            <a:off x="713232" y="3877056"/>
            <a:ext cx="384048" cy="384048"/>
          </a:xfrm>
          <a:prstGeom prst="rect">
            <a:avLst/>
          </a:prstGeom>
          <a:noFill/>
          <a:ln/>
        </p:spPr>
        <p:txBody>
          <a:bodyPr wrap="square" lIns="0" tIns="0" rIns="0" bIns="0" rtlCol="0" anchor="ctr"/>
          <a:lstStyle/>
          <a:p>
            <a:pPr marL="0" indent="0" algn="ctr">
              <a:buNone/>
            </a:pPr>
            <a:r>
              <a:rPr lang="en-US" sz="1200" b="1" dirty="0">
                <a:solidFill>
                  <a:srgbClr val="7EE787"/>
                </a:solidFill>
                <a:latin typeface="Consolas" pitchFamily="34" charset="0"/>
                <a:ea typeface="Consolas" pitchFamily="34" charset="-122"/>
                <a:cs typeface="Consolas" pitchFamily="34" charset="-120"/>
              </a:rPr>
              <a:t>4</a:t>
            </a:r>
            <a:endParaRPr lang="en-US" sz="1200" dirty="0"/>
          </a:p>
        </p:txBody>
      </p:sp>
      <p:sp>
        <p:nvSpPr>
          <p:cNvPr id="17" name="Text 15"/>
          <p:cNvSpPr/>
          <p:nvPr/>
        </p:nvSpPr>
        <p:spPr>
          <a:xfrm>
            <a:off x="1234440" y="3822192"/>
            <a:ext cx="4526280" cy="502920"/>
          </a:xfrm>
          <a:prstGeom prst="rect">
            <a:avLst/>
          </a:prstGeom>
          <a:noFill/>
          <a:ln/>
        </p:spPr>
        <p:txBody>
          <a:bodyPr wrap="square" lIns="0" tIns="0" rIns="0" bIns="0" rtlCol="0" anchor="ctr"/>
          <a:lstStyle/>
          <a:p>
            <a:pPr marL="0" indent="0">
              <a:lnSpc>
                <a:spcPct val="115000"/>
              </a:lnSpc>
              <a:buNone/>
            </a:pPr>
            <a:r>
              <a:rPr lang="en-US" sz="1200" dirty="0">
                <a:solidFill>
                  <a:srgbClr val="E6EDF3"/>
                </a:solidFill>
                <a:latin typeface="Segoe UI" pitchFamily="34" charset="0"/>
                <a:ea typeface="Segoe UI" pitchFamily="34" charset="-122"/>
                <a:cs typeface="Segoe UI" pitchFamily="34" charset="-120"/>
              </a:rPr>
              <a:t>Realizar los demás ejercicios dentro de este contenedor de desarrollo.</a:t>
            </a:r>
            <a:endParaRPr lang="en-US" sz="1200" dirty="0"/>
          </a:p>
        </p:txBody>
      </p:sp>
      <p:sp>
        <p:nvSpPr>
          <p:cNvPr id="18" name="Tarjeta de contenido">
            <a:extLst>
              <a:ext uri="{C183D7F6-B498-43B3-948B-1728B52AA6E4}">
                <adec:decorative xmlns:adec="http://schemas.microsoft.com/office/drawing/2017/decorative" val="1"/>
              </a:ext>
            </a:extLst>
          </p:cNvPr>
          <p:cNvSpPr/>
          <p:nvPr/>
        </p:nvSpPr>
        <p:spPr>
          <a:xfrm>
            <a:off x="5989320" y="1188720"/>
            <a:ext cx="2468880" cy="1572768"/>
          </a:xfrm>
          <a:prstGeom prst="rect">
            <a:avLst/>
          </a:prstGeom>
          <a:solidFill>
            <a:srgbClr val="161B22"/>
          </a:solidFill>
          <a:ln w="12700">
            <a:solidFill>
              <a:srgbClr val="30363D"/>
            </a:solidFill>
            <a:prstDash val="solid"/>
          </a:ln>
        </p:spPr>
      </p:sp>
      <p:sp>
        <p:nvSpPr>
          <p:cNvPr id="19" name="Acento de tarjeta">
            <a:extLst>
              <a:ext uri="{C183D7F6-B498-43B3-948B-1728B52AA6E4}">
                <adec:decorative xmlns:adec="http://schemas.microsoft.com/office/drawing/2017/decorative" val="1"/>
              </a:ext>
            </a:extLst>
          </p:cNvPr>
          <p:cNvSpPr/>
          <p:nvPr/>
        </p:nvSpPr>
        <p:spPr>
          <a:xfrm>
            <a:off x="5989320" y="1188720"/>
            <a:ext cx="45720" cy="1572768"/>
          </a:xfrm>
          <a:prstGeom prst="rect">
            <a:avLst/>
          </a:prstGeom>
          <a:solidFill>
            <a:srgbClr val="58A6FF"/>
          </a:solidFill>
          <a:ln/>
        </p:spPr>
      </p:sp>
      <p:sp>
        <p:nvSpPr>
          <p:cNvPr id="20" name="Text 18"/>
          <p:cNvSpPr/>
          <p:nvPr/>
        </p:nvSpPr>
        <p:spPr>
          <a:xfrm>
            <a:off x="6208776" y="1335024"/>
            <a:ext cx="206654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Codespaces gratuito</a:t>
            </a:r>
            <a:endParaRPr lang="en-US" sz="1300" dirty="0"/>
          </a:p>
        </p:txBody>
      </p:sp>
      <p:sp>
        <p:nvSpPr>
          <p:cNvPr id="21" name="Text 19"/>
          <p:cNvSpPr/>
          <p:nvPr/>
        </p:nvSpPr>
        <p:spPr>
          <a:xfrm>
            <a:off x="6208776" y="1645920"/>
            <a:ext cx="2066544" cy="969264"/>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Todas las cuentas de GitHub disponen de hasta 60 horas gratuitas al mes con dos instancias principales.</a:t>
            </a:r>
            <a:endParaRPr lang="en-US" sz="1050" dirty="0"/>
          </a:p>
        </p:txBody>
      </p:sp>
      <p:sp>
        <p:nvSpPr>
          <p:cNvPr id="22" name="Tarjeta de contenido">
            <a:extLst>
              <a:ext uri="{C183D7F6-B498-43B3-948B-1728B52AA6E4}">
                <adec:decorative xmlns:adec="http://schemas.microsoft.com/office/drawing/2017/decorative" val="1"/>
              </a:ext>
            </a:extLst>
          </p:cNvPr>
          <p:cNvSpPr/>
          <p:nvPr/>
        </p:nvSpPr>
        <p:spPr>
          <a:xfrm>
            <a:off x="5989320" y="2926080"/>
            <a:ext cx="2468880" cy="1572768"/>
          </a:xfrm>
          <a:prstGeom prst="rect">
            <a:avLst/>
          </a:prstGeom>
          <a:solidFill>
            <a:srgbClr val="161B22"/>
          </a:solidFill>
          <a:ln w="12700">
            <a:solidFill>
              <a:srgbClr val="30363D"/>
            </a:solidFill>
            <a:prstDash val="solid"/>
          </a:ln>
        </p:spPr>
      </p:sp>
      <p:sp>
        <p:nvSpPr>
          <p:cNvPr id="23" name="Acento de tarjeta">
            <a:extLst>
              <a:ext uri="{C183D7F6-B498-43B3-948B-1728B52AA6E4}">
                <adec:decorative xmlns:adec="http://schemas.microsoft.com/office/drawing/2017/decorative" val="1"/>
              </a:ext>
            </a:extLst>
          </p:cNvPr>
          <p:cNvSpPr/>
          <p:nvPr/>
        </p:nvSpPr>
        <p:spPr>
          <a:xfrm>
            <a:off x="5989320" y="2926080"/>
            <a:ext cx="45720" cy="1572768"/>
          </a:xfrm>
          <a:prstGeom prst="rect">
            <a:avLst/>
          </a:prstGeom>
          <a:solidFill>
            <a:srgbClr val="7EE787"/>
          </a:solidFill>
          <a:ln/>
        </p:spPr>
      </p:sp>
      <p:sp>
        <p:nvSpPr>
          <p:cNvPr id="24" name="Text 22"/>
          <p:cNvSpPr/>
          <p:nvPr/>
        </p:nvSpPr>
        <p:spPr>
          <a:xfrm>
            <a:off x="6208776" y="3072384"/>
            <a:ext cx="206654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Registro en Copilot</a:t>
            </a:r>
            <a:endParaRPr lang="en-US" sz="1300" dirty="0"/>
          </a:p>
        </p:txBody>
      </p:sp>
      <p:sp>
        <p:nvSpPr>
          <p:cNvPr id="25" name="Text 23"/>
          <p:cNvSpPr/>
          <p:nvPr/>
        </p:nvSpPr>
        <p:spPr>
          <a:xfrm>
            <a:off x="6208776" y="3383280"/>
            <a:ext cx="2066544" cy="969264"/>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Si aún no se ha hecho, hay que registrarse con una prueba gratuita o una suscripción. Educadores, estudiantes y mantenedores de código abierto pueden hacerlo sin coste.</a:t>
            </a:r>
            <a:endParaRPr lang="en-US" sz="1050" dirty="0"/>
          </a:p>
        </p:txBody>
      </p:sp>
      <p:sp>
        <p:nvSpPr>
          <p:cNvPr id="26" name="Línea de pie">
            <a:extLst>
              <a:ext uri="{C183D7F6-B498-43B3-948B-1728B52AA6E4}">
                <adec:decorative xmlns:adec="http://schemas.microsoft.com/office/drawing/2017/decorative" val="1"/>
              </a:ext>
            </a:extLst>
          </p:cNvPr>
          <p:cNvSpPr/>
          <p:nvPr/>
        </p:nvSpPr>
        <p:spPr>
          <a:xfrm>
            <a:off x="0" y="4956048"/>
            <a:ext cx="9144000" cy="13716"/>
          </a:xfrm>
          <a:prstGeom prst="rect">
            <a:avLst/>
          </a:prstGeom>
          <a:solidFill>
            <a:srgbClr val="30363D"/>
          </a:solidFill>
          <a:ln/>
        </p:spPr>
      </p:sp>
      <p:sp>
        <p:nvSpPr>
          <p:cNvPr id="27" name="Text 25"/>
          <p:cNvSpPr/>
          <p:nvPr/>
        </p:nvSpPr>
        <p:spPr>
          <a:xfrm>
            <a:off x="502920" y="4718304"/>
            <a:ext cx="5486400" cy="219456"/>
          </a:xfrm>
          <a:prstGeom prst="rect">
            <a:avLst/>
          </a:prstGeom>
          <a:noFill/>
          <a:ln/>
        </p:spPr>
        <p:txBody>
          <a:bodyPr wrap="square" lIns="0" tIns="0" rIns="0" bIns="0"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GitHub Copilot — Características avanzadas</a:t>
            </a:r>
            <a:endParaRPr lang="en-US" sz="900" dirty="0"/>
          </a:p>
        </p:txBody>
      </p:sp>
      <p:sp>
        <p:nvSpPr>
          <p:cNvPr id="28" name="Text 26"/>
          <p:cNvSpPr/>
          <p:nvPr/>
        </p:nvSpPr>
        <p:spPr>
          <a:xfrm>
            <a:off x="7863840" y="4718304"/>
            <a:ext cx="777240" cy="219456"/>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Barra de acento">
            <a:extLst>
              <a:ext uri="{C183D7F6-B498-43B3-948B-1728B52AA6E4}">
                <adec:decorative xmlns:adec="http://schemas.microsoft.com/office/drawing/2017/decorative" val="1"/>
              </a:ext>
            </a:extLst>
          </p:cNvPr>
          <p:cNvSpPr/>
          <p:nvPr/>
        </p:nvSpPr>
        <p:spPr>
          <a:xfrm>
            <a:off x="502920" y="384048"/>
            <a:ext cx="54864" cy="566928"/>
          </a:xfrm>
          <a:prstGeom prst="rect">
            <a:avLst/>
          </a:prstGeom>
          <a:solidFill>
            <a:srgbClr val="7EE787"/>
          </a:solidFill>
          <a:ln/>
        </p:spPr>
      </p:sp>
      <p:sp>
        <p:nvSpPr>
          <p:cNvPr id="3" name="Text 1"/>
          <p:cNvSpPr/>
          <p:nvPr/>
        </p:nvSpPr>
        <p:spPr>
          <a:xfrm>
            <a:off x="713232" y="365760"/>
            <a:ext cx="7955280" cy="219456"/>
          </a:xfrm>
          <a:prstGeom prst="rect">
            <a:avLst/>
          </a:prstGeom>
          <a:noFill/>
          <a:ln/>
        </p:spPr>
        <p:txBody>
          <a:bodyPr wrap="square" lIns="0" tIns="0" rIns="0" bIns="0" rtlCol="0" anchor="ctr"/>
          <a:lstStyle/>
          <a:p>
            <a:pPr marL="0" indent="0">
              <a:buNone/>
            </a:pPr>
            <a:r>
              <a:rPr lang="en-US" sz="1000" kern="0" spc="200" dirty="0">
                <a:solidFill>
                  <a:srgbClr val="7EE787"/>
                </a:solidFill>
                <a:latin typeface="Consolas" pitchFamily="34" charset="0"/>
                <a:ea typeface="Consolas" pitchFamily="34" charset="-122"/>
                <a:cs typeface="Consolas" pitchFamily="34" charset="-120"/>
              </a:rPr>
              <a:t>ENTORNO</a:t>
            </a:r>
            <a:endParaRPr lang="en-US" sz="1000" dirty="0"/>
          </a:p>
        </p:txBody>
      </p:sp>
      <p:sp>
        <p:nvSpPr>
          <p:cNvPr id="4" name="Text 2"/>
          <p:cNvSpPr/>
          <p:nvPr/>
        </p:nvSpPr>
        <p:spPr>
          <a:xfrm>
            <a:off x="713232" y="566928"/>
            <a:ext cx="7955280" cy="411480"/>
          </a:xfrm>
          <a:prstGeom prst="rect">
            <a:avLst/>
          </a:prstGeom>
          <a:noFill/>
          <a:ln/>
        </p:spPr>
        <p:txBody>
          <a:bodyPr wrap="square" lIns="0" tIns="0" rIns="0" bIns="0" rtlCol="0" anchor="ctr"/>
          <a:lstStyle/>
          <a:p>
            <a:pPr marL="0" indent="0">
              <a:buNone/>
            </a:pPr>
            <a:r>
              <a:rPr lang="en-US" sz="2600" b="1" dirty="0">
                <a:solidFill>
                  <a:srgbClr val="E6EDF3"/>
                </a:solidFill>
                <a:latin typeface="Segoe UI" pitchFamily="34" charset="0"/>
                <a:ea typeface="Segoe UI" pitchFamily="34" charset="-122"/>
                <a:cs typeface="Segoe UI" pitchFamily="34" charset="-120"/>
              </a:rPr>
              <a:t>Copilot Free y la API web de Python</a:t>
            </a:r>
            <a:endParaRPr lang="en-US" sz="2600" dirty="0"/>
          </a:p>
        </p:txBody>
      </p:sp>
      <p:sp>
        <p:nvSpPr>
          <p:cNvPr id="5" name="Contenedor de dato">
            <a:extLst>
              <a:ext uri="{C183D7F6-B498-43B3-948B-1728B52AA6E4}">
                <adec:decorative xmlns:adec="http://schemas.microsoft.com/office/drawing/2017/decorative" val="1"/>
              </a:ext>
            </a:extLst>
          </p:cNvPr>
          <p:cNvSpPr/>
          <p:nvPr/>
        </p:nvSpPr>
        <p:spPr>
          <a:xfrm>
            <a:off x="713232" y="1234440"/>
            <a:ext cx="2377440" cy="1234440"/>
          </a:xfrm>
          <a:prstGeom prst="rect">
            <a:avLst/>
          </a:prstGeom>
          <a:solidFill>
            <a:srgbClr val="161B22"/>
          </a:solidFill>
          <a:ln w="12700">
            <a:solidFill>
              <a:srgbClr val="30363D"/>
            </a:solidFill>
            <a:prstDash val="solid"/>
          </a:ln>
        </p:spPr>
      </p:sp>
      <p:sp>
        <p:nvSpPr>
          <p:cNvPr id="6" name="Text 4"/>
          <p:cNvSpPr/>
          <p:nvPr/>
        </p:nvSpPr>
        <p:spPr>
          <a:xfrm>
            <a:off x="868680" y="1371600"/>
            <a:ext cx="2103120" cy="548640"/>
          </a:xfrm>
          <a:prstGeom prst="rect">
            <a:avLst/>
          </a:prstGeom>
          <a:noFill/>
          <a:ln/>
        </p:spPr>
        <p:txBody>
          <a:bodyPr wrap="square" lIns="0" tIns="0" rIns="0" bIns="0" rtlCol="0" anchor="ctr"/>
          <a:lstStyle/>
          <a:p>
            <a:pPr marL="0" indent="0">
              <a:buNone/>
            </a:pPr>
            <a:r>
              <a:rPr lang="en-US" sz="3400" b="1" dirty="0">
                <a:solidFill>
                  <a:srgbClr val="7EE787"/>
                </a:solidFill>
                <a:latin typeface="Segoe UI" pitchFamily="34" charset="0"/>
                <a:ea typeface="Segoe UI" pitchFamily="34" charset="-122"/>
                <a:cs typeface="Segoe UI" pitchFamily="34" charset="-120"/>
              </a:rPr>
              <a:t>2000</a:t>
            </a:r>
            <a:endParaRPr lang="en-US" sz="3400" dirty="0"/>
          </a:p>
        </p:txBody>
      </p:sp>
      <p:sp>
        <p:nvSpPr>
          <p:cNvPr id="7" name="Text 5"/>
          <p:cNvSpPr/>
          <p:nvPr/>
        </p:nvSpPr>
        <p:spPr>
          <a:xfrm>
            <a:off x="868680" y="1938528"/>
            <a:ext cx="2103120" cy="411480"/>
          </a:xfrm>
          <a:prstGeom prst="rect">
            <a:avLst/>
          </a:prstGeom>
          <a:noFill/>
          <a:ln/>
        </p:spPr>
        <p:txBody>
          <a:bodyPr wrap="square" lIns="0" tIns="0" rIns="0" bIns="0"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autocompletados de código al mes</a:t>
            </a:r>
            <a:endParaRPr lang="en-US" sz="1100" dirty="0"/>
          </a:p>
        </p:txBody>
      </p:sp>
      <p:sp>
        <p:nvSpPr>
          <p:cNvPr id="8" name="Contenedor de dato">
            <a:extLst>
              <a:ext uri="{C183D7F6-B498-43B3-948B-1728B52AA6E4}">
                <adec:decorative xmlns:adec="http://schemas.microsoft.com/office/drawing/2017/decorative" val="1"/>
              </a:ext>
            </a:extLst>
          </p:cNvPr>
          <p:cNvSpPr/>
          <p:nvPr/>
        </p:nvSpPr>
        <p:spPr>
          <a:xfrm>
            <a:off x="3401568" y="1234440"/>
            <a:ext cx="2377440" cy="1234440"/>
          </a:xfrm>
          <a:prstGeom prst="rect">
            <a:avLst/>
          </a:prstGeom>
          <a:solidFill>
            <a:srgbClr val="161B22"/>
          </a:solidFill>
          <a:ln w="12700">
            <a:solidFill>
              <a:srgbClr val="30363D"/>
            </a:solidFill>
            <a:prstDash val="solid"/>
          </a:ln>
        </p:spPr>
      </p:sp>
      <p:sp>
        <p:nvSpPr>
          <p:cNvPr id="9" name="Text 7"/>
          <p:cNvSpPr/>
          <p:nvPr/>
        </p:nvSpPr>
        <p:spPr>
          <a:xfrm>
            <a:off x="3557016" y="1371600"/>
            <a:ext cx="2103120" cy="548640"/>
          </a:xfrm>
          <a:prstGeom prst="rect">
            <a:avLst/>
          </a:prstGeom>
          <a:noFill/>
          <a:ln/>
        </p:spPr>
        <p:txBody>
          <a:bodyPr wrap="square" lIns="0" tIns="0" rIns="0" bIns="0" rtlCol="0" anchor="ctr"/>
          <a:lstStyle/>
          <a:p>
            <a:pPr marL="0" indent="0">
              <a:buNone/>
            </a:pPr>
            <a:r>
              <a:rPr lang="en-US" sz="3400" b="1" dirty="0">
                <a:solidFill>
                  <a:srgbClr val="58A6FF"/>
                </a:solidFill>
                <a:latin typeface="Segoe UI" pitchFamily="34" charset="0"/>
                <a:ea typeface="Segoe UI" pitchFamily="34" charset="-122"/>
                <a:cs typeface="Segoe UI" pitchFamily="34" charset="-120"/>
              </a:rPr>
              <a:t>50</a:t>
            </a:r>
            <a:endParaRPr lang="en-US" sz="3400" dirty="0"/>
          </a:p>
        </p:txBody>
      </p:sp>
      <p:sp>
        <p:nvSpPr>
          <p:cNvPr id="10" name="Text 8"/>
          <p:cNvSpPr/>
          <p:nvPr/>
        </p:nvSpPr>
        <p:spPr>
          <a:xfrm>
            <a:off x="3557016" y="1938528"/>
            <a:ext cx="2103120" cy="411480"/>
          </a:xfrm>
          <a:prstGeom prst="rect">
            <a:avLst/>
          </a:prstGeom>
          <a:noFill/>
          <a:ln/>
        </p:spPr>
        <p:txBody>
          <a:bodyPr wrap="square" lIns="0" tIns="0" rIns="0" bIns="0"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mensajes de chat al mes</a:t>
            </a:r>
            <a:endParaRPr lang="en-US" sz="1100" dirty="0"/>
          </a:p>
        </p:txBody>
      </p:sp>
      <p:sp>
        <p:nvSpPr>
          <p:cNvPr id="11" name="Contenedor de dato">
            <a:extLst>
              <a:ext uri="{C183D7F6-B498-43B3-948B-1728B52AA6E4}">
                <adec:decorative xmlns:adec="http://schemas.microsoft.com/office/drawing/2017/decorative" val="1"/>
              </a:ext>
            </a:extLst>
          </p:cNvPr>
          <p:cNvSpPr/>
          <p:nvPr/>
        </p:nvSpPr>
        <p:spPr>
          <a:xfrm>
            <a:off x="6080760" y="1234440"/>
            <a:ext cx="2377440" cy="1234440"/>
          </a:xfrm>
          <a:prstGeom prst="rect">
            <a:avLst/>
          </a:prstGeom>
          <a:solidFill>
            <a:srgbClr val="161B22"/>
          </a:solidFill>
          <a:ln w="12700">
            <a:solidFill>
              <a:srgbClr val="30363D"/>
            </a:solidFill>
            <a:prstDash val="solid"/>
          </a:ln>
        </p:spPr>
      </p:sp>
      <p:sp>
        <p:nvSpPr>
          <p:cNvPr id="12" name="Text 10"/>
          <p:cNvSpPr/>
          <p:nvPr/>
        </p:nvSpPr>
        <p:spPr>
          <a:xfrm>
            <a:off x="6236208" y="1371600"/>
            <a:ext cx="2103120" cy="548640"/>
          </a:xfrm>
          <a:prstGeom prst="rect">
            <a:avLst/>
          </a:prstGeom>
          <a:noFill/>
          <a:ln/>
        </p:spPr>
        <p:txBody>
          <a:bodyPr wrap="square" lIns="0" tIns="0" rIns="0" bIns="0" rtlCol="0" anchor="ctr"/>
          <a:lstStyle/>
          <a:p>
            <a:pPr marL="0" indent="0">
              <a:buNone/>
            </a:pPr>
            <a:r>
              <a:rPr lang="en-US" sz="3400" b="1" dirty="0">
                <a:solidFill>
                  <a:srgbClr val="7EE787"/>
                </a:solidFill>
                <a:latin typeface="Segoe UI" pitchFamily="34" charset="0"/>
                <a:ea typeface="Segoe UI" pitchFamily="34" charset="-122"/>
                <a:cs typeface="Segoe UI" pitchFamily="34" charset="-120"/>
              </a:rPr>
              <a:t>8000</a:t>
            </a:r>
            <a:endParaRPr lang="en-US" sz="3400" dirty="0"/>
          </a:p>
        </p:txBody>
      </p:sp>
      <p:sp>
        <p:nvSpPr>
          <p:cNvPr id="13" name="Text 11"/>
          <p:cNvSpPr/>
          <p:nvPr/>
        </p:nvSpPr>
        <p:spPr>
          <a:xfrm>
            <a:off x="6236208" y="1938528"/>
            <a:ext cx="2103120" cy="411480"/>
          </a:xfrm>
          <a:prstGeom prst="rect">
            <a:avLst/>
          </a:prstGeom>
          <a:noFill/>
          <a:ln/>
        </p:spPr>
        <p:txBody>
          <a:bodyPr wrap="square" lIns="0" tIns="0" rIns="0" bIns="0" rtlCol="0" anchor="ctr"/>
          <a:lstStyle/>
          <a:p>
            <a:pPr marL="0" indent="0">
              <a:buNone/>
            </a:pPr>
            <a:r>
              <a:rPr lang="en-US" sz="1100" dirty="0">
                <a:solidFill>
                  <a:srgbClr val="8B949E"/>
                </a:solidFill>
                <a:latin typeface="Segoe UI" pitchFamily="34" charset="0"/>
                <a:ea typeface="Segoe UI" pitchFamily="34" charset="-122"/>
                <a:cs typeface="Segoe UI" pitchFamily="34" charset="-120"/>
              </a:rPr>
              <a:t>puerto del servidor en Codespace</a:t>
            </a:r>
            <a:endParaRPr lang="en-US" sz="1100" dirty="0"/>
          </a:p>
        </p:txBody>
      </p:sp>
      <p:sp>
        <p:nvSpPr>
          <p:cNvPr id="14" name="Text 12"/>
          <p:cNvSpPr/>
          <p:nvPr/>
        </p:nvSpPr>
        <p:spPr>
          <a:xfrm>
            <a:off x="713232" y="2697480"/>
            <a:ext cx="4023360"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Puesta en marcha</a:t>
            </a:r>
            <a:endParaRPr lang="en-US" sz="1300" dirty="0"/>
          </a:p>
        </p:txBody>
      </p:sp>
      <p:sp>
        <p:nvSpPr>
          <p:cNvPr id="15" name="Text 13"/>
          <p:cNvSpPr/>
          <p:nvPr/>
        </p:nvSpPr>
        <p:spPr>
          <a:xfrm>
            <a:off x="713232" y="3063240"/>
            <a:ext cx="4023360" cy="146304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8B949E"/>
                </a:solidFill>
                <a:latin typeface="Segoe UI" pitchFamily="34" charset="0"/>
                <a:ea typeface="Segoe UI" pitchFamily="34" charset="-122"/>
                <a:cs typeface="Segoe UI" pitchFamily="34" charset="-120"/>
              </a:rPr>
              <a:t>Codespaces carga una sección de terminal en la parte inferior.</a:t>
            </a:r>
            <a:endParaRPr lang="en-US" sz="1150" dirty="0"/>
          </a:p>
          <a:p>
            <a:pPr marL="342900" indent="-342900">
              <a:spcAft>
                <a:spcPts val="600"/>
              </a:spcAft>
              <a:buSzPct val="100000"/>
              <a:buChar char="•"/>
            </a:pPr>
            <a:r>
              <a:rPr lang="en-US" sz="1150" dirty="0">
                <a:solidFill>
                  <a:srgbClr val="8B949E"/>
                </a:solidFill>
                <a:latin typeface="Segoe UI" pitchFamily="34" charset="0"/>
                <a:ea typeface="Segoe UI" pitchFamily="34" charset="-122"/>
                <a:cs typeface="Segoe UI" pitchFamily="34" charset="-120"/>
              </a:rPr>
              <a:t>Instala en el contenedor las extensiones necesarias.</a:t>
            </a:r>
            <a:endParaRPr lang="en-US" sz="1150" dirty="0"/>
          </a:p>
          <a:p>
            <a:pPr marL="342900" indent="-342900">
              <a:spcAft>
                <a:spcPts val="600"/>
              </a:spcAft>
              <a:buSzPct val="100000"/>
              <a:buChar char="•"/>
            </a:pPr>
            <a:r>
              <a:rPr lang="en-US" sz="1150" dirty="0">
                <a:solidFill>
                  <a:srgbClr val="8B949E"/>
                </a:solidFill>
                <a:latin typeface="Segoe UI" pitchFamily="34" charset="0"/>
                <a:ea typeface="Segoe UI" pitchFamily="34" charset="-122"/>
                <a:cs typeface="Segoe UI" pitchFamily="34" charset="-120"/>
              </a:rPr>
              <a:t>Tras instalar los paquetes, ejecuta uvicorn para iniciar la aplicación.</a:t>
            </a:r>
            <a:endParaRPr lang="en-US" sz="1150" dirty="0"/>
          </a:p>
          <a:p>
            <a:pPr marL="342900" indent="-342900">
              <a:spcAft>
                <a:spcPts val="600"/>
              </a:spcAft>
              <a:buSzPct val="100000"/>
              <a:buChar char="•"/>
            </a:pPr>
            <a:r>
              <a:rPr lang="en-US" sz="1150" dirty="0">
                <a:solidFill>
                  <a:srgbClr val="8B949E"/>
                </a:solidFill>
                <a:latin typeface="Segoe UI" pitchFamily="34" charset="0"/>
                <a:ea typeface="Segoe UI" pitchFamily="34" charset="-122"/>
                <a:cs typeface="Segoe UI" pitchFamily="34" charset="-120"/>
              </a:rPr>
              <a:t>La pestaña Puertos muestra el servidor en ejecución.</a:t>
            </a:r>
            <a:endParaRPr lang="en-US" sz="1150" dirty="0"/>
          </a:p>
        </p:txBody>
      </p:sp>
      <p:sp>
        <p:nvSpPr>
          <p:cNvPr id="16" name="Tarjeta de contenido">
            <a:extLst>
              <a:ext uri="{C183D7F6-B498-43B3-948B-1728B52AA6E4}">
                <adec:decorative xmlns:adec="http://schemas.microsoft.com/office/drawing/2017/decorative" val="1"/>
              </a:ext>
            </a:extLst>
          </p:cNvPr>
          <p:cNvSpPr/>
          <p:nvPr/>
        </p:nvSpPr>
        <p:spPr>
          <a:xfrm>
            <a:off x="5029200" y="2697480"/>
            <a:ext cx="3429000" cy="1783080"/>
          </a:xfrm>
          <a:prstGeom prst="rect">
            <a:avLst/>
          </a:prstGeom>
          <a:solidFill>
            <a:srgbClr val="161B22"/>
          </a:solidFill>
          <a:ln w="12700">
            <a:solidFill>
              <a:srgbClr val="30363D"/>
            </a:solidFill>
            <a:prstDash val="solid"/>
          </a:ln>
        </p:spPr>
      </p:sp>
      <p:sp>
        <p:nvSpPr>
          <p:cNvPr id="17" name="Acento de tarjeta">
            <a:extLst>
              <a:ext uri="{C183D7F6-B498-43B3-948B-1728B52AA6E4}">
                <adec:decorative xmlns:adec="http://schemas.microsoft.com/office/drawing/2017/decorative" val="1"/>
              </a:ext>
            </a:extLst>
          </p:cNvPr>
          <p:cNvSpPr/>
          <p:nvPr/>
        </p:nvSpPr>
        <p:spPr>
          <a:xfrm>
            <a:off x="5029200" y="2697480"/>
            <a:ext cx="45720" cy="1783080"/>
          </a:xfrm>
          <a:prstGeom prst="rect">
            <a:avLst/>
          </a:prstGeom>
          <a:solidFill>
            <a:srgbClr val="58A6FF"/>
          </a:solidFill>
          <a:ln/>
        </p:spPr>
      </p:sp>
      <p:sp>
        <p:nvSpPr>
          <p:cNvPr id="18" name="Text 16"/>
          <p:cNvSpPr/>
          <p:nvPr/>
        </p:nvSpPr>
        <p:spPr>
          <a:xfrm>
            <a:off x="5248656" y="2843784"/>
            <a:ext cx="302666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Cómo activar Copilot Free</a:t>
            </a:r>
            <a:endParaRPr lang="en-US" sz="1300" dirty="0"/>
          </a:p>
        </p:txBody>
      </p:sp>
      <p:sp>
        <p:nvSpPr>
          <p:cNvPr id="19" name="Text 17"/>
          <p:cNvSpPr/>
          <p:nvPr/>
        </p:nvSpPr>
        <p:spPr>
          <a:xfrm>
            <a:off x="5248656" y="3154680"/>
            <a:ext cx="3026664" cy="1179576"/>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Abrir Visual Studio Code, seleccionar el icono de GitHub Copilot y elegir «Iniciar sesión para usar GitHub Copilot de forma gratuita». Educadores, estudiantes y algunos mantenedores de código abierto pueden recibir Copilot Pro sin coste.</a:t>
            </a:r>
            <a:endParaRPr lang="en-US" sz="1050" dirty="0"/>
          </a:p>
        </p:txBody>
      </p:sp>
      <p:sp>
        <p:nvSpPr>
          <p:cNvPr id="20" name="Línea de pie">
            <a:extLst>
              <a:ext uri="{C183D7F6-B498-43B3-948B-1728B52AA6E4}">
                <adec:decorative xmlns:adec="http://schemas.microsoft.com/office/drawing/2017/decorative" val="1"/>
              </a:ext>
            </a:extLst>
          </p:cNvPr>
          <p:cNvSpPr/>
          <p:nvPr/>
        </p:nvSpPr>
        <p:spPr>
          <a:xfrm>
            <a:off x="0" y="4956048"/>
            <a:ext cx="9144000" cy="13716"/>
          </a:xfrm>
          <a:prstGeom prst="rect">
            <a:avLst/>
          </a:prstGeom>
          <a:solidFill>
            <a:srgbClr val="30363D"/>
          </a:solidFill>
          <a:ln/>
        </p:spPr>
      </p:sp>
      <p:sp>
        <p:nvSpPr>
          <p:cNvPr id="21" name="Text 19"/>
          <p:cNvSpPr/>
          <p:nvPr/>
        </p:nvSpPr>
        <p:spPr>
          <a:xfrm>
            <a:off x="502920" y="4718304"/>
            <a:ext cx="5486400" cy="219456"/>
          </a:xfrm>
          <a:prstGeom prst="rect">
            <a:avLst/>
          </a:prstGeom>
          <a:noFill/>
          <a:ln/>
        </p:spPr>
        <p:txBody>
          <a:bodyPr wrap="square" lIns="0" tIns="0" rIns="0" bIns="0"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GitHub Copilot — Características avanzadas</a:t>
            </a:r>
            <a:endParaRPr lang="en-US" sz="900" dirty="0"/>
          </a:p>
        </p:txBody>
      </p:sp>
      <p:sp>
        <p:nvSpPr>
          <p:cNvPr id="22" name="Text 20"/>
          <p:cNvSpPr/>
          <p:nvPr/>
        </p:nvSpPr>
        <p:spPr>
          <a:xfrm>
            <a:off x="7863840" y="4718304"/>
            <a:ext cx="777240" cy="219456"/>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Barra de acento">
            <a:extLst>
              <a:ext uri="{C183D7F6-B498-43B3-948B-1728B52AA6E4}">
                <adec:decorative xmlns:adec="http://schemas.microsoft.com/office/drawing/2017/decorative" val="1"/>
              </a:ext>
            </a:extLst>
          </p:cNvPr>
          <p:cNvSpPr/>
          <p:nvPr/>
        </p:nvSpPr>
        <p:spPr>
          <a:xfrm>
            <a:off x="502920" y="384048"/>
            <a:ext cx="54864" cy="566928"/>
          </a:xfrm>
          <a:prstGeom prst="rect">
            <a:avLst/>
          </a:prstGeom>
          <a:solidFill>
            <a:srgbClr val="7EE787"/>
          </a:solidFill>
          <a:ln/>
        </p:spPr>
      </p:sp>
      <p:sp>
        <p:nvSpPr>
          <p:cNvPr id="3" name="Text 1"/>
          <p:cNvSpPr/>
          <p:nvPr/>
        </p:nvSpPr>
        <p:spPr>
          <a:xfrm>
            <a:off x="713232" y="365760"/>
            <a:ext cx="7955280" cy="219456"/>
          </a:xfrm>
          <a:prstGeom prst="rect">
            <a:avLst/>
          </a:prstGeom>
          <a:noFill/>
          <a:ln/>
        </p:spPr>
        <p:txBody>
          <a:bodyPr wrap="square" lIns="0" tIns="0" rIns="0" bIns="0" rtlCol="0" anchor="ctr"/>
          <a:lstStyle/>
          <a:p>
            <a:pPr marL="0" indent="0">
              <a:buNone/>
            </a:pPr>
            <a:r>
              <a:rPr lang="en-US" sz="1000" kern="0" spc="200" dirty="0">
                <a:solidFill>
                  <a:srgbClr val="7EE787"/>
                </a:solidFill>
                <a:latin typeface="Consolas" pitchFamily="34" charset="0"/>
                <a:ea typeface="Consolas" pitchFamily="34" charset="-122"/>
                <a:cs typeface="Consolas" pitchFamily="34" charset="-120"/>
              </a:rPr>
              <a:t>TÉCNICAS APLICADAS</a:t>
            </a:r>
            <a:endParaRPr lang="en-US" sz="1000" dirty="0"/>
          </a:p>
        </p:txBody>
      </p:sp>
      <p:sp>
        <p:nvSpPr>
          <p:cNvPr id="4" name="Text 2"/>
          <p:cNvSpPr/>
          <p:nvPr/>
        </p:nvSpPr>
        <p:spPr>
          <a:xfrm>
            <a:off x="713232" y="566928"/>
            <a:ext cx="7955280" cy="411480"/>
          </a:xfrm>
          <a:prstGeom prst="rect">
            <a:avLst/>
          </a:prstGeom>
          <a:noFill/>
          <a:ln/>
        </p:spPr>
        <p:txBody>
          <a:bodyPr wrap="square" lIns="0" tIns="0" rIns="0" bIns="0" rtlCol="0" anchor="ctr"/>
          <a:lstStyle/>
          <a:p>
            <a:pPr marL="0" indent="0">
              <a:buNone/>
            </a:pPr>
            <a:r>
              <a:rPr lang="en-US" sz="2600" b="1" dirty="0">
                <a:solidFill>
                  <a:srgbClr val="E6EDF3"/>
                </a:solidFill>
                <a:latin typeface="Segoe UI" pitchFamily="34" charset="0"/>
                <a:ea typeface="Segoe UI" pitchFamily="34" charset="-122"/>
                <a:cs typeface="Segoe UI" pitchFamily="34" charset="-120"/>
              </a:rPr>
              <a:t>Mensajes implícitos</a:t>
            </a:r>
            <a:endParaRPr lang="en-US" sz="2600" dirty="0"/>
          </a:p>
        </p:txBody>
      </p:sp>
      <p:sp>
        <p:nvSpPr>
          <p:cNvPr id="5" name="Text 3"/>
          <p:cNvSpPr/>
          <p:nvPr/>
        </p:nvSpPr>
        <p:spPr>
          <a:xfrm>
            <a:off x="713232" y="1188720"/>
            <a:ext cx="7744968" cy="411480"/>
          </a:xfrm>
          <a:prstGeom prst="rect">
            <a:avLst/>
          </a:prstGeom>
          <a:noFill/>
          <a:ln/>
        </p:spPr>
        <p:txBody>
          <a:bodyPr wrap="square" lIns="0" tIns="0" rIns="0" bIns="0" rtlCol="0" anchor="ctr"/>
          <a:lstStyle/>
          <a:p>
            <a:pPr marL="0" indent="0">
              <a:lnSpc>
                <a:spcPct val="120000"/>
              </a:lnSpc>
              <a:buNone/>
            </a:pPr>
            <a:r>
              <a:rPr lang="en-US" sz="1250" dirty="0">
                <a:solidFill>
                  <a:srgbClr val="8B949E"/>
                </a:solidFill>
                <a:latin typeface="Segoe UI" pitchFamily="34" charset="0"/>
                <a:ea typeface="Segoe UI" pitchFamily="34" charset="-122"/>
                <a:cs typeface="Segoe UI" pitchFamily="34" charset="-120"/>
              </a:rPr>
              <a:t>Además de escribir mensajes específicos, se pueden usar características que aprovechan implícitamente el contexto disponible para obtener respuestas.</a:t>
            </a:r>
            <a:endParaRPr lang="en-US" sz="1250" dirty="0"/>
          </a:p>
        </p:txBody>
      </p:sp>
      <p:sp>
        <p:nvSpPr>
          <p:cNvPr id="6" name="Text 4"/>
          <p:cNvSpPr/>
          <p:nvPr/>
        </p:nvSpPr>
        <p:spPr>
          <a:xfrm>
            <a:off x="713232" y="1737360"/>
            <a:ext cx="3931920"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Ejemplo: corregir código con error</a:t>
            </a:r>
            <a:endParaRPr lang="en-US" sz="1300" dirty="0"/>
          </a:p>
        </p:txBody>
      </p:sp>
      <p:sp>
        <p:nvSpPr>
          <p:cNvPr id="7" name="Text 5"/>
          <p:cNvSpPr/>
          <p:nvPr/>
        </p:nvSpPr>
        <p:spPr>
          <a:xfrm>
            <a:off x="713232" y="2103120"/>
            <a:ext cx="3931920" cy="118872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8B949E"/>
                </a:solidFill>
                <a:latin typeface="Segoe UI" pitchFamily="34" charset="0"/>
                <a:ea typeface="Segoe UI" pitchFamily="34" charset="-122"/>
                <a:cs typeface="Segoe UI" pitchFamily="34" charset="-120"/>
              </a:rPr>
              <a:t>Seleccionar el código Python con el error.</a:t>
            </a:r>
            <a:endParaRPr lang="en-US" sz="1200" dirty="0"/>
          </a:p>
          <a:p>
            <a:pPr marL="342900" indent="-342900">
              <a:spcAft>
                <a:spcPts val="800"/>
              </a:spcAft>
              <a:buSzPct val="100000"/>
              <a:buChar char="•"/>
            </a:pPr>
            <a:r>
              <a:rPr lang="en-US" sz="1200" dirty="0">
                <a:solidFill>
                  <a:srgbClr val="8B949E"/>
                </a:solidFill>
                <a:latin typeface="Segoe UI" pitchFamily="34" charset="0"/>
                <a:ea typeface="Segoe UI" pitchFamily="34" charset="-122"/>
                <a:cs typeface="Segoe UI" pitchFamily="34" charset="-120"/>
              </a:rPr>
              <a:t>Abrir el chat en línea con Ctrl+i o Cmd+i.</a:t>
            </a:r>
            <a:endParaRPr lang="en-US" sz="1200" dirty="0"/>
          </a:p>
          <a:p>
            <a:pPr marL="342900" indent="-342900">
              <a:spcAft>
                <a:spcPts val="800"/>
              </a:spcAft>
              <a:buSzPct val="100000"/>
              <a:buChar char="•"/>
            </a:pPr>
            <a:r>
              <a:rPr lang="en-US" sz="1200" dirty="0">
                <a:solidFill>
                  <a:srgbClr val="8B949E"/>
                </a:solidFill>
                <a:latin typeface="Segoe UI" pitchFamily="34" charset="0"/>
                <a:ea typeface="Segoe UI" pitchFamily="34" charset="-122"/>
                <a:cs typeface="Segoe UI" pitchFamily="34" charset="-120"/>
              </a:rPr>
              <a:t>Escribir /fix para solicitar la corrección.</a:t>
            </a:r>
            <a:endParaRPr lang="en-US" sz="1200" dirty="0"/>
          </a:p>
        </p:txBody>
      </p:sp>
      <p:sp>
        <p:nvSpPr>
          <p:cNvPr id="8" name="Bloque de código">
            <a:extLst>
              <a:ext uri="{C183D7F6-B498-43B3-948B-1728B52AA6E4}">
                <adec:decorative xmlns:adec="http://schemas.microsoft.com/office/drawing/2017/decorative" val="1"/>
              </a:ext>
            </a:extLst>
          </p:cNvPr>
          <p:cNvSpPr/>
          <p:nvPr/>
        </p:nvSpPr>
        <p:spPr>
          <a:xfrm>
            <a:off x="713232" y="3429000"/>
            <a:ext cx="3931920" cy="1051560"/>
          </a:xfrm>
          <a:prstGeom prst="rect">
            <a:avLst/>
          </a:prstGeom>
          <a:solidFill>
            <a:srgbClr val="010409"/>
          </a:solidFill>
          <a:ln w="12700">
            <a:solidFill>
              <a:srgbClr val="30363D"/>
            </a:solidFill>
            <a:prstDash val="solid"/>
          </a:ln>
        </p:spPr>
      </p:sp>
      <p:sp>
        <p:nvSpPr>
          <p:cNvPr id="9" name="Text 7"/>
          <p:cNvSpPr/>
          <p:nvPr/>
        </p:nvSpPr>
        <p:spPr>
          <a:xfrm>
            <a:off x="896112" y="3557016"/>
            <a:ext cx="3566160" cy="795528"/>
          </a:xfrm>
          <a:prstGeom prst="rect">
            <a:avLst/>
          </a:prstGeom>
          <a:noFill/>
          <a:ln/>
        </p:spPr>
        <p:txBody>
          <a:bodyPr wrap="square" lIns="0" tIns="0" rIns="0" bIns="0" rtlCol="0" anchor="t"/>
          <a:lstStyle/>
          <a:p>
            <a:pPr marL="0" indent="0">
              <a:lnSpc>
                <a:spcPct val="120000"/>
              </a:lnSpc>
              <a:buNone/>
            </a:pPr>
            <a:r>
              <a:rPr lang="en-US" sz="1000" dirty="0">
                <a:solidFill>
                  <a:srgbClr val="7EE787"/>
                </a:solidFill>
                <a:latin typeface="Consolas" pitchFamily="34" charset="0"/>
                <a:ea typeface="Consolas" pitchFamily="34" charset="-122"/>
                <a:cs typeface="Consolas" pitchFamily="34" charset="-120"/>
              </a:rPr>
              <a:t>/fix</a:t>
            </a:r>
            <a:endParaRPr lang="en-US" sz="1000" dirty="0"/>
          </a:p>
          <a:p>
            <a:pPr marL="0" indent="0">
              <a:lnSpc>
                <a:spcPct val="120000"/>
              </a:lnSpc>
              <a:buNone/>
            </a:pPr>
            <a:endParaRPr lang="en-US" sz="1000" dirty="0"/>
          </a:p>
          <a:p>
            <a:pPr marL="0" indent="0">
              <a:lnSpc>
                <a:spcPct val="120000"/>
              </a:lnSpc>
              <a:buNone/>
            </a:pPr>
            <a:r>
              <a:rPr lang="en-US" sz="1000" dirty="0">
                <a:solidFill>
                  <a:srgbClr val="7EE787"/>
                </a:solidFill>
                <a:latin typeface="Consolas" pitchFamily="34" charset="0"/>
                <a:ea typeface="Consolas" pitchFamily="34" charset="-122"/>
                <a:cs typeface="Consolas" pitchFamily="34" charset="-120"/>
              </a:rPr>
              <a:t>&gt; Copilot propone la corrección</a:t>
            </a:r>
            <a:endParaRPr lang="en-US" sz="1000" dirty="0"/>
          </a:p>
          <a:p>
            <a:pPr marL="0" indent="0">
              <a:lnSpc>
                <a:spcPct val="120000"/>
              </a:lnSpc>
              <a:buNone/>
            </a:pPr>
            <a:r>
              <a:rPr lang="en-US" sz="1000" dirty="0">
                <a:solidFill>
                  <a:srgbClr val="7EE787"/>
                </a:solidFill>
                <a:latin typeface="Consolas" pitchFamily="34" charset="0"/>
                <a:ea typeface="Consolas" pitchFamily="34" charset="-122"/>
                <a:cs typeface="Consolas" pitchFamily="34" charset="-120"/>
              </a:rPr>
              <a:t>&gt; sobre la selección actual</a:t>
            </a:r>
            <a:endParaRPr lang="en-US" sz="1000" dirty="0"/>
          </a:p>
        </p:txBody>
      </p:sp>
      <p:sp>
        <p:nvSpPr>
          <p:cNvPr id="10" name="Tarjeta de contenido">
            <a:extLst>
              <a:ext uri="{C183D7F6-B498-43B3-948B-1728B52AA6E4}">
                <adec:decorative xmlns:adec="http://schemas.microsoft.com/office/drawing/2017/decorative" val="1"/>
              </a:ext>
            </a:extLst>
          </p:cNvPr>
          <p:cNvSpPr/>
          <p:nvPr/>
        </p:nvSpPr>
        <p:spPr>
          <a:xfrm>
            <a:off x="4937760" y="1737360"/>
            <a:ext cx="3520440" cy="1325880"/>
          </a:xfrm>
          <a:prstGeom prst="rect">
            <a:avLst/>
          </a:prstGeom>
          <a:solidFill>
            <a:srgbClr val="161B22"/>
          </a:solidFill>
          <a:ln w="12700">
            <a:solidFill>
              <a:srgbClr val="30363D"/>
            </a:solidFill>
            <a:prstDash val="solid"/>
          </a:ln>
        </p:spPr>
      </p:sp>
      <p:sp>
        <p:nvSpPr>
          <p:cNvPr id="11" name="Acento de tarjeta">
            <a:extLst>
              <a:ext uri="{C183D7F6-B498-43B3-948B-1728B52AA6E4}">
                <adec:decorative xmlns:adec="http://schemas.microsoft.com/office/drawing/2017/decorative" val="1"/>
              </a:ext>
            </a:extLst>
          </p:cNvPr>
          <p:cNvSpPr/>
          <p:nvPr/>
        </p:nvSpPr>
        <p:spPr>
          <a:xfrm>
            <a:off x="4937760" y="1737360"/>
            <a:ext cx="45720" cy="1325880"/>
          </a:xfrm>
          <a:prstGeom prst="rect">
            <a:avLst/>
          </a:prstGeom>
          <a:solidFill>
            <a:srgbClr val="58A6FF"/>
          </a:solidFill>
          <a:ln/>
        </p:spPr>
      </p:sp>
      <p:sp>
        <p:nvSpPr>
          <p:cNvPr id="12" name="Text 10"/>
          <p:cNvSpPr/>
          <p:nvPr/>
        </p:nvSpPr>
        <p:spPr>
          <a:xfrm>
            <a:off x="5157216" y="1883664"/>
            <a:ext cx="311810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Dónde se usan</a:t>
            </a:r>
            <a:endParaRPr lang="en-US" sz="1300" dirty="0"/>
          </a:p>
        </p:txBody>
      </p:sp>
      <p:sp>
        <p:nvSpPr>
          <p:cNvPr id="13" name="Text 11"/>
          <p:cNvSpPr/>
          <p:nvPr/>
        </p:nvSpPr>
        <p:spPr>
          <a:xfrm>
            <a:off x="5157216" y="2194560"/>
            <a:ext cx="3118104" cy="722376"/>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Los comandos de barra diagonal funcionan tanto en el chat en línea como en la interfaz de chat, así que se elige la forma de interacción más adecuada según el código y la tarea.</a:t>
            </a:r>
            <a:endParaRPr lang="en-US" sz="1050" dirty="0"/>
          </a:p>
        </p:txBody>
      </p:sp>
      <p:sp>
        <p:nvSpPr>
          <p:cNvPr id="14" name="Tarjeta de contenido">
            <a:extLst>
              <a:ext uri="{C183D7F6-B498-43B3-948B-1728B52AA6E4}">
                <adec:decorative xmlns:adec="http://schemas.microsoft.com/office/drawing/2017/decorative" val="1"/>
              </a:ext>
            </a:extLst>
          </p:cNvPr>
          <p:cNvSpPr/>
          <p:nvPr/>
        </p:nvSpPr>
        <p:spPr>
          <a:xfrm>
            <a:off x="4937760" y="3154680"/>
            <a:ext cx="3520440" cy="1325880"/>
          </a:xfrm>
          <a:prstGeom prst="rect">
            <a:avLst/>
          </a:prstGeom>
          <a:solidFill>
            <a:srgbClr val="161B22"/>
          </a:solidFill>
          <a:ln w="12700">
            <a:solidFill>
              <a:srgbClr val="30363D"/>
            </a:solidFill>
            <a:prstDash val="solid"/>
          </a:ln>
        </p:spPr>
      </p:sp>
      <p:sp>
        <p:nvSpPr>
          <p:cNvPr id="15" name="Acento de tarjeta">
            <a:extLst>
              <a:ext uri="{C183D7F6-B498-43B3-948B-1728B52AA6E4}">
                <adec:decorative xmlns:adec="http://schemas.microsoft.com/office/drawing/2017/decorative" val="1"/>
              </a:ext>
            </a:extLst>
          </p:cNvPr>
          <p:cNvSpPr/>
          <p:nvPr/>
        </p:nvSpPr>
        <p:spPr>
          <a:xfrm>
            <a:off x="4937760" y="3154680"/>
            <a:ext cx="45720" cy="1325880"/>
          </a:xfrm>
          <a:prstGeom prst="rect">
            <a:avLst/>
          </a:prstGeom>
          <a:solidFill>
            <a:srgbClr val="7EE787"/>
          </a:solidFill>
          <a:ln/>
        </p:spPr>
      </p:sp>
      <p:sp>
        <p:nvSpPr>
          <p:cNvPr id="16" name="Text 14"/>
          <p:cNvSpPr/>
          <p:nvPr/>
        </p:nvSpPr>
        <p:spPr>
          <a:xfrm>
            <a:off x="5157216" y="3300984"/>
            <a:ext cx="3118104"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Combinar es la clave</a:t>
            </a:r>
            <a:endParaRPr lang="en-US" sz="1300" dirty="0"/>
          </a:p>
        </p:txBody>
      </p:sp>
      <p:sp>
        <p:nvSpPr>
          <p:cNvPr id="17" name="Text 15"/>
          <p:cNvSpPr/>
          <p:nvPr/>
        </p:nvSpPr>
        <p:spPr>
          <a:xfrm>
            <a:off x="5157216" y="3611880"/>
            <a:ext cx="3118104" cy="722376"/>
          </a:xfrm>
          <a:prstGeom prst="rect">
            <a:avLst/>
          </a:prstGeom>
          <a:noFill/>
          <a:ln/>
        </p:spPr>
        <p:txBody>
          <a:bodyPr wrap="square" lIns="0" tIns="0" rIns="0" bIns="0" rtlCol="0" anchor="t"/>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Un comando específico junto con el contexto adecuado ofrece mejores respuestas que un mensaje largo y genérico.</a:t>
            </a:r>
            <a:endParaRPr lang="en-US" sz="1050" dirty="0"/>
          </a:p>
        </p:txBody>
      </p:sp>
      <p:sp>
        <p:nvSpPr>
          <p:cNvPr id="18" name="Línea de pie">
            <a:extLst>
              <a:ext uri="{C183D7F6-B498-43B3-948B-1728B52AA6E4}">
                <adec:decorative xmlns:adec="http://schemas.microsoft.com/office/drawing/2017/decorative" val="1"/>
              </a:ext>
            </a:extLst>
          </p:cNvPr>
          <p:cNvSpPr/>
          <p:nvPr/>
        </p:nvSpPr>
        <p:spPr>
          <a:xfrm>
            <a:off x="0" y="4956048"/>
            <a:ext cx="9144000" cy="13716"/>
          </a:xfrm>
          <a:prstGeom prst="rect">
            <a:avLst/>
          </a:prstGeom>
          <a:solidFill>
            <a:srgbClr val="30363D"/>
          </a:solidFill>
          <a:ln/>
        </p:spPr>
      </p:sp>
      <p:sp>
        <p:nvSpPr>
          <p:cNvPr id="19" name="Text 17"/>
          <p:cNvSpPr/>
          <p:nvPr/>
        </p:nvSpPr>
        <p:spPr>
          <a:xfrm>
            <a:off x="502920" y="4718304"/>
            <a:ext cx="5486400" cy="219456"/>
          </a:xfrm>
          <a:prstGeom prst="rect">
            <a:avLst/>
          </a:prstGeom>
          <a:noFill/>
          <a:ln/>
        </p:spPr>
        <p:txBody>
          <a:bodyPr wrap="square" lIns="0" tIns="0" rIns="0" bIns="0"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GitHub Copilot — Características avanzadas</a:t>
            </a:r>
            <a:endParaRPr lang="en-US" sz="900" dirty="0"/>
          </a:p>
        </p:txBody>
      </p:sp>
      <p:sp>
        <p:nvSpPr>
          <p:cNvPr id="20" name="Text 18"/>
          <p:cNvSpPr/>
          <p:nvPr/>
        </p:nvSpPr>
        <p:spPr>
          <a:xfrm>
            <a:off x="7863840" y="4718304"/>
            <a:ext cx="777240" cy="219456"/>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Barra de acento">
            <a:extLst>
              <a:ext uri="{C183D7F6-B498-43B3-948B-1728B52AA6E4}">
                <adec:decorative xmlns:adec="http://schemas.microsoft.com/office/drawing/2017/decorative" val="1"/>
              </a:ext>
            </a:extLst>
          </p:cNvPr>
          <p:cNvSpPr/>
          <p:nvPr/>
        </p:nvSpPr>
        <p:spPr>
          <a:xfrm>
            <a:off x="502920" y="384048"/>
            <a:ext cx="54864" cy="566928"/>
          </a:xfrm>
          <a:prstGeom prst="rect">
            <a:avLst/>
          </a:prstGeom>
          <a:solidFill>
            <a:srgbClr val="7EE787"/>
          </a:solidFill>
          <a:ln/>
        </p:spPr>
      </p:sp>
      <p:sp>
        <p:nvSpPr>
          <p:cNvPr id="3" name="Text 1"/>
          <p:cNvSpPr/>
          <p:nvPr/>
        </p:nvSpPr>
        <p:spPr>
          <a:xfrm>
            <a:off x="713232" y="365760"/>
            <a:ext cx="7955280" cy="219456"/>
          </a:xfrm>
          <a:prstGeom prst="rect">
            <a:avLst/>
          </a:prstGeom>
          <a:noFill/>
          <a:ln/>
        </p:spPr>
        <p:txBody>
          <a:bodyPr wrap="square" lIns="0" tIns="0" rIns="0" bIns="0" rtlCol="0" anchor="ctr"/>
          <a:lstStyle/>
          <a:p>
            <a:pPr marL="0" indent="0">
              <a:buNone/>
            </a:pPr>
            <a:r>
              <a:rPr lang="en-US" sz="1000" kern="0" spc="200" dirty="0">
                <a:solidFill>
                  <a:srgbClr val="7EE787"/>
                </a:solidFill>
                <a:latin typeface="Consolas" pitchFamily="34" charset="0"/>
                <a:ea typeface="Consolas" pitchFamily="34" charset="-122"/>
                <a:cs typeface="Consolas" pitchFamily="34" charset="-120"/>
              </a:rPr>
              <a:t>TÉCNICAS APLICADAS</a:t>
            </a:r>
            <a:endParaRPr lang="en-US" sz="1000" dirty="0"/>
          </a:p>
        </p:txBody>
      </p:sp>
      <p:sp>
        <p:nvSpPr>
          <p:cNvPr id="4" name="Text 2"/>
          <p:cNvSpPr/>
          <p:nvPr/>
        </p:nvSpPr>
        <p:spPr>
          <a:xfrm>
            <a:off x="713232" y="566928"/>
            <a:ext cx="7955280" cy="411480"/>
          </a:xfrm>
          <a:prstGeom prst="rect">
            <a:avLst/>
          </a:prstGeom>
          <a:noFill/>
          <a:ln/>
        </p:spPr>
        <p:txBody>
          <a:bodyPr wrap="square" lIns="0" tIns="0" rIns="0" bIns="0" rtlCol="0" anchor="ctr"/>
          <a:lstStyle/>
          <a:p>
            <a:pPr marL="0" indent="0">
              <a:buNone/>
            </a:pPr>
            <a:r>
              <a:rPr lang="en-US" sz="2600" b="1" dirty="0">
                <a:solidFill>
                  <a:srgbClr val="E6EDF3"/>
                </a:solidFill>
                <a:latin typeface="Segoe UI" pitchFamily="34" charset="0"/>
                <a:ea typeface="Segoe UI" pitchFamily="34" charset="-122"/>
                <a:cs typeface="Segoe UI" pitchFamily="34" charset="-120"/>
              </a:rPr>
              <a:t>Contexto selectivo</a:t>
            </a:r>
            <a:endParaRPr lang="en-US" sz="2600" dirty="0"/>
          </a:p>
        </p:txBody>
      </p:sp>
      <p:sp>
        <p:nvSpPr>
          <p:cNvPr id="5" name="Text 3"/>
          <p:cNvSpPr/>
          <p:nvPr/>
        </p:nvSpPr>
        <p:spPr>
          <a:xfrm>
            <a:off x="713232" y="1188720"/>
            <a:ext cx="7744968" cy="320040"/>
          </a:xfrm>
          <a:prstGeom prst="rect">
            <a:avLst/>
          </a:prstGeom>
          <a:noFill/>
          <a:ln/>
        </p:spPr>
        <p:txBody>
          <a:bodyPr wrap="square" lIns="0" tIns="0" rIns="0" bIns="0" rtlCol="0" anchor="ctr"/>
          <a:lstStyle/>
          <a:p>
            <a:pPr marL="0" indent="0">
              <a:buNone/>
            </a:pPr>
            <a:r>
              <a:rPr lang="en-US" sz="1250" dirty="0">
                <a:solidFill>
                  <a:srgbClr val="8B949E"/>
                </a:solidFill>
                <a:latin typeface="Segoe UI" pitchFamily="34" charset="0"/>
                <a:ea typeface="Segoe UI" pitchFamily="34" charset="-122"/>
                <a:cs typeface="Segoe UI" pitchFamily="34" charset="-120"/>
              </a:rPr>
              <a:t>Copilot puede ofrecer sugerencias según el contexto en el que se trabaja, sin necesidad de abrir numerosos archivos.</a:t>
            </a:r>
            <a:endParaRPr lang="en-US" sz="1250" dirty="0"/>
          </a:p>
        </p:txBody>
      </p:sp>
      <p:sp>
        <p:nvSpPr>
          <p:cNvPr id="6" name="Contenedor de contexto">
            <a:extLst>
              <a:ext uri="{C183D7F6-B498-43B3-948B-1728B52AA6E4}">
                <adec:decorative xmlns:adec="http://schemas.microsoft.com/office/drawing/2017/decorative" val="1"/>
              </a:ext>
            </a:extLst>
          </p:cNvPr>
          <p:cNvSpPr/>
          <p:nvPr/>
        </p:nvSpPr>
        <p:spPr>
          <a:xfrm>
            <a:off x="713232" y="1645920"/>
            <a:ext cx="2468880" cy="566928"/>
          </a:xfrm>
          <a:prstGeom prst="rect">
            <a:avLst/>
          </a:prstGeom>
          <a:solidFill>
            <a:srgbClr val="161B22"/>
          </a:solidFill>
          <a:ln w="12700">
            <a:solidFill>
              <a:srgbClr val="30363D"/>
            </a:solidFill>
            <a:prstDash val="solid"/>
          </a:ln>
        </p:spPr>
      </p:sp>
      <p:sp>
        <p:nvSpPr>
          <p:cNvPr id="7" name="Acento">
            <a:extLst>
              <a:ext uri="{C183D7F6-B498-43B3-948B-1728B52AA6E4}">
                <adec:decorative xmlns:adec="http://schemas.microsoft.com/office/drawing/2017/decorative" val="1"/>
              </a:ext>
            </a:extLst>
          </p:cNvPr>
          <p:cNvSpPr/>
          <p:nvPr/>
        </p:nvSpPr>
        <p:spPr>
          <a:xfrm>
            <a:off x="713232" y="1645920"/>
            <a:ext cx="45720" cy="566928"/>
          </a:xfrm>
          <a:prstGeom prst="rect">
            <a:avLst/>
          </a:prstGeom>
          <a:solidFill>
            <a:srgbClr val="7EE787"/>
          </a:solidFill>
          <a:ln/>
        </p:spPr>
      </p:sp>
      <p:sp>
        <p:nvSpPr>
          <p:cNvPr id="8" name="Text 6"/>
          <p:cNvSpPr/>
          <p:nvPr/>
        </p:nvSpPr>
        <p:spPr>
          <a:xfrm>
            <a:off x="914400" y="1645920"/>
            <a:ext cx="2194560" cy="566928"/>
          </a:xfrm>
          <a:prstGeom prst="rect">
            <a:avLst/>
          </a:prstGeom>
          <a:noFill/>
          <a:ln/>
        </p:spPr>
        <p:txBody>
          <a:bodyPr wrap="square" lIns="0" tIns="0" rIns="0" bIns="0" rtlCol="0" anchor="ctr"/>
          <a:lstStyle/>
          <a:p>
            <a:pPr marL="0" indent="0">
              <a:buNone/>
            </a:pPr>
            <a:r>
              <a:rPr lang="en-US" sz="1150" dirty="0">
                <a:solidFill>
                  <a:srgbClr val="E6EDF3"/>
                </a:solidFill>
                <a:latin typeface="Segoe UI" pitchFamily="34" charset="0"/>
                <a:ea typeface="Segoe UI" pitchFamily="34" charset="-122"/>
                <a:cs typeface="Segoe UI" pitchFamily="34" charset="-120"/>
              </a:rPr>
              <a:t>Todo el área de trabajo</a:t>
            </a:r>
            <a:endParaRPr lang="en-US" sz="1150" dirty="0"/>
          </a:p>
        </p:txBody>
      </p:sp>
      <p:sp>
        <p:nvSpPr>
          <p:cNvPr id="9" name="Contenedor de contexto">
            <a:extLst>
              <a:ext uri="{C183D7F6-B498-43B3-948B-1728B52AA6E4}">
                <adec:decorative xmlns:adec="http://schemas.microsoft.com/office/drawing/2017/decorative" val="1"/>
              </a:ext>
            </a:extLst>
          </p:cNvPr>
          <p:cNvSpPr/>
          <p:nvPr/>
        </p:nvSpPr>
        <p:spPr>
          <a:xfrm>
            <a:off x="3364992" y="1645920"/>
            <a:ext cx="2468880" cy="566928"/>
          </a:xfrm>
          <a:prstGeom prst="rect">
            <a:avLst/>
          </a:prstGeom>
          <a:solidFill>
            <a:srgbClr val="161B22"/>
          </a:solidFill>
          <a:ln w="12700">
            <a:solidFill>
              <a:srgbClr val="30363D"/>
            </a:solidFill>
            <a:prstDash val="solid"/>
          </a:ln>
        </p:spPr>
      </p:sp>
      <p:sp>
        <p:nvSpPr>
          <p:cNvPr id="10" name="Acento">
            <a:extLst>
              <a:ext uri="{C183D7F6-B498-43B3-948B-1728B52AA6E4}">
                <adec:decorative xmlns:adec="http://schemas.microsoft.com/office/drawing/2017/decorative" val="1"/>
              </a:ext>
            </a:extLst>
          </p:cNvPr>
          <p:cNvSpPr/>
          <p:nvPr/>
        </p:nvSpPr>
        <p:spPr>
          <a:xfrm>
            <a:off x="3364992" y="1645920"/>
            <a:ext cx="45720" cy="566928"/>
          </a:xfrm>
          <a:prstGeom prst="rect">
            <a:avLst/>
          </a:prstGeom>
          <a:solidFill>
            <a:srgbClr val="58A6FF"/>
          </a:solidFill>
          <a:ln/>
        </p:spPr>
      </p:sp>
      <p:sp>
        <p:nvSpPr>
          <p:cNvPr id="11" name="Text 9"/>
          <p:cNvSpPr/>
          <p:nvPr/>
        </p:nvSpPr>
        <p:spPr>
          <a:xfrm>
            <a:off x="3566160" y="1645920"/>
            <a:ext cx="2194560" cy="566928"/>
          </a:xfrm>
          <a:prstGeom prst="rect">
            <a:avLst/>
          </a:prstGeom>
          <a:noFill/>
          <a:ln/>
        </p:spPr>
        <p:txBody>
          <a:bodyPr wrap="square" lIns="0" tIns="0" rIns="0" bIns="0" rtlCol="0" anchor="ctr"/>
          <a:lstStyle/>
          <a:p>
            <a:pPr marL="0" indent="0">
              <a:buNone/>
            </a:pPr>
            <a:r>
              <a:rPr lang="en-US" sz="1150" dirty="0">
                <a:solidFill>
                  <a:srgbClr val="E6EDF3"/>
                </a:solidFill>
                <a:latin typeface="Segoe UI" pitchFamily="34" charset="0"/>
                <a:ea typeface="Segoe UI" pitchFamily="34" charset="-122"/>
                <a:cs typeface="Segoe UI" pitchFamily="34" charset="-120"/>
              </a:rPr>
              <a:t>La salida del terminal</a:t>
            </a:r>
            <a:endParaRPr lang="en-US" sz="1150" dirty="0"/>
          </a:p>
        </p:txBody>
      </p:sp>
      <p:sp>
        <p:nvSpPr>
          <p:cNvPr id="12" name="Contenedor de contexto">
            <a:extLst>
              <a:ext uri="{C183D7F6-B498-43B3-948B-1728B52AA6E4}">
                <adec:decorative xmlns:adec="http://schemas.microsoft.com/office/drawing/2017/decorative" val="1"/>
              </a:ext>
            </a:extLst>
          </p:cNvPr>
          <p:cNvSpPr/>
          <p:nvPr/>
        </p:nvSpPr>
        <p:spPr>
          <a:xfrm>
            <a:off x="6016752" y="1645920"/>
            <a:ext cx="2468880" cy="566928"/>
          </a:xfrm>
          <a:prstGeom prst="rect">
            <a:avLst/>
          </a:prstGeom>
          <a:solidFill>
            <a:srgbClr val="161B22"/>
          </a:solidFill>
          <a:ln w="12700">
            <a:solidFill>
              <a:srgbClr val="30363D"/>
            </a:solidFill>
            <a:prstDash val="solid"/>
          </a:ln>
        </p:spPr>
      </p:sp>
      <p:sp>
        <p:nvSpPr>
          <p:cNvPr id="13" name="Acento">
            <a:extLst>
              <a:ext uri="{C183D7F6-B498-43B3-948B-1728B52AA6E4}">
                <adec:decorative xmlns:adec="http://schemas.microsoft.com/office/drawing/2017/decorative" val="1"/>
              </a:ext>
            </a:extLst>
          </p:cNvPr>
          <p:cNvSpPr/>
          <p:nvPr/>
        </p:nvSpPr>
        <p:spPr>
          <a:xfrm>
            <a:off x="6016752" y="1645920"/>
            <a:ext cx="45720" cy="566928"/>
          </a:xfrm>
          <a:prstGeom prst="rect">
            <a:avLst/>
          </a:prstGeom>
          <a:solidFill>
            <a:srgbClr val="7EE787"/>
          </a:solidFill>
          <a:ln/>
        </p:spPr>
      </p:sp>
      <p:sp>
        <p:nvSpPr>
          <p:cNvPr id="14" name="Text 12"/>
          <p:cNvSpPr/>
          <p:nvPr/>
        </p:nvSpPr>
        <p:spPr>
          <a:xfrm>
            <a:off x="6217920" y="1645920"/>
            <a:ext cx="2194560" cy="566928"/>
          </a:xfrm>
          <a:prstGeom prst="rect">
            <a:avLst/>
          </a:prstGeom>
          <a:noFill/>
          <a:ln/>
        </p:spPr>
        <p:txBody>
          <a:bodyPr wrap="square" lIns="0" tIns="0" rIns="0" bIns="0" rtlCol="0" anchor="ctr"/>
          <a:lstStyle/>
          <a:p>
            <a:pPr marL="0" indent="0">
              <a:buNone/>
            </a:pPr>
            <a:r>
              <a:rPr lang="en-US" sz="1150" dirty="0">
                <a:solidFill>
                  <a:srgbClr val="E6EDF3"/>
                </a:solidFill>
                <a:latin typeface="Segoe UI" pitchFamily="34" charset="0"/>
                <a:ea typeface="Segoe UI" pitchFamily="34" charset="-122"/>
                <a:cs typeface="Segoe UI" pitchFamily="34" charset="-120"/>
              </a:rPr>
              <a:t>Los archivos abiertos en el editor</a:t>
            </a:r>
            <a:endParaRPr lang="en-US" sz="1150" dirty="0"/>
          </a:p>
        </p:txBody>
      </p:sp>
      <p:sp>
        <p:nvSpPr>
          <p:cNvPr id="15" name="Text 13"/>
          <p:cNvSpPr/>
          <p:nvPr/>
        </p:nvSpPr>
        <p:spPr>
          <a:xfrm>
            <a:off x="713232" y="2395728"/>
            <a:ext cx="7744968" cy="274320"/>
          </a:xfrm>
          <a:prstGeom prst="rect">
            <a:avLst/>
          </a:prstGeom>
          <a:noFill/>
          <a:ln/>
        </p:spPr>
        <p:txBody>
          <a:bodyPr wrap="square" lIns="0" tIns="0" rIns="0" bIns="0" rtlCol="0" anchor="ctr"/>
          <a:lstStyle/>
          <a:p>
            <a:pPr marL="0" indent="0">
              <a:buNone/>
            </a:pPr>
            <a:r>
              <a:rPr lang="en-US" sz="1300" b="1" dirty="0">
                <a:solidFill>
                  <a:srgbClr val="E6EDF3"/>
                </a:solidFill>
                <a:latin typeface="Segoe UI" pitchFamily="34" charset="0"/>
                <a:ea typeface="Segoe UI" pitchFamily="34" charset="-122"/>
                <a:cs typeface="Segoe UI" pitchFamily="34" charset="-120"/>
              </a:rPr>
              <a:t>Ejemplos de solicitud</a:t>
            </a:r>
            <a:endParaRPr lang="en-US" sz="1300" dirty="0"/>
          </a:p>
        </p:txBody>
      </p:sp>
      <p:sp>
        <p:nvSpPr>
          <p:cNvPr id="16" name="Bloque de código">
            <a:extLst>
              <a:ext uri="{C183D7F6-B498-43B3-948B-1728B52AA6E4}">
                <adec:decorative xmlns:adec="http://schemas.microsoft.com/office/drawing/2017/decorative" val="1"/>
              </a:ext>
            </a:extLst>
          </p:cNvPr>
          <p:cNvSpPr/>
          <p:nvPr/>
        </p:nvSpPr>
        <p:spPr>
          <a:xfrm>
            <a:off x="713232" y="2743200"/>
            <a:ext cx="7744968" cy="566928"/>
          </a:xfrm>
          <a:prstGeom prst="rect">
            <a:avLst/>
          </a:prstGeom>
          <a:solidFill>
            <a:srgbClr val="010409"/>
          </a:solidFill>
          <a:ln w="12700">
            <a:solidFill>
              <a:srgbClr val="30363D"/>
            </a:solidFill>
            <a:prstDash val="solid"/>
          </a:ln>
        </p:spPr>
      </p:sp>
      <p:sp>
        <p:nvSpPr>
          <p:cNvPr id="17" name="Text 15"/>
          <p:cNvSpPr/>
          <p:nvPr/>
        </p:nvSpPr>
        <p:spPr>
          <a:xfrm>
            <a:off x="896112" y="2871216"/>
            <a:ext cx="7379208" cy="310896"/>
          </a:xfrm>
          <a:prstGeom prst="rect">
            <a:avLst/>
          </a:prstGeom>
          <a:noFill/>
          <a:ln/>
        </p:spPr>
        <p:txBody>
          <a:bodyPr wrap="square" lIns="0" tIns="0" rIns="0" bIns="0" rtlCol="0" anchor="t"/>
          <a:lstStyle/>
          <a:p>
            <a:pPr marL="0" indent="0">
              <a:lnSpc>
                <a:spcPct val="120000"/>
              </a:lnSpc>
              <a:buNone/>
            </a:pPr>
            <a:r>
              <a:rPr lang="en-US" sz="1000" dirty="0">
                <a:solidFill>
                  <a:srgbClr val="7EE787"/>
                </a:solidFill>
                <a:latin typeface="Consolas" pitchFamily="34" charset="0"/>
                <a:ea typeface="Consolas" pitchFamily="34" charset="-122"/>
                <a:cs typeface="Consolas" pitchFamily="34" charset="-120"/>
              </a:rPr>
              <a:t>I need to create a Dockerfile for this project, can you generate one that will help me package it?</a:t>
            </a:r>
            <a:endParaRPr lang="en-US" sz="1000" dirty="0"/>
          </a:p>
        </p:txBody>
      </p:sp>
      <p:sp>
        <p:nvSpPr>
          <p:cNvPr id="18" name="Bloque de código">
            <a:extLst>
              <a:ext uri="{C183D7F6-B498-43B3-948B-1728B52AA6E4}">
                <adec:decorative xmlns:adec="http://schemas.microsoft.com/office/drawing/2017/decorative" val="1"/>
              </a:ext>
            </a:extLst>
          </p:cNvPr>
          <p:cNvSpPr/>
          <p:nvPr/>
        </p:nvSpPr>
        <p:spPr>
          <a:xfrm>
            <a:off x="713232" y="3346704"/>
            <a:ext cx="7744968" cy="548640"/>
          </a:xfrm>
          <a:prstGeom prst="rect">
            <a:avLst/>
          </a:prstGeom>
          <a:solidFill>
            <a:srgbClr val="010409"/>
          </a:solidFill>
          <a:ln w="12700">
            <a:solidFill>
              <a:srgbClr val="30363D"/>
            </a:solidFill>
            <a:prstDash val="solid"/>
          </a:ln>
        </p:spPr>
      </p:sp>
      <p:sp>
        <p:nvSpPr>
          <p:cNvPr id="19" name="Text 17"/>
          <p:cNvSpPr/>
          <p:nvPr/>
        </p:nvSpPr>
        <p:spPr>
          <a:xfrm>
            <a:off x="896112" y="3474720"/>
            <a:ext cx="7379208" cy="292608"/>
          </a:xfrm>
          <a:prstGeom prst="rect">
            <a:avLst/>
          </a:prstGeom>
          <a:noFill/>
          <a:ln/>
        </p:spPr>
        <p:txBody>
          <a:bodyPr wrap="square" lIns="0" tIns="0" rIns="0" bIns="0" rtlCol="0" anchor="t"/>
          <a:lstStyle/>
          <a:p>
            <a:pPr marL="0" indent="0">
              <a:lnSpc>
                <a:spcPct val="120000"/>
              </a:lnSpc>
              <a:buNone/>
            </a:pPr>
            <a:r>
              <a:rPr lang="en-US" sz="1000" dirty="0">
                <a:solidFill>
                  <a:srgbClr val="7EE787"/>
                </a:solidFill>
                <a:latin typeface="Consolas" pitchFamily="34" charset="0"/>
                <a:ea typeface="Consolas" pitchFamily="34" charset="-122"/>
                <a:cs typeface="Consolas" pitchFamily="34" charset="-120"/>
              </a:rPr>
              <a:t>Help me create a Dockerfile to package this project but make sure you are using a Virtual Environment for Python.</a:t>
            </a:r>
            <a:endParaRPr lang="en-US" sz="1000" dirty="0"/>
          </a:p>
        </p:txBody>
      </p:sp>
      <p:sp>
        <p:nvSpPr>
          <p:cNvPr id="20" name="Bloque de código">
            <a:extLst>
              <a:ext uri="{C183D7F6-B498-43B3-948B-1728B52AA6E4}">
                <adec:decorative xmlns:adec="http://schemas.microsoft.com/office/drawing/2017/decorative" val="1"/>
              </a:ext>
            </a:extLst>
          </p:cNvPr>
          <p:cNvSpPr/>
          <p:nvPr/>
        </p:nvSpPr>
        <p:spPr>
          <a:xfrm>
            <a:off x="713232" y="3986784"/>
            <a:ext cx="7744968" cy="548640"/>
          </a:xfrm>
          <a:prstGeom prst="rect">
            <a:avLst/>
          </a:prstGeom>
          <a:solidFill>
            <a:srgbClr val="010409"/>
          </a:solidFill>
          <a:ln w="12700">
            <a:solidFill>
              <a:srgbClr val="30363D"/>
            </a:solidFill>
            <a:prstDash val="solid"/>
          </a:ln>
        </p:spPr>
      </p:sp>
      <p:sp>
        <p:nvSpPr>
          <p:cNvPr id="21" name="Text 19"/>
          <p:cNvSpPr/>
          <p:nvPr/>
        </p:nvSpPr>
        <p:spPr>
          <a:xfrm>
            <a:off x="896112" y="4114800"/>
            <a:ext cx="7379208" cy="292608"/>
          </a:xfrm>
          <a:prstGeom prst="rect">
            <a:avLst/>
          </a:prstGeom>
          <a:noFill/>
          <a:ln/>
        </p:spPr>
        <p:txBody>
          <a:bodyPr wrap="square" lIns="0" tIns="0" rIns="0" bIns="0" rtlCol="0" anchor="t"/>
          <a:lstStyle/>
          <a:p>
            <a:pPr marL="0" indent="0">
              <a:lnSpc>
                <a:spcPct val="120000"/>
              </a:lnSpc>
              <a:buNone/>
            </a:pPr>
            <a:r>
              <a:rPr lang="en-US" sz="1000" dirty="0">
                <a:solidFill>
                  <a:srgbClr val="58A6FF"/>
                </a:solidFill>
                <a:latin typeface="Consolas" pitchFamily="34" charset="0"/>
                <a:ea typeface="Consolas" pitchFamily="34" charset="-122"/>
                <a:cs typeface="Consolas" pitchFamily="34" charset="-120"/>
              </a:rPr>
              <a:t>@terminal ¿Cómo se corrige el mensaje de error que veo?</a:t>
            </a:r>
            <a:endParaRPr lang="en-US" sz="1000" dirty="0"/>
          </a:p>
        </p:txBody>
      </p:sp>
      <p:sp>
        <p:nvSpPr>
          <p:cNvPr id="22" name="Línea de pie">
            <a:extLst>
              <a:ext uri="{C183D7F6-B498-43B3-948B-1728B52AA6E4}">
                <adec:decorative xmlns:adec="http://schemas.microsoft.com/office/drawing/2017/decorative" val="1"/>
              </a:ext>
            </a:extLst>
          </p:cNvPr>
          <p:cNvSpPr/>
          <p:nvPr/>
        </p:nvSpPr>
        <p:spPr>
          <a:xfrm>
            <a:off x="0" y="4956048"/>
            <a:ext cx="9144000" cy="13716"/>
          </a:xfrm>
          <a:prstGeom prst="rect">
            <a:avLst/>
          </a:prstGeom>
          <a:solidFill>
            <a:srgbClr val="30363D"/>
          </a:solidFill>
          <a:ln/>
        </p:spPr>
      </p:sp>
      <p:sp>
        <p:nvSpPr>
          <p:cNvPr id="23" name="Text 21"/>
          <p:cNvSpPr/>
          <p:nvPr/>
        </p:nvSpPr>
        <p:spPr>
          <a:xfrm>
            <a:off x="502920" y="4718304"/>
            <a:ext cx="5486400" cy="219456"/>
          </a:xfrm>
          <a:prstGeom prst="rect">
            <a:avLst/>
          </a:prstGeom>
          <a:noFill/>
          <a:ln/>
        </p:spPr>
        <p:txBody>
          <a:bodyPr wrap="square" lIns="0" tIns="0" rIns="0" bIns="0"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GitHub Copilot — Características avanzadas</a:t>
            </a:r>
            <a:endParaRPr lang="en-US" sz="900" dirty="0"/>
          </a:p>
        </p:txBody>
      </p:sp>
      <p:sp>
        <p:nvSpPr>
          <p:cNvPr id="24" name="Text 22"/>
          <p:cNvSpPr/>
          <p:nvPr/>
        </p:nvSpPr>
        <p:spPr>
          <a:xfrm>
            <a:off x="7863840" y="4718304"/>
            <a:ext cx="777240" cy="219456"/>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2" name="Barra de acento">
            <a:extLst>
              <a:ext uri="{C183D7F6-B498-43B3-948B-1728B52AA6E4}">
                <adec:decorative xmlns:adec="http://schemas.microsoft.com/office/drawing/2017/decorative" val="1"/>
              </a:ext>
            </a:extLst>
          </p:cNvPr>
          <p:cNvSpPr/>
          <p:nvPr/>
        </p:nvSpPr>
        <p:spPr>
          <a:xfrm>
            <a:off x="502920" y="384048"/>
            <a:ext cx="54864" cy="566928"/>
          </a:xfrm>
          <a:prstGeom prst="rect">
            <a:avLst/>
          </a:prstGeom>
          <a:solidFill>
            <a:srgbClr val="7EE787"/>
          </a:solidFill>
          <a:ln/>
        </p:spPr>
      </p:sp>
      <p:sp>
        <p:nvSpPr>
          <p:cNvPr id="3" name="Text 1"/>
          <p:cNvSpPr/>
          <p:nvPr/>
        </p:nvSpPr>
        <p:spPr>
          <a:xfrm>
            <a:off x="713232" y="365760"/>
            <a:ext cx="7955280" cy="219456"/>
          </a:xfrm>
          <a:prstGeom prst="rect">
            <a:avLst/>
          </a:prstGeom>
          <a:noFill/>
          <a:ln/>
        </p:spPr>
        <p:txBody>
          <a:bodyPr wrap="square" lIns="0" tIns="0" rIns="0" bIns="0" rtlCol="0" anchor="ctr"/>
          <a:lstStyle/>
          <a:p>
            <a:pPr marL="0" indent="0">
              <a:buNone/>
            </a:pPr>
            <a:r>
              <a:rPr lang="en-US" sz="1000" kern="0" spc="200" dirty="0">
                <a:solidFill>
                  <a:srgbClr val="7EE787"/>
                </a:solidFill>
                <a:latin typeface="Consolas" pitchFamily="34" charset="0"/>
                <a:ea typeface="Consolas" pitchFamily="34" charset="-122"/>
                <a:cs typeface="Consolas" pitchFamily="34" charset="-120"/>
              </a:rPr>
              <a:t>EJERCICIO 2</a:t>
            </a:r>
            <a:endParaRPr lang="en-US" sz="1000" dirty="0"/>
          </a:p>
        </p:txBody>
      </p:sp>
      <p:sp>
        <p:nvSpPr>
          <p:cNvPr id="4" name="Text 2"/>
          <p:cNvSpPr/>
          <p:nvPr/>
        </p:nvSpPr>
        <p:spPr>
          <a:xfrm>
            <a:off x="713232" y="566928"/>
            <a:ext cx="7955280" cy="411480"/>
          </a:xfrm>
          <a:prstGeom prst="rect">
            <a:avLst/>
          </a:prstGeom>
          <a:noFill/>
          <a:ln/>
        </p:spPr>
        <p:txBody>
          <a:bodyPr wrap="square" lIns="0" tIns="0" rIns="0" bIns="0" rtlCol="0" anchor="ctr"/>
          <a:lstStyle/>
          <a:p>
            <a:pPr marL="0" indent="0">
              <a:buNone/>
            </a:pPr>
            <a:r>
              <a:rPr lang="en-US" sz="2600" b="1" dirty="0">
                <a:solidFill>
                  <a:srgbClr val="E6EDF3"/>
                </a:solidFill>
                <a:latin typeface="Segoe UI" pitchFamily="34" charset="0"/>
                <a:ea typeface="Segoe UI" pitchFamily="34" charset="-122"/>
                <a:cs typeface="Segoe UI" pitchFamily="34" charset="-120"/>
              </a:rPr>
              <a:t>Actualizar una API web con Copilot</a:t>
            </a:r>
            <a:endParaRPr lang="en-US" sz="2600" dirty="0"/>
          </a:p>
        </p:txBody>
      </p:sp>
      <p:sp>
        <p:nvSpPr>
          <p:cNvPr id="5" name="Text 3"/>
          <p:cNvSpPr/>
          <p:nvPr/>
        </p:nvSpPr>
        <p:spPr>
          <a:xfrm>
            <a:off x="713232" y="1170432"/>
            <a:ext cx="5074920" cy="896112"/>
          </a:xfrm>
          <a:prstGeom prst="rect">
            <a:avLst/>
          </a:prstGeom>
          <a:noFill/>
          <a:ln/>
        </p:spPr>
        <p:txBody>
          <a:bodyPr wrap="square" lIns="0" tIns="0" rIns="0" bIns="0" rtlCol="0" anchor="ctr"/>
          <a:lstStyle/>
          <a:p>
            <a:pPr marL="0" indent="0">
              <a:lnSpc>
                <a:spcPct val="115000"/>
              </a:lnSpc>
              <a:buNone/>
            </a:pPr>
            <a:r>
              <a:rPr lang="en-US" sz="1050" dirty="0">
                <a:solidFill>
                  <a:srgbClr val="8B949E"/>
                </a:solidFill>
                <a:latin typeface="Segoe UI" pitchFamily="34" charset="0"/>
                <a:ea typeface="Segoe UI" pitchFamily="34" charset="-122"/>
                <a:cs typeface="Segoe UI" pitchFamily="34" charset="-120"/>
              </a:rPr>
              <a:t>El repositorio contiene una aplicación web de Python que hospeda una API de Tiempo de Viajes. La API no expone el país o región necesario para enumerar ciudades: hay que implementar una ruta GET que devuelva JSON con niveles históricos altos y bajos para un país, ciudad y mes determinados.</a:t>
            </a:r>
            <a:endParaRPr lang="en-US" sz="1050" dirty="0"/>
          </a:p>
        </p:txBody>
      </p:sp>
      <p:sp>
        <p:nvSpPr>
          <p:cNvPr id="6" name="Tarjeta de paso">
            <a:extLst>
              <a:ext uri="{C183D7F6-B498-43B3-948B-1728B52AA6E4}">
                <adec:decorative xmlns:adec="http://schemas.microsoft.com/office/drawing/2017/decorative" val="1"/>
              </a:ext>
            </a:extLst>
          </p:cNvPr>
          <p:cNvSpPr/>
          <p:nvPr/>
        </p:nvSpPr>
        <p:spPr>
          <a:xfrm>
            <a:off x="713232" y="2121408"/>
            <a:ext cx="5074920" cy="749808"/>
          </a:xfrm>
          <a:prstGeom prst="rect">
            <a:avLst/>
          </a:prstGeom>
          <a:solidFill>
            <a:srgbClr val="161B22"/>
          </a:solidFill>
          <a:ln w="12700">
            <a:solidFill>
              <a:srgbClr val="30363D"/>
            </a:solidFill>
            <a:prstDash val="solid"/>
          </a:ln>
        </p:spPr>
      </p:sp>
      <p:sp>
        <p:nvSpPr>
          <p:cNvPr id="7" name="Acento de paso">
            <a:extLst>
              <a:ext uri="{C183D7F6-B498-43B3-948B-1728B52AA6E4}">
                <adec:decorative xmlns:adec="http://schemas.microsoft.com/office/drawing/2017/decorative" val="1"/>
              </a:ext>
            </a:extLst>
          </p:cNvPr>
          <p:cNvSpPr/>
          <p:nvPr/>
        </p:nvSpPr>
        <p:spPr>
          <a:xfrm>
            <a:off x="713232" y="2121408"/>
            <a:ext cx="45720" cy="749808"/>
          </a:xfrm>
          <a:prstGeom prst="rect">
            <a:avLst/>
          </a:prstGeom>
          <a:solidFill>
            <a:srgbClr val="7EE787"/>
          </a:solidFill>
          <a:ln/>
        </p:spPr>
      </p:sp>
      <p:sp>
        <p:nvSpPr>
          <p:cNvPr id="8" name="Text 6"/>
          <p:cNvSpPr/>
          <p:nvPr/>
        </p:nvSpPr>
        <p:spPr>
          <a:xfrm>
            <a:off x="914400" y="2194560"/>
            <a:ext cx="4709160" cy="237744"/>
          </a:xfrm>
          <a:prstGeom prst="rect">
            <a:avLst/>
          </a:prstGeom>
          <a:noFill/>
          <a:ln/>
        </p:spPr>
        <p:txBody>
          <a:bodyPr wrap="square" lIns="0" tIns="0" rIns="0" bIns="0" rtlCol="0" anchor="ctr"/>
          <a:lstStyle/>
          <a:p>
            <a:pPr marL="0" indent="0">
              <a:buNone/>
            </a:pPr>
            <a:r>
              <a:rPr lang="en-US" sz="1150" b="1" dirty="0">
                <a:solidFill>
                  <a:srgbClr val="E6EDF3"/>
                </a:solidFill>
                <a:latin typeface="Segoe UI" pitchFamily="34" charset="0"/>
                <a:ea typeface="Segoe UI" pitchFamily="34" charset="-122"/>
                <a:cs typeface="Segoe UI" pitchFamily="34" charset="-120"/>
              </a:rPr>
              <a:t>Paso 1 · Agregar una nueva ruta</a:t>
            </a:r>
            <a:endParaRPr lang="en-US" sz="1150" dirty="0"/>
          </a:p>
        </p:txBody>
      </p:sp>
      <p:sp>
        <p:nvSpPr>
          <p:cNvPr id="9" name="Text 7"/>
          <p:cNvSpPr/>
          <p:nvPr/>
        </p:nvSpPr>
        <p:spPr>
          <a:xfrm>
            <a:off x="914400" y="2432304"/>
            <a:ext cx="4709160" cy="384048"/>
          </a:xfrm>
          <a:prstGeom prst="rect">
            <a:avLst/>
          </a:prstGeom>
          <a:noFill/>
          <a:ln/>
        </p:spPr>
        <p:txBody>
          <a:bodyPr wrap="square" lIns="0" tIns="0" rIns="0" bIns="0" rtlCol="0" anchor="ctr"/>
          <a:lstStyle/>
          <a:p>
            <a:pPr marL="0" indent="0">
              <a:lnSpc>
                <a:spcPct val="110000"/>
              </a:lnSpc>
              <a:buNone/>
            </a:pPr>
            <a:r>
              <a:rPr lang="en-US" sz="950" dirty="0">
                <a:solidFill>
                  <a:srgbClr val="8B949E"/>
                </a:solidFill>
                <a:latin typeface="Segoe UI" pitchFamily="34" charset="0"/>
                <a:ea typeface="Segoe UI" pitchFamily="34" charset="-122"/>
                <a:cs typeface="Segoe UI" pitchFamily="34" charset="-120"/>
              </a:rPr>
              <a:t>Abrir main.py y usar el chat en línea: «Create a new route that exposes the cities of a country/region». Probar la ruta y perfeccionar el mensaje.</a:t>
            </a:r>
            <a:endParaRPr lang="en-US" sz="950" dirty="0"/>
          </a:p>
        </p:txBody>
      </p:sp>
      <p:sp>
        <p:nvSpPr>
          <p:cNvPr id="10" name="Tarjeta de paso">
            <a:extLst>
              <a:ext uri="{C183D7F6-B498-43B3-948B-1728B52AA6E4}">
                <adec:decorative xmlns:adec="http://schemas.microsoft.com/office/drawing/2017/decorative" val="1"/>
              </a:ext>
            </a:extLst>
          </p:cNvPr>
          <p:cNvSpPr/>
          <p:nvPr/>
        </p:nvSpPr>
        <p:spPr>
          <a:xfrm>
            <a:off x="713232" y="2962656"/>
            <a:ext cx="5074920" cy="749808"/>
          </a:xfrm>
          <a:prstGeom prst="rect">
            <a:avLst/>
          </a:prstGeom>
          <a:solidFill>
            <a:srgbClr val="161B22"/>
          </a:solidFill>
          <a:ln w="12700">
            <a:solidFill>
              <a:srgbClr val="30363D"/>
            </a:solidFill>
            <a:prstDash val="solid"/>
          </a:ln>
        </p:spPr>
      </p:sp>
      <p:sp>
        <p:nvSpPr>
          <p:cNvPr id="11" name="Acento de paso">
            <a:extLst>
              <a:ext uri="{C183D7F6-B498-43B3-948B-1728B52AA6E4}">
                <adec:decorative xmlns:adec="http://schemas.microsoft.com/office/drawing/2017/decorative" val="1"/>
              </a:ext>
            </a:extLst>
          </p:cNvPr>
          <p:cNvSpPr/>
          <p:nvPr/>
        </p:nvSpPr>
        <p:spPr>
          <a:xfrm>
            <a:off x="713232" y="2962656"/>
            <a:ext cx="45720" cy="749808"/>
          </a:xfrm>
          <a:prstGeom prst="rect">
            <a:avLst/>
          </a:prstGeom>
          <a:solidFill>
            <a:srgbClr val="58A6FF"/>
          </a:solidFill>
          <a:ln/>
        </p:spPr>
      </p:sp>
      <p:sp>
        <p:nvSpPr>
          <p:cNvPr id="12" name="Text 10"/>
          <p:cNvSpPr/>
          <p:nvPr/>
        </p:nvSpPr>
        <p:spPr>
          <a:xfrm>
            <a:off x="914400" y="3035808"/>
            <a:ext cx="4709160" cy="237744"/>
          </a:xfrm>
          <a:prstGeom prst="rect">
            <a:avLst/>
          </a:prstGeom>
          <a:noFill/>
          <a:ln/>
        </p:spPr>
        <p:txBody>
          <a:bodyPr wrap="square" lIns="0" tIns="0" rIns="0" bIns="0" rtlCol="0" anchor="ctr"/>
          <a:lstStyle/>
          <a:p>
            <a:pPr marL="0" indent="0">
              <a:buNone/>
            </a:pPr>
            <a:r>
              <a:rPr lang="en-US" sz="1150" b="1" dirty="0">
                <a:solidFill>
                  <a:srgbClr val="E6EDF3"/>
                </a:solidFill>
                <a:latin typeface="Segoe UI" pitchFamily="34" charset="0"/>
                <a:ea typeface="Segoe UI" pitchFamily="34" charset="-122"/>
                <a:cs typeface="Segoe UI" pitchFamily="34" charset="-120"/>
              </a:rPr>
              <a:t>Paso 2 · Crear una prueba</a:t>
            </a:r>
            <a:endParaRPr lang="en-US" sz="1150" dirty="0"/>
          </a:p>
        </p:txBody>
      </p:sp>
      <p:sp>
        <p:nvSpPr>
          <p:cNvPr id="13" name="Text 11"/>
          <p:cNvSpPr/>
          <p:nvPr/>
        </p:nvSpPr>
        <p:spPr>
          <a:xfrm>
            <a:off x="914400" y="3273552"/>
            <a:ext cx="4709160" cy="384048"/>
          </a:xfrm>
          <a:prstGeom prst="rect">
            <a:avLst/>
          </a:prstGeom>
          <a:noFill/>
          <a:ln/>
        </p:spPr>
        <p:txBody>
          <a:bodyPr wrap="square" lIns="0" tIns="0" rIns="0" bIns="0" rtlCol="0" anchor="ctr"/>
          <a:lstStyle/>
          <a:p>
            <a:pPr marL="0" indent="0">
              <a:lnSpc>
                <a:spcPct val="110000"/>
              </a:lnSpc>
              <a:buNone/>
            </a:pPr>
            <a:r>
              <a:rPr lang="en-US" sz="950" dirty="0">
                <a:solidFill>
                  <a:srgbClr val="8B949E"/>
                </a:solidFill>
                <a:latin typeface="Segoe UI" pitchFamily="34" charset="0"/>
                <a:ea typeface="Segoe UI" pitchFamily="34" charset="-122"/>
                <a:cs typeface="Segoe UI" pitchFamily="34" charset="-120"/>
              </a:rPr>
              <a:t>Usar /tests para generar una prueba que utilice España como país o región, y aportar detalles adicionales si el resultado no es correcto.</a:t>
            </a:r>
            <a:endParaRPr lang="en-US" sz="950" dirty="0"/>
          </a:p>
        </p:txBody>
      </p:sp>
      <p:sp>
        <p:nvSpPr>
          <p:cNvPr id="14" name="Tarjeta de paso">
            <a:extLst>
              <a:ext uri="{C183D7F6-B498-43B3-948B-1728B52AA6E4}">
                <adec:decorative xmlns:adec="http://schemas.microsoft.com/office/drawing/2017/decorative" val="1"/>
              </a:ext>
            </a:extLst>
          </p:cNvPr>
          <p:cNvSpPr/>
          <p:nvPr/>
        </p:nvSpPr>
        <p:spPr>
          <a:xfrm>
            <a:off x="713232" y="3803904"/>
            <a:ext cx="5074920" cy="749808"/>
          </a:xfrm>
          <a:prstGeom prst="rect">
            <a:avLst/>
          </a:prstGeom>
          <a:solidFill>
            <a:srgbClr val="161B22"/>
          </a:solidFill>
          <a:ln w="12700">
            <a:solidFill>
              <a:srgbClr val="30363D"/>
            </a:solidFill>
            <a:prstDash val="solid"/>
          </a:ln>
        </p:spPr>
      </p:sp>
      <p:sp>
        <p:nvSpPr>
          <p:cNvPr id="15" name="Acento de paso">
            <a:extLst>
              <a:ext uri="{C183D7F6-B498-43B3-948B-1728B52AA6E4}">
                <adec:decorative xmlns:adec="http://schemas.microsoft.com/office/drawing/2017/decorative" val="1"/>
              </a:ext>
            </a:extLst>
          </p:cNvPr>
          <p:cNvSpPr/>
          <p:nvPr/>
        </p:nvSpPr>
        <p:spPr>
          <a:xfrm>
            <a:off x="713232" y="3803904"/>
            <a:ext cx="45720" cy="749808"/>
          </a:xfrm>
          <a:prstGeom prst="rect">
            <a:avLst/>
          </a:prstGeom>
          <a:solidFill>
            <a:srgbClr val="7EE787"/>
          </a:solidFill>
          <a:ln/>
        </p:spPr>
      </p:sp>
      <p:sp>
        <p:nvSpPr>
          <p:cNvPr id="16" name="Text 14"/>
          <p:cNvSpPr/>
          <p:nvPr/>
        </p:nvSpPr>
        <p:spPr>
          <a:xfrm>
            <a:off x="914400" y="3877056"/>
            <a:ext cx="4709160" cy="237744"/>
          </a:xfrm>
          <a:prstGeom prst="rect">
            <a:avLst/>
          </a:prstGeom>
          <a:noFill/>
          <a:ln/>
        </p:spPr>
        <p:txBody>
          <a:bodyPr wrap="square" lIns="0" tIns="0" rIns="0" bIns="0" rtlCol="0" anchor="ctr"/>
          <a:lstStyle/>
          <a:p>
            <a:pPr marL="0" indent="0">
              <a:buNone/>
            </a:pPr>
            <a:r>
              <a:rPr lang="en-US" sz="1150" b="1" dirty="0">
                <a:solidFill>
                  <a:srgbClr val="E6EDF3"/>
                </a:solidFill>
                <a:latin typeface="Segoe UI" pitchFamily="34" charset="0"/>
                <a:ea typeface="Segoe UI" pitchFamily="34" charset="-122"/>
                <a:cs typeface="Segoe UI" pitchFamily="34" charset="-120"/>
              </a:rPr>
              <a:t>Paso 3 · Documentar con un agente</a:t>
            </a:r>
            <a:endParaRPr lang="en-US" sz="1150" dirty="0"/>
          </a:p>
        </p:txBody>
      </p:sp>
      <p:sp>
        <p:nvSpPr>
          <p:cNvPr id="17" name="Text 15"/>
          <p:cNvSpPr/>
          <p:nvPr/>
        </p:nvSpPr>
        <p:spPr>
          <a:xfrm>
            <a:off x="914400" y="4114800"/>
            <a:ext cx="4709160" cy="384048"/>
          </a:xfrm>
          <a:prstGeom prst="rect">
            <a:avLst/>
          </a:prstGeom>
          <a:noFill/>
          <a:ln/>
        </p:spPr>
        <p:txBody>
          <a:bodyPr wrap="square" lIns="0" tIns="0" rIns="0" bIns="0" rtlCol="0" anchor="ctr"/>
          <a:lstStyle/>
          <a:p>
            <a:pPr marL="0" indent="0">
              <a:lnSpc>
                <a:spcPct val="110000"/>
              </a:lnSpc>
              <a:buNone/>
            </a:pPr>
            <a:r>
              <a:rPr lang="en-US" sz="950" dirty="0">
                <a:solidFill>
                  <a:srgbClr val="8B949E"/>
                </a:solidFill>
                <a:latin typeface="Segoe UI" pitchFamily="34" charset="0"/>
                <a:ea typeface="Segoe UI" pitchFamily="34" charset="-122"/>
                <a:cs typeface="Segoe UI" pitchFamily="34" charset="-120"/>
              </a:rPr>
              <a:t>Abrir README.md y pedir al modo agente que documente cómo ejecutar el proyecto para otros desarrolladores.</a:t>
            </a:r>
            <a:endParaRPr lang="en-US" sz="950" dirty="0"/>
          </a:p>
        </p:txBody>
      </p:sp>
      <p:pic>
        <p:nvPicPr>
          <p:cNvPr id="18" name="Image 0" descr="Ilustración abstracta de una red de puntos de conexión de API"/>
          <p:cNvPicPr>
            <a:picLocks noChangeAspect="1"/>
          </p:cNvPicPr>
          <p:nvPr/>
        </p:nvPicPr>
        <p:blipFill>
          <a:blip r:embed="rId3"/>
          <a:srcRect t="472" b="472"/>
          <a:stretch/>
        </p:blipFill>
        <p:spPr>
          <a:xfrm>
            <a:off x="6035040" y="1188720"/>
            <a:ext cx="2423160" cy="1600200"/>
          </a:xfrm>
          <a:prstGeom prst="rect">
            <a:avLst/>
          </a:prstGeom>
        </p:spPr>
      </p:pic>
      <p:sp>
        <p:nvSpPr>
          <p:cNvPr id="19" name="Bloque de código">
            <a:extLst>
              <a:ext uri="{C183D7F6-B498-43B3-948B-1728B52AA6E4}">
                <adec:decorative xmlns:adec="http://schemas.microsoft.com/office/drawing/2017/decorative" val="1"/>
              </a:ext>
            </a:extLst>
          </p:cNvPr>
          <p:cNvSpPr/>
          <p:nvPr/>
        </p:nvSpPr>
        <p:spPr>
          <a:xfrm>
            <a:off x="6035040" y="2926080"/>
            <a:ext cx="2423160" cy="1572768"/>
          </a:xfrm>
          <a:prstGeom prst="rect">
            <a:avLst/>
          </a:prstGeom>
          <a:solidFill>
            <a:srgbClr val="010409"/>
          </a:solidFill>
          <a:ln w="12700">
            <a:solidFill>
              <a:srgbClr val="30363D"/>
            </a:solidFill>
            <a:prstDash val="solid"/>
          </a:ln>
        </p:spPr>
      </p:sp>
      <p:sp>
        <p:nvSpPr>
          <p:cNvPr id="20" name="Text 17"/>
          <p:cNvSpPr/>
          <p:nvPr/>
        </p:nvSpPr>
        <p:spPr>
          <a:xfrm>
            <a:off x="6217920" y="3054096"/>
            <a:ext cx="2057400" cy="1316736"/>
          </a:xfrm>
          <a:prstGeom prst="rect">
            <a:avLst/>
          </a:prstGeom>
          <a:noFill/>
          <a:ln/>
        </p:spPr>
        <p:txBody>
          <a:bodyPr wrap="square" lIns="0" tIns="0" rIns="0" bIns="0" rtlCol="0" anchor="t"/>
          <a:lstStyle/>
          <a:p>
            <a:pPr marL="0" indent="0">
              <a:lnSpc>
                <a:spcPct val="120000"/>
              </a:lnSpc>
              <a:buNone/>
            </a:pPr>
            <a:r>
              <a:rPr lang="en-US" sz="1000" dirty="0">
                <a:solidFill>
                  <a:srgbClr val="7EE787"/>
                </a:solidFill>
                <a:latin typeface="Consolas" pitchFamily="34" charset="0"/>
                <a:ea typeface="Consolas" pitchFamily="34" charset="-122"/>
                <a:cs typeface="Consolas" pitchFamily="34" charset="-120"/>
              </a:rPr>
              <a:t>@app.get(</a:t>
            </a:r>
            <a:endParaRPr lang="en-US" sz="1000" dirty="0"/>
          </a:p>
          <a:p>
            <a:pPr marL="0" indent="0">
              <a:lnSpc>
                <a:spcPct val="120000"/>
              </a:lnSpc>
              <a:buNone/>
            </a:pPr>
            <a:r>
              <a:rPr lang="en-US" sz="1000" dirty="0">
                <a:solidFill>
                  <a:srgbClr val="7EE787"/>
                </a:solidFill>
                <a:latin typeface="Consolas" pitchFamily="34" charset="0"/>
                <a:ea typeface="Consolas" pitchFamily="34" charset="-122"/>
                <a:cs typeface="Consolas" pitchFamily="34" charset="-120"/>
              </a:rPr>
              <a:t>  '/countries/{country}')</a:t>
            </a:r>
            <a:endParaRPr lang="en-US" sz="1000" dirty="0"/>
          </a:p>
          <a:p>
            <a:pPr marL="0" indent="0">
              <a:lnSpc>
                <a:spcPct val="120000"/>
              </a:lnSpc>
              <a:buNone/>
            </a:pPr>
            <a:r>
              <a:rPr lang="en-US" sz="1000" dirty="0">
                <a:solidFill>
                  <a:srgbClr val="7EE787"/>
                </a:solidFill>
                <a:latin typeface="Consolas" pitchFamily="34" charset="0"/>
                <a:ea typeface="Consolas" pitchFamily="34" charset="-122"/>
                <a:cs typeface="Consolas" pitchFamily="34" charset="-120"/>
              </a:rPr>
              <a:t>def cities(country: str):</a:t>
            </a:r>
            <a:endParaRPr lang="en-US" sz="1000" dirty="0"/>
          </a:p>
          <a:p>
            <a:pPr marL="0" indent="0">
              <a:lnSpc>
                <a:spcPct val="120000"/>
              </a:lnSpc>
              <a:buNone/>
            </a:pPr>
            <a:r>
              <a:rPr lang="en-US" sz="1000" dirty="0">
                <a:solidFill>
                  <a:srgbClr val="7EE787"/>
                </a:solidFill>
                <a:latin typeface="Consolas" pitchFamily="34" charset="0"/>
                <a:ea typeface="Consolas" pitchFamily="34" charset="-122"/>
                <a:cs typeface="Consolas" pitchFamily="34" charset="-120"/>
              </a:rPr>
              <a:t>    return list(</a:t>
            </a:r>
            <a:endParaRPr lang="en-US" sz="1000" dirty="0"/>
          </a:p>
          <a:p>
            <a:pPr marL="0" indent="0">
              <a:lnSpc>
                <a:spcPct val="120000"/>
              </a:lnSpc>
              <a:buNone/>
            </a:pPr>
            <a:r>
              <a:rPr lang="en-US" sz="1000" dirty="0">
                <a:solidFill>
                  <a:srgbClr val="7EE787"/>
                </a:solidFill>
                <a:latin typeface="Consolas" pitchFamily="34" charset="0"/>
                <a:ea typeface="Consolas" pitchFamily="34" charset="-122"/>
                <a:cs typeface="Consolas" pitchFamily="34" charset="-120"/>
              </a:rPr>
              <a:t>      data[country].keys())</a:t>
            </a:r>
            <a:endParaRPr lang="en-US" sz="1000" dirty="0"/>
          </a:p>
        </p:txBody>
      </p:sp>
      <p:sp>
        <p:nvSpPr>
          <p:cNvPr id="21" name="Línea de pie">
            <a:extLst>
              <a:ext uri="{C183D7F6-B498-43B3-948B-1728B52AA6E4}">
                <adec:decorative xmlns:adec="http://schemas.microsoft.com/office/drawing/2017/decorative" val="1"/>
              </a:ext>
            </a:extLst>
          </p:cNvPr>
          <p:cNvSpPr/>
          <p:nvPr/>
        </p:nvSpPr>
        <p:spPr>
          <a:xfrm>
            <a:off x="0" y="4956048"/>
            <a:ext cx="9144000" cy="13716"/>
          </a:xfrm>
          <a:prstGeom prst="rect">
            <a:avLst/>
          </a:prstGeom>
          <a:solidFill>
            <a:srgbClr val="30363D"/>
          </a:solidFill>
          <a:ln/>
        </p:spPr>
      </p:sp>
      <p:sp>
        <p:nvSpPr>
          <p:cNvPr id="22" name="Text 19"/>
          <p:cNvSpPr/>
          <p:nvPr/>
        </p:nvSpPr>
        <p:spPr>
          <a:xfrm>
            <a:off x="502920" y="4718304"/>
            <a:ext cx="5486400" cy="219456"/>
          </a:xfrm>
          <a:prstGeom prst="rect">
            <a:avLst/>
          </a:prstGeom>
          <a:noFill/>
          <a:ln/>
        </p:spPr>
        <p:txBody>
          <a:bodyPr wrap="square" lIns="0" tIns="0" rIns="0" bIns="0" rtlCol="0" anchor="ctr"/>
          <a:lstStyle/>
          <a:p>
            <a:pPr marL="0" indent="0">
              <a:buNone/>
            </a:pPr>
            <a:r>
              <a:rPr lang="en-US" sz="900" dirty="0">
                <a:solidFill>
                  <a:srgbClr val="8B949E"/>
                </a:solidFill>
                <a:latin typeface="Segoe UI" pitchFamily="34" charset="0"/>
                <a:ea typeface="Segoe UI" pitchFamily="34" charset="-122"/>
                <a:cs typeface="Segoe UI" pitchFamily="34" charset="-120"/>
              </a:rPr>
              <a:t>GitHub Copilot — Características avanzadas</a:t>
            </a:r>
            <a:endParaRPr lang="en-US" sz="900" dirty="0"/>
          </a:p>
        </p:txBody>
      </p:sp>
      <p:sp>
        <p:nvSpPr>
          <p:cNvPr id="23" name="Text 20"/>
          <p:cNvSpPr/>
          <p:nvPr/>
        </p:nvSpPr>
        <p:spPr>
          <a:xfrm>
            <a:off x="7863840" y="4718304"/>
            <a:ext cx="777240" cy="219456"/>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pic>
        <p:nvPicPr>
          <p:cNvPr id="2" name="Image 0" descr="Ilustración abstracta de flujos de código sobre fondo oscuro"/>
          <p:cNvPicPr>
            <a:picLocks noChangeAspect="1"/>
          </p:cNvPicPr>
          <p:nvPr/>
        </p:nvPicPr>
        <p:blipFill>
          <a:blip r:embed="rId3"/>
          <a:srcRect t="27" b="27"/>
          <a:stretch/>
        </p:blipFill>
        <p:spPr>
          <a:xfrm>
            <a:off x="0" y="0"/>
            <a:ext cx="9144000" cy="5143500"/>
          </a:xfrm>
          <a:prstGeom prst="rect">
            <a:avLst/>
          </a:prstGeom>
        </p:spPr>
      </p:pic>
      <p:sp>
        <p:nvSpPr>
          <p:cNvPr id="3" name="Velo oscuro">
            <a:extLst>
              <a:ext uri="{C183D7F6-B498-43B3-948B-1728B52AA6E4}">
                <adec:decorative xmlns:adec="http://schemas.microsoft.com/office/drawing/2017/decorative" val="1"/>
              </a:ext>
            </a:extLst>
          </p:cNvPr>
          <p:cNvSpPr/>
          <p:nvPr/>
        </p:nvSpPr>
        <p:spPr>
          <a:xfrm>
            <a:off x="0" y="0"/>
            <a:ext cx="9144000" cy="5143500"/>
          </a:xfrm>
          <a:prstGeom prst="rect">
            <a:avLst/>
          </a:prstGeom>
          <a:solidFill>
            <a:srgbClr val="0D1117">
              <a:alpha val="88000"/>
            </a:srgbClr>
          </a:solidFill>
          <a:ln/>
        </p:spPr>
      </p:sp>
      <p:sp>
        <p:nvSpPr>
          <p:cNvPr id="4" name="Text 1"/>
          <p:cNvSpPr/>
          <p:nvPr/>
        </p:nvSpPr>
        <p:spPr>
          <a:xfrm>
            <a:off x="713232" y="685800"/>
            <a:ext cx="7772400" cy="274320"/>
          </a:xfrm>
          <a:prstGeom prst="rect">
            <a:avLst/>
          </a:prstGeom>
          <a:noFill/>
          <a:ln/>
        </p:spPr>
        <p:txBody>
          <a:bodyPr wrap="square" lIns="0" tIns="0" rIns="0" bIns="0" rtlCol="0" anchor="ctr"/>
          <a:lstStyle/>
          <a:p>
            <a:pPr marL="0" indent="0">
              <a:buNone/>
            </a:pPr>
            <a:r>
              <a:rPr lang="en-US" sz="1100" kern="0" spc="300" dirty="0">
                <a:solidFill>
                  <a:srgbClr val="7EE787"/>
                </a:solidFill>
                <a:latin typeface="Consolas" pitchFamily="34" charset="0"/>
                <a:ea typeface="Consolas" pitchFamily="34" charset="-122"/>
                <a:cs typeface="Consolas" pitchFamily="34" charset="-120"/>
              </a:rPr>
              <a:t>RESULTADO DEL EJERCICIO</a:t>
            </a:r>
            <a:endParaRPr lang="en-US" sz="1100" dirty="0"/>
          </a:p>
        </p:txBody>
      </p:sp>
      <p:sp>
        <p:nvSpPr>
          <p:cNvPr id="5" name="Text 2"/>
          <p:cNvSpPr/>
          <p:nvPr/>
        </p:nvSpPr>
        <p:spPr>
          <a:xfrm>
            <a:off x="713232" y="1005840"/>
            <a:ext cx="7772400" cy="502920"/>
          </a:xfrm>
          <a:prstGeom prst="rect">
            <a:avLst/>
          </a:prstGeom>
          <a:noFill/>
          <a:ln/>
        </p:spPr>
        <p:txBody>
          <a:bodyPr wrap="square" lIns="0" tIns="0" rIns="0" bIns="0" rtlCol="0" anchor="ctr"/>
          <a:lstStyle/>
          <a:p>
            <a:pPr marL="0" indent="0">
              <a:buNone/>
            </a:pPr>
            <a:r>
              <a:rPr lang="en-US" sz="3000" b="1" dirty="0">
                <a:solidFill>
                  <a:srgbClr val="E6EDF3"/>
                </a:solidFill>
                <a:latin typeface="Segoe UI" pitchFamily="34" charset="0"/>
                <a:ea typeface="Segoe UI" pitchFamily="34" charset="-122"/>
                <a:cs typeface="Segoe UI" pitchFamily="34" charset="-120"/>
              </a:rPr>
              <a:t>Qué se logró con GitHub Copilot</a:t>
            </a:r>
            <a:endParaRPr lang="en-US" sz="3000" dirty="0"/>
          </a:p>
        </p:txBody>
      </p:sp>
      <p:sp>
        <p:nvSpPr>
          <p:cNvPr id="6" name="Tarjeta de resultado">
            <a:extLst>
              <a:ext uri="{C183D7F6-B498-43B3-948B-1728B52AA6E4}">
                <adec:decorative xmlns:adec="http://schemas.microsoft.com/office/drawing/2017/decorative" val="1"/>
              </a:ext>
            </a:extLst>
          </p:cNvPr>
          <p:cNvSpPr/>
          <p:nvPr/>
        </p:nvSpPr>
        <p:spPr>
          <a:xfrm>
            <a:off x="713232" y="1920240"/>
            <a:ext cx="2468880" cy="1508760"/>
          </a:xfrm>
          <a:prstGeom prst="rect">
            <a:avLst/>
          </a:prstGeom>
          <a:solidFill>
            <a:srgbClr val="161B22"/>
          </a:solidFill>
          <a:ln w="12700">
            <a:solidFill>
              <a:srgbClr val="30363D"/>
            </a:solidFill>
            <a:prstDash val="solid"/>
          </a:ln>
        </p:spPr>
      </p:sp>
      <p:sp>
        <p:nvSpPr>
          <p:cNvPr id="7" name="Acento superior">
            <a:extLst>
              <a:ext uri="{C183D7F6-B498-43B3-948B-1728B52AA6E4}">
                <adec:decorative xmlns:adec="http://schemas.microsoft.com/office/drawing/2017/decorative" val="1"/>
              </a:ext>
            </a:extLst>
          </p:cNvPr>
          <p:cNvSpPr/>
          <p:nvPr/>
        </p:nvSpPr>
        <p:spPr>
          <a:xfrm>
            <a:off x="713232" y="1920240"/>
            <a:ext cx="2468880" cy="45720"/>
          </a:xfrm>
          <a:prstGeom prst="rect">
            <a:avLst/>
          </a:prstGeom>
          <a:solidFill>
            <a:srgbClr val="7EE787"/>
          </a:solidFill>
          <a:ln/>
        </p:spPr>
      </p:sp>
      <p:sp>
        <p:nvSpPr>
          <p:cNvPr id="8" name="Text 5"/>
          <p:cNvSpPr/>
          <p:nvPr/>
        </p:nvSpPr>
        <p:spPr>
          <a:xfrm>
            <a:off x="932688" y="2121408"/>
            <a:ext cx="2011680" cy="384048"/>
          </a:xfrm>
          <a:prstGeom prst="rect">
            <a:avLst/>
          </a:prstGeom>
          <a:noFill/>
          <a:ln/>
        </p:spPr>
        <p:txBody>
          <a:bodyPr wrap="square" lIns="0" tIns="0" rIns="0" bIns="0" rtlCol="0" anchor="ctr"/>
          <a:lstStyle/>
          <a:p>
            <a:pPr marL="0" indent="0">
              <a:buNone/>
            </a:pPr>
            <a:r>
              <a:rPr lang="en-US" sz="2000" b="1" dirty="0">
                <a:solidFill>
                  <a:srgbClr val="7EE787"/>
                </a:solidFill>
                <a:latin typeface="Consolas" pitchFamily="34" charset="0"/>
                <a:ea typeface="Consolas" pitchFamily="34" charset="-122"/>
                <a:cs typeface="Consolas" pitchFamily="34" charset="-120"/>
              </a:rPr>
              <a:t>01</a:t>
            </a:r>
            <a:endParaRPr lang="en-US" sz="2000" dirty="0"/>
          </a:p>
        </p:txBody>
      </p:sp>
      <p:sp>
        <p:nvSpPr>
          <p:cNvPr id="9" name="Text 6"/>
          <p:cNvSpPr/>
          <p:nvPr/>
        </p:nvSpPr>
        <p:spPr>
          <a:xfrm>
            <a:off x="932688" y="2578608"/>
            <a:ext cx="2057400" cy="731520"/>
          </a:xfrm>
          <a:prstGeom prst="rect">
            <a:avLst/>
          </a:prstGeom>
          <a:noFill/>
          <a:ln/>
        </p:spPr>
        <p:txBody>
          <a:bodyPr wrap="square" lIns="0" tIns="0" rIns="0" bIns="0" rtlCol="0" anchor="ctr"/>
          <a:lstStyle/>
          <a:p>
            <a:pPr marL="0" indent="0">
              <a:lnSpc>
                <a:spcPct val="115000"/>
              </a:lnSpc>
              <a:buNone/>
            </a:pPr>
            <a:r>
              <a:rPr lang="en-US" sz="1250" dirty="0">
                <a:solidFill>
                  <a:srgbClr val="E6EDF3"/>
                </a:solidFill>
                <a:latin typeface="Segoe UI" pitchFamily="34" charset="0"/>
                <a:ea typeface="Segoe UI" pitchFamily="34" charset="-122"/>
                <a:cs typeface="Segoe UI" pitchFamily="34" charset="-120"/>
              </a:rPr>
              <a:t>Generar una nueva ruta de API</a:t>
            </a:r>
            <a:endParaRPr lang="en-US" sz="1250" dirty="0"/>
          </a:p>
        </p:txBody>
      </p:sp>
      <p:sp>
        <p:nvSpPr>
          <p:cNvPr id="10" name="Tarjeta de resultado">
            <a:extLst>
              <a:ext uri="{C183D7F6-B498-43B3-948B-1728B52AA6E4}">
                <adec:decorative xmlns:adec="http://schemas.microsoft.com/office/drawing/2017/decorative" val="1"/>
              </a:ext>
            </a:extLst>
          </p:cNvPr>
          <p:cNvSpPr/>
          <p:nvPr/>
        </p:nvSpPr>
        <p:spPr>
          <a:xfrm>
            <a:off x="3364992" y="1920240"/>
            <a:ext cx="2468880" cy="1508760"/>
          </a:xfrm>
          <a:prstGeom prst="rect">
            <a:avLst/>
          </a:prstGeom>
          <a:solidFill>
            <a:srgbClr val="161B22"/>
          </a:solidFill>
          <a:ln w="12700">
            <a:solidFill>
              <a:srgbClr val="30363D"/>
            </a:solidFill>
            <a:prstDash val="solid"/>
          </a:ln>
        </p:spPr>
      </p:sp>
      <p:sp>
        <p:nvSpPr>
          <p:cNvPr id="11" name="Acento superior">
            <a:extLst>
              <a:ext uri="{C183D7F6-B498-43B3-948B-1728B52AA6E4}">
                <adec:decorative xmlns:adec="http://schemas.microsoft.com/office/drawing/2017/decorative" val="1"/>
              </a:ext>
            </a:extLst>
          </p:cNvPr>
          <p:cNvSpPr/>
          <p:nvPr/>
        </p:nvSpPr>
        <p:spPr>
          <a:xfrm>
            <a:off x="3364992" y="1920240"/>
            <a:ext cx="2468880" cy="45720"/>
          </a:xfrm>
          <a:prstGeom prst="rect">
            <a:avLst/>
          </a:prstGeom>
          <a:solidFill>
            <a:srgbClr val="58A6FF"/>
          </a:solidFill>
          <a:ln/>
        </p:spPr>
      </p:sp>
      <p:sp>
        <p:nvSpPr>
          <p:cNvPr id="12" name="Text 9"/>
          <p:cNvSpPr/>
          <p:nvPr/>
        </p:nvSpPr>
        <p:spPr>
          <a:xfrm>
            <a:off x="3584448" y="2121408"/>
            <a:ext cx="2011680" cy="384048"/>
          </a:xfrm>
          <a:prstGeom prst="rect">
            <a:avLst/>
          </a:prstGeom>
          <a:noFill/>
          <a:ln/>
        </p:spPr>
        <p:txBody>
          <a:bodyPr wrap="square" lIns="0" tIns="0" rIns="0" bIns="0" rtlCol="0" anchor="ctr"/>
          <a:lstStyle/>
          <a:p>
            <a:pPr marL="0" indent="0">
              <a:buNone/>
            </a:pPr>
            <a:r>
              <a:rPr lang="en-US" sz="2000" b="1" dirty="0">
                <a:solidFill>
                  <a:srgbClr val="58A6FF"/>
                </a:solidFill>
                <a:latin typeface="Consolas" pitchFamily="34" charset="0"/>
                <a:ea typeface="Consolas" pitchFamily="34" charset="-122"/>
                <a:cs typeface="Consolas" pitchFamily="34" charset="-120"/>
              </a:rPr>
              <a:t>02</a:t>
            </a:r>
            <a:endParaRPr lang="en-US" sz="2000" dirty="0"/>
          </a:p>
        </p:txBody>
      </p:sp>
      <p:sp>
        <p:nvSpPr>
          <p:cNvPr id="13" name="Text 10"/>
          <p:cNvSpPr/>
          <p:nvPr/>
        </p:nvSpPr>
        <p:spPr>
          <a:xfrm>
            <a:off x="3584448" y="2578608"/>
            <a:ext cx="2057400" cy="731520"/>
          </a:xfrm>
          <a:prstGeom prst="rect">
            <a:avLst/>
          </a:prstGeom>
          <a:noFill/>
          <a:ln/>
        </p:spPr>
        <p:txBody>
          <a:bodyPr wrap="square" lIns="0" tIns="0" rIns="0" bIns="0" rtlCol="0" anchor="ctr"/>
          <a:lstStyle/>
          <a:p>
            <a:pPr marL="0" indent="0">
              <a:lnSpc>
                <a:spcPct val="115000"/>
              </a:lnSpc>
              <a:buNone/>
            </a:pPr>
            <a:r>
              <a:rPr lang="en-US" sz="1250" dirty="0">
                <a:solidFill>
                  <a:srgbClr val="E6EDF3"/>
                </a:solidFill>
                <a:latin typeface="Segoe UI" pitchFamily="34" charset="0"/>
                <a:ea typeface="Segoe UI" pitchFamily="34" charset="-122"/>
                <a:cs typeface="Segoe UI" pitchFamily="34" charset="-120"/>
              </a:rPr>
              <a:t>Crear una prueba para comprobar su exactitud</a:t>
            </a:r>
            <a:endParaRPr lang="en-US" sz="1250" dirty="0"/>
          </a:p>
        </p:txBody>
      </p:sp>
      <p:sp>
        <p:nvSpPr>
          <p:cNvPr id="14" name="Tarjeta de resultado">
            <a:extLst>
              <a:ext uri="{C183D7F6-B498-43B3-948B-1728B52AA6E4}">
                <adec:decorative xmlns:adec="http://schemas.microsoft.com/office/drawing/2017/decorative" val="1"/>
              </a:ext>
            </a:extLst>
          </p:cNvPr>
          <p:cNvSpPr/>
          <p:nvPr/>
        </p:nvSpPr>
        <p:spPr>
          <a:xfrm>
            <a:off x="6016752" y="1920240"/>
            <a:ext cx="2468880" cy="1508760"/>
          </a:xfrm>
          <a:prstGeom prst="rect">
            <a:avLst/>
          </a:prstGeom>
          <a:solidFill>
            <a:srgbClr val="161B22"/>
          </a:solidFill>
          <a:ln w="12700">
            <a:solidFill>
              <a:srgbClr val="30363D"/>
            </a:solidFill>
            <a:prstDash val="solid"/>
          </a:ln>
        </p:spPr>
      </p:sp>
      <p:sp>
        <p:nvSpPr>
          <p:cNvPr id="15" name="Acento superior">
            <a:extLst>
              <a:ext uri="{C183D7F6-B498-43B3-948B-1728B52AA6E4}">
                <adec:decorative xmlns:adec="http://schemas.microsoft.com/office/drawing/2017/decorative" val="1"/>
              </a:ext>
            </a:extLst>
          </p:cNvPr>
          <p:cNvSpPr/>
          <p:nvPr/>
        </p:nvSpPr>
        <p:spPr>
          <a:xfrm>
            <a:off x="6016752" y="1920240"/>
            <a:ext cx="2468880" cy="45720"/>
          </a:xfrm>
          <a:prstGeom prst="rect">
            <a:avLst/>
          </a:prstGeom>
          <a:solidFill>
            <a:srgbClr val="7EE787"/>
          </a:solidFill>
          <a:ln/>
        </p:spPr>
      </p:sp>
      <p:sp>
        <p:nvSpPr>
          <p:cNvPr id="16" name="Text 13"/>
          <p:cNvSpPr/>
          <p:nvPr/>
        </p:nvSpPr>
        <p:spPr>
          <a:xfrm>
            <a:off x="6236208" y="2121408"/>
            <a:ext cx="2011680" cy="384048"/>
          </a:xfrm>
          <a:prstGeom prst="rect">
            <a:avLst/>
          </a:prstGeom>
          <a:noFill/>
          <a:ln/>
        </p:spPr>
        <p:txBody>
          <a:bodyPr wrap="square" lIns="0" tIns="0" rIns="0" bIns="0" rtlCol="0" anchor="ctr"/>
          <a:lstStyle/>
          <a:p>
            <a:pPr marL="0" indent="0">
              <a:buNone/>
            </a:pPr>
            <a:r>
              <a:rPr lang="en-US" sz="2000" b="1" dirty="0">
                <a:solidFill>
                  <a:srgbClr val="7EE787"/>
                </a:solidFill>
                <a:latin typeface="Consolas" pitchFamily="34" charset="0"/>
                <a:ea typeface="Consolas" pitchFamily="34" charset="-122"/>
                <a:cs typeface="Consolas" pitchFamily="34" charset="-120"/>
              </a:rPr>
              <a:t>03</a:t>
            </a:r>
            <a:endParaRPr lang="en-US" sz="2000" dirty="0"/>
          </a:p>
        </p:txBody>
      </p:sp>
      <p:sp>
        <p:nvSpPr>
          <p:cNvPr id="17" name="Text 14"/>
          <p:cNvSpPr/>
          <p:nvPr/>
        </p:nvSpPr>
        <p:spPr>
          <a:xfrm>
            <a:off x="6236208" y="2578608"/>
            <a:ext cx="2057400" cy="731520"/>
          </a:xfrm>
          <a:prstGeom prst="rect">
            <a:avLst/>
          </a:prstGeom>
          <a:noFill/>
          <a:ln/>
        </p:spPr>
        <p:txBody>
          <a:bodyPr wrap="square" lIns="0" tIns="0" rIns="0" bIns="0" rtlCol="0" anchor="ctr"/>
          <a:lstStyle/>
          <a:p>
            <a:pPr marL="0" indent="0">
              <a:lnSpc>
                <a:spcPct val="115000"/>
              </a:lnSpc>
              <a:buNone/>
            </a:pPr>
            <a:r>
              <a:rPr lang="en-US" sz="1250" dirty="0">
                <a:solidFill>
                  <a:srgbClr val="E6EDF3"/>
                </a:solidFill>
                <a:latin typeface="Segoe UI" pitchFamily="34" charset="0"/>
                <a:ea typeface="Segoe UI" pitchFamily="34" charset="-122"/>
                <a:cs typeface="Segoe UI" pitchFamily="34" charset="-120"/>
              </a:rPr>
              <a:t>Agregar documentación mediante un agente</a:t>
            </a:r>
            <a:endParaRPr lang="en-US" sz="1250" dirty="0"/>
          </a:p>
        </p:txBody>
      </p:sp>
      <p:sp>
        <p:nvSpPr>
          <p:cNvPr id="18" name="Text 15"/>
          <p:cNvSpPr/>
          <p:nvPr/>
        </p:nvSpPr>
        <p:spPr>
          <a:xfrm>
            <a:off x="713232" y="3794760"/>
            <a:ext cx="7744968" cy="457200"/>
          </a:xfrm>
          <a:prstGeom prst="rect">
            <a:avLst/>
          </a:prstGeom>
          <a:noFill/>
          <a:ln/>
        </p:spPr>
        <p:txBody>
          <a:bodyPr wrap="square" lIns="0" tIns="0" rIns="0" bIns="0" rtlCol="0" anchor="ctr"/>
          <a:lstStyle/>
          <a:p>
            <a:pPr marL="0" indent="0">
              <a:lnSpc>
                <a:spcPct val="120000"/>
              </a:lnSpc>
              <a:buNone/>
            </a:pPr>
            <a:r>
              <a:rPr lang="en-US" sz="1300" dirty="0">
                <a:solidFill>
                  <a:srgbClr val="8B949E"/>
                </a:solidFill>
                <a:latin typeface="Segoe UI" pitchFamily="34" charset="0"/>
                <a:ea typeface="Segoe UI" pitchFamily="34" charset="-122"/>
                <a:cs typeface="Segoe UI" pitchFamily="34" charset="-120"/>
              </a:rPr>
              <a:t>A continuación: una prueba breve de conocimientos, un resumen de lo aprendido y el distintivo por completar el módulo.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2012-07-30T22:48:03Z</dcterms:created>
  <dcterms:modified xsi:type="dcterms:W3CDTF">2026-08-19T18:59:59Z</dcterms:modified>
</cp:coreProperties>
</file>