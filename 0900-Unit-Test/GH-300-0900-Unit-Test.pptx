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D9969B-0C82-8723-C8C2-94BDC17BB6DE}" v="3" dt="2026-08-19T19:34:08.8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Panel derech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0E2E56"/>
          </a:solidFill>
          <a:ln w="12700">
            <a:solidFill>
              <a:srgbClr val="0E2E56"/>
            </a:solidFill>
            <a:prstDash val="solid"/>
          </a:ln>
        </p:spPr>
      </p:sp>
      <p:sp>
        <p:nvSpPr>
          <p:cNvPr id="4" name="Línea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1234440"/>
            <a:ext cx="2194560" cy="0"/>
          </a:xfrm>
          <a:prstGeom prst="line">
            <a:avLst/>
          </a:prstGeom>
          <a:noFill/>
          <a:ln w="25400">
            <a:solidFill>
              <a:srgbClr val="0BA5C6"/>
            </a:solidFill>
            <a:prstDash val="solid"/>
          </a:ln>
        </p:spPr>
      </p:sp>
      <p:sp>
        <p:nvSpPr>
          <p:cNvPr id="5" name="Línea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1618488"/>
            <a:ext cx="1463040" cy="0"/>
          </a:xfrm>
          <a:prstGeom prst="line">
            <a:avLst/>
          </a:prstGeom>
          <a:noFill/>
          <a:ln w="25400">
            <a:solidFill>
              <a:srgbClr val="1E4B85"/>
            </a:solidFill>
            <a:prstDash val="solid"/>
          </a:ln>
        </p:spPr>
      </p:sp>
      <p:sp>
        <p:nvSpPr>
          <p:cNvPr id="6" name="Línea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2002536"/>
            <a:ext cx="2194560" cy="0"/>
          </a:xfrm>
          <a:prstGeom prst="line">
            <a:avLst/>
          </a:prstGeom>
          <a:noFill/>
          <a:ln w="25400">
            <a:solidFill>
              <a:srgbClr val="1E4B85"/>
            </a:solidFill>
            <a:prstDash val="solid"/>
          </a:ln>
        </p:spPr>
      </p:sp>
      <p:sp>
        <p:nvSpPr>
          <p:cNvPr id="7" name="Línea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2386584"/>
            <a:ext cx="1463040" cy="0"/>
          </a:xfrm>
          <a:prstGeom prst="line">
            <a:avLst/>
          </a:prstGeom>
          <a:noFill/>
          <a:ln w="25400">
            <a:solidFill>
              <a:srgbClr val="0BA5C6"/>
            </a:solidFill>
            <a:prstDash val="solid"/>
          </a:ln>
        </p:spPr>
      </p:sp>
      <p:sp>
        <p:nvSpPr>
          <p:cNvPr id="8" name="Línea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2770632"/>
            <a:ext cx="2194560" cy="0"/>
          </a:xfrm>
          <a:prstGeom prst="line">
            <a:avLst/>
          </a:prstGeom>
          <a:noFill/>
          <a:ln w="25400">
            <a:solidFill>
              <a:srgbClr val="1E4B85"/>
            </a:solidFill>
            <a:prstDash val="solid"/>
          </a:ln>
        </p:spPr>
      </p:sp>
      <p:sp>
        <p:nvSpPr>
          <p:cNvPr id="9" name="Línea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3154680"/>
            <a:ext cx="1463040" cy="0"/>
          </a:xfrm>
          <a:prstGeom prst="line">
            <a:avLst/>
          </a:prstGeom>
          <a:noFill/>
          <a:ln w="25400">
            <a:solidFill>
              <a:srgbClr val="1E4B85"/>
            </a:solidFill>
            <a:prstDash val="solid"/>
          </a:ln>
        </p:spPr>
      </p:sp>
      <p:sp>
        <p:nvSpPr>
          <p:cNvPr id="10" name="Línea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3538728"/>
            <a:ext cx="2194560" cy="0"/>
          </a:xfrm>
          <a:prstGeom prst="line">
            <a:avLst/>
          </a:prstGeom>
          <a:noFill/>
          <a:ln w="25400">
            <a:solidFill>
              <a:srgbClr val="0BA5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DE FORMACIÓN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5544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4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Generar, ampliar y mantener pruebas en Visual Studio Code con xUnit y los agentes Ask, Plan y Agent</a:t>
            </a:r>
            <a:endParaRPr lang="en-US" sz="1300" dirty="0"/>
          </a:p>
        </p:txBody>
      </p:sp>
      <p:sp>
        <p:nvSpPr>
          <p:cNvPr id="14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4160520"/>
            <a:ext cx="1280160" cy="0"/>
          </a:xfrm>
          <a:prstGeom prst="line">
            <a:avLst/>
          </a:prstGeom>
          <a:noFill/>
          <a:ln w="38100">
            <a:solidFill>
              <a:srgbClr val="0BA5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15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Code · SDK de .NET · Kit de desarrollo de C#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probar con Copilot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pruebas unitarias garantizan la funcionalidad de los componentes individuales de un sistema. GitHub Copilot acelera su creación, reduce errores e identifica casos perimetrales y condiciones de límite, especialmente en bases de código grandes.</a:t>
            </a:r>
            <a:endParaRPr lang="en-US" sz="1400" dirty="0"/>
          </a:p>
        </p:txBody>
      </p:sp>
      <p:sp>
        <p:nvSpPr>
          <p:cNvPr id="8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240280"/>
            <a:ext cx="3931920" cy="1042416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240280"/>
            <a:ext cx="64008" cy="1042416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386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Chat en modo Agente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Modos Preguntar (Ask) y Plan para analizar y planificar antes de escribir código.</a:t>
            </a:r>
            <a:endParaRPr lang="en-US" sz="1100" dirty="0"/>
          </a:p>
        </p:txBody>
      </p:sp>
      <p:sp>
        <p:nvSpPr>
          <p:cNvPr id="12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240280"/>
            <a:ext cx="3931920" cy="1042416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240280"/>
            <a:ext cx="64008" cy="1042416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386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de texto fantasma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Completado en línea para crear y ampliar casos de prueba existentes.</a:t>
            </a:r>
            <a:endParaRPr lang="en-US" sz="1100" dirty="0"/>
          </a:p>
        </p:txBody>
      </p:sp>
      <p:sp>
        <p:nvSpPr>
          <p:cNvPr id="16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47288"/>
            <a:ext cx="3931920" cy="1042416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47288"/>
            <a:ext cx="64008" cy="1042416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593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xUnit como marco de pruebas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9044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También compatibles NUnit y MSTest dentro del mismo flujo.</a:t>
            </a:r>
            <a:endParaRPr lang="en-US" sz="1100" dirty="0"/>
          </a:p>
        </p:txBody>
      </p:sp>
      <p:sp>
        <p:nvSpPr>
          <p:cNvPr id="20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447288"/>
            <a:ext cx="3931920" cy="1042416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2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447288"/>
            <a:ext cx="64008" cy="1042416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593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+ Kit de desarrollo de C#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39044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Hospedaje, detección, depuración y ejecución del proyecto de pruebas.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Temas del módulo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08176"/>
            <a:ext cx="310896" cy="310896"/>
          </a:xfrm>
          <a:prstGeom prst="ellipse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08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3716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Hospedar y ejecutar pruebas con VS Code y el Kit de desarrollo de C#.</a:t>
            </a:r>
            <a:endParaRPr lang="en-US" sz="1300" dirty="0"/>
          </a:p>
        </p:txBody>
      </p:sp>
      <p:sp>
        <p:nvSpPr>
          <p:cNvPr id="10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938528"/>
            <a:ext cx="310896" cy="31089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7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19019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pruebas desde Copilot Chat en modo Agente, explorando antes con el modo Preguntar.</a:t>
            </a:r>
            <a:endParaRPr lang="en-US" sz="1300" dirty="0"/>
          </a:p>
        </p:txBody>
      </p:sp>
      <p:sp>
        <p:nvSpPr>
          <p:cNvPr id="13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468880"/>
            <a:ext cx="310896" cy="310896"/>
          </a:xfrm>
          <a:prstGeom prst="ellipse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4323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Diseñar y automatizar flujos de varios archivos con los agentes Plan y Agent.</a:t>
            </a:r>
            <a:endParaRPr lang="en-US" sz="1300" dirty="0"/>
          </a:p>
        </p:txBody>
      </p:sp>
      <p:sp>
        <p:nvSpPr>
          <p:cNvPr id="16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999232"/>
            <a:ext cx="310896" cy="31089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7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9626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Ampliar la cobertura mediante sugerencias de texto fantasma.</a:t>
            </a:r>
            <a:endParaRPr lang="en-US" sz="1300" dirty="0"/>
          </a:p>
        </p:txBody>
      </p:sp>
      <p:sp>
        <p:nvSpPr>
          <p:cNvPr id="19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529584"/>
            <a:ext cx="310896" cy="310896"/>
          </a:xfrm>
          <a:prstGeom prst="ellipse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4930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Corregir pruebas con errores con ayuda de GitHub Copilot.</a:t>
            </a:r>
            <a:endParaRPr lang="en-US" sz="1300" dirty="0"/>
          </a:p>
        </p:txBody>
      </p:sp>
      <p:sp>
        <p:nvSpPr>
          <p:cNvPr id="22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059936"/>
            <a:ext cx="310896" cy="310896"/>
          </a:xfrm>
          <a:prstGeom prst="ellipse">
            <a:avLst/>
          </a:prstGeom>
          <a:solidFill>
            <a:srgbClr val="F2F6FC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7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402336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Desarrollar pruebas unitarias de extremo a extremo para una aplicación de C#.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COMPLETAR EL MÓDULO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de aprendizaje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8046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64008" cy="713232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7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Describir cómo VS Code, el SDK de .NET y el Kit de desarrollo de C# admiten pruebas en proyectos de C#.</a:t>
            </a:r>
            <a:endParaRPr lang="en-US" sz="1150" dirty="0"/>
          </a:p>
        </p:txBody>
      </p:sp>
      <p:sp>
        <p:nvSpPr>
          <p:cNvPr id="11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76272"/>
            <a:ext cx="8046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76272"/>
            <a:ext cx="64008" cy="713232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67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7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54203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el modo Agente para generar pruebas de archivos y selecciones, y el modo Preguntar para explorar opciones.</a:t>
            </a:r>
            <a:endParaRPr lang="en-US" sz="1150" dirty="0"/>
          </a:p>
        </p:txBody>
      </p:sp>
      <p:sp>
        <p:nvSpPr>
          <p:cNvPr id="15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80944"/>
            <a:ext cx="8046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6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80944"/>
            <a:ext cx="64008" cy="713232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7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34670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Diseñar la estrategia con el agente Plan y automatizar flujos de varios pasos con el agente Agent.</a:t>
            </a:r>
            <a:endParaRPr lang="en-US" sz="1150" dirty="0"/>
          </a:p>
        </p:txBody>
      </p:sp>
      <p:sp>
        <p:nvSpPr>
          <p:cNvPr id="19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85616"/>
            <a:ext cx="8046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20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85616"/>
            <a:ext cx="64008" cy="713232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877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7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y arreglo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15137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 texto fantasma, el explorador de pruebas y /fixTestFailure para ampliar y reparar pruebas.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EMPEZAR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Requisito: suscripción activa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3931920" cy="1737360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64008" cy="1737360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Suscripción a GitHub Copilot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gratuito de GitHub Copilot en una cuenta personal.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Suscripción administrada por una organización o empresa.</a:t>
            </a:r>
            <a:endParaRPr lang="en-US" sz="1200" dirty="0"/>
          </a:p>
        </p:txBody>
      </p:sp>
      <p:sp>
        <p:nvSpPr>
          <p:cNvPr id="11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7160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71600"/>
            <a:ext cx="64008" cy="1737360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con código público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0195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actividades pueden generar sugerencias que coincidan con código público. En GitHub Enterprise Cloud esta configuración puede heredarse de la organización o empresa.</a:t>
            </a:r>
            <a:endParaRPr lang="en-US" sz="1200" dirty="0"/>
          </a:p>
        </p:txBody>
      </p:sp>
      <p:sp>
        <p:nvSpPr>
          <p:cNvPr id="15" name="Aviso destac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364992"/>
            <a:ext cx="804672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9300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cuenta bloquea las sugerencias que coinciden con código público, las actividades del módulo podrían no funcionar según lo previsto.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Compatibilidad de VS Code con pruebas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proyecto necesita un marco de pruebas funcional y una forma de ejecutarlas dentro de Visual Studio Code.</a:t>
            </a:r>
            <a:endParaRPr lang="en-US" sz="1300" dirty="0"/>
          </a:p>
        </p:txBody>
      </p:sp>
      <p:sp>
        <p:nvSpPr>
          <p:cNvPr id="8" name="Componente del entor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83080"/>
            <a:ext cx="1481328" cy="868680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8308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Code</a:t>
            </a:r>
            <a:endParaRPr lang="en-US" sz="1100" dirty="0"/>
          </a:p>
        </p:txBody>
      </p:sp>
      <p:sp>
        <p:nvSpPr>
          <p:cNvPr id="10" name="Componente del entor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5416" y="1783080"/>
            <a:ext cx="1481328" cy="868680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95144" y="178308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de .NET 8.0+</a:t>
            </a:r>
            <a:endParaRPr lang="en-US" sz="1100" dirty="0"/>
          </a:p>
        </p:txBody>
      </p:sp>
      <p:sp>
        <p:nvSpPr>
          <p:cNvPr id="12" name="Componente del entor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2192" y="1783080"/>
            <a:ext cx="1481328" cy="868680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78308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 de desarrollo de C#</a:t>
            </a:r>
            <a:endParaRPr lang="en-US" sz="1100" dirty="0"/>
          </a:p>
        </p:txBody>
      </p:sp>
      <p:sp>
        <p:nvSpPr>
          <p:cNvPr id="14" name="Componente del entor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58968" y="1783080"/>
            <a:ext cx="1481328" cy="868680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68696" y="178308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 de pruebas</a:t>
            </a:r>
            <a:endParaRPr lang="en-US" sz="1100" dirty="0"/>
          </a:p>
        </p:txBody>
      </p:sp>
      <p:sp>
        <p:nvSpPr>
          <p:cNvPr id="16" name="Componente del entor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95744" y="1783080"/>
            <a:ext cx="1481328" cy="868680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178308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8529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 del Kit de desarrollo de C#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Explorador de pruebas: vista de árbol con todos los casos del área de trabajo.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o depurar: botones de reproducción junto a cada clase y método.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en el editor y en el explorador, con enlaces a los seguimientos de pila.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Comandos como Test: Run All Tests en la paleta de comandos.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de detección y ejecución con las opciones Testing.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Marcos admitidos: xUnit, NUnit y MSTest.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PALETA DE COMANDOS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Creación de proyectos de prueba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33502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</a:t>
            </a: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.NET: Nuevo Project…</a:t>
            </a:r>
            <a:r>
              <a:rPr lang="en-US" sz="12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Ctrl+Shift+P (Windows/Linux)  ·  Cmd+Shift+P (macOS)  ·  Vista → Paleta de comandos</a:t>
            </a:r>
            <a:endParaRPr lang="en-US" sz="1200" dirty="0"/>
          </a:p>
        </p:txBody>
      </p:sp>
      <p:sp>
        <p:nvSpPr>
          <p:cNvPr id="8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83080"/>
            <a:ext cx="25603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83080"/>
            <a:ext cx="64008" cy="1965960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xUnit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194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57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xUnit Test Project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48716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Microsoft.NET.Test.Sdk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xUnit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xunit.runner.visualstudio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coverlet.collector</a:t>
            </a:r>
            <a:endParaRPr lang="en-US" sz="1000" dirty="0"/>
          </a:p>
        </p:txBody>
      </p:sp>
      <p:sp>
        <p:nvSpPr>
          <p:cNvPr id="13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783080"/>
            <a:ext cx="25603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4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783080"/>
            <a:ext cx="64008" cy="1965960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47872" y="2194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NUnit3 Test Project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47872" y="248716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Microsoft.NET.Test.Sdk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NUnit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NUnit3TestAdapter</a:t>
            </a:r>
            <a:endParaRPr lang="en-US" sz="1000" dirty="0"/>
          </a:p>
        </p:txBody>
      </p:sp>
      <p:sp>
        <p:nvSpPr>
          <p:cNvPr id="18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783080"/>
            <a:ext cx="25603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783080"/>
            <a:ext cx="64008" cy="1965960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MSTest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21945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57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MSTest Test Project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91072" y="248716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Microsoft.NET.Test.Sdk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MSTest.TestAdapter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MSTest.TestFramework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coverlet.collector</a:t>
            </a:r>
            <a:endParaRPr lang="en-US" sz="1000" dirty="0"/>
          </a:p>
        </p:txBody>
      </p:sp>
      <p:sp>
        <p:nvSpPr>
          <p:cNvPr id="23" name="Bloque de coma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50208"/>
            <a:ext cx="8046720" cy="566928"/>
          </a:xfrm>
          <a:prstGeom prst="rect">
            <a:avLst/>
          </a:prstGeom>
          <a:solidFill>
            <a:srgbClr val="0F1B30"/>
          </a:solidFill>
          <a:ln w="12700">
            <a:solidFill>
              <a:srgbClr val="0F1B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502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add [ruta del csproj de pruebas] reference [ruta del csproj del proyecto a probar]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 DE DESARROLLO DE C#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Ejecución y administración de pruebas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3931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64008" cy="932688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90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o depurar desde el editor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Botón de reproducción junto a una clase o método de prueba.</a:t>
            </a:r>
            <a:endParaRPr lang="en-US" sz="1100" dirty="0"/>
          </a:p>
        </p:txBody>
      </p:sp>
      <p:sp>
        <p:nvSpPr>
          <p:cNvPr id="11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71600"/>
            <a:ext cx="3931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71600"/>
            <a:ext cx="64008" cy="932688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490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el Explorador de pruebas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19472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o depurar pruebas individuales, grupos o todo el conjunto.</a:t>
            </a:r>
            <a:endParaRPr lang="en-US" sz="1100" dirty="0"/>
          </a:p>
        </p:txBody>
      </p:sp>
      <p:sp>
        <p:nvSpPr>
          <p:cNvPr id="15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468880"/>
            <a:ext cx="3931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6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468880"/>
            <a:ext cx="64008" cy="932688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587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Consultar resultados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4672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de aprobación, errores y duración de cada prueba.</a:t>
            </a:r>
            <a:endParaRPr lang="en-US" sz="1100" dirty="0"/>
          </a:p>
        </p:txBody>
      </p:sp>
      <p:sp>
        <p:nvSpPr>
          <p:cNvPr id="19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468880"/>
            <a:ext cx="3931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20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468880"/>
            <a:ext cx="64008" cy="932688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587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 las pruebas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19472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Opciones Testing: ejecución automática al guardar y formato de resultados.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6758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Comandos de prueba disponibles</a:t>
            </a:r>
            <a:endParaRPr lang="en-US" sz="1200" dirty="0"/>
          </a:p>
        </p:txBody>
      </p:sp>
      <p:sp>
        <p:nvSpPr>
          <p:cNvPr id="24" name="Coma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05072"/>
            <a:ext cx="2560320" cy="457200"/>
          </a:xfrm>
          <a:prstGeom prst="rect">
            <a:avLst/>
          </a:prstGeom>
          <a:solidFill>
            <a:srgbClr val="0F1B30"/>
          </a:solidFill>
          <a:ln w="12700">
            <a:solidFill>
              <a:srgbClr val="0F1B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Run All Tests</a:t>
            </a:r>
            <a:endParaRPr lang="en-US" sz="1100" dirty="0"/>
          </a:p>
        </p:txBody>
      </p:sp>
      <p:sp>
        <p:nvSpPr>
          <p:cNvPr id="26" name="Coma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solidFill>
            <a:srgbClr val="0F1B30"/>
          </a:solidFill>
          <a:ln w="12700">
            <a:solidFill>
              <a:srgbClr val="0F1B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Debug Failed Tests</a:t>
            </a:r>
            <a:endParaRPr lang="en-US" sz="1100" dirty="0"/>
          </a:p>
        </p:txBody>
      </p:sp>
      <p:sp>
        <p:nvSpPr>
          <p:cNvPr id="28" name="Coma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4005072"/>
            <a:ext cx="2560320" cy="457200"/>
          </a:xfrm>
          <a:prstGeom prst="rect">
            <a:avLst/>
          </a:prstGeom>
          <a:solidFill>
            <a:srgbClr val="0F1B30"/>
          </a:solidFill>
          <a:ln w="12700">
            <a:solidFill>
              <a:srgbClr val="0F1B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E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Show Output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VISIÓN GENERAL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de trabajo en tres fases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Tarjeta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08760"/>
            <a:ext cx="261518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8" name="Acento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08760"/>
            <a:ext cx="2615184" cy="82296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719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D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86384" y="2331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 el entorno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287121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Code, SDK de .NET y Kit de desarrollo de C# para crear el proyecto de pruebas y referenciar el proyecto en prueba.</a:t>
            </a:r>
            <a:endParaRPr lang="en-US" sz="1050" dirty="0"/>
          </a:p>
        </p:txBody>
      </p:sp>
      <p:sp>
        <p:nvSpPr>
          <p:cNvPr id="12" name="Flecha de fluj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3824" y="2651760"/>
            <a:ext cx="18288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  <a:tailEnd type="triangle"/>
          </a:ln>
        </p:spPr>
      </p:sp>
      <p:sp>
        <p:nvSpPr>
          <p:cNvPr id="13" name="Tarjeta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1508760"/>
            <a:ext cx="2615184" cy="2286000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4" name="Acento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1508760"/>
            <a:ext cx="2615184" cy="82296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1719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D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584448" y="2331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código de prueba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84448" y="287121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en la vista Chat genera las pruebas unitarias para el código de la aplicación.</a:t>
            </a:r>
            <a:endParaRPr lang="en-US" sz="1050" dirty="0"/>
          </a:p>
        </p:txBody>
      </p:sp>
      <p:sp>
        <p:nvSpPr>
          <p:cNvPr id="18" name="Flecha de fluj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1888" y="2651760"/>
            <a:ext cx="18288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  <a:tailEnd type="triangle"/>
          </a:ln>
        </p:spPr>
      </p:sp>
      <p:sp>
        <p:nvSpPr>
          <p:cNvPr id="19" name="Tarjeta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1508760"/>
            <a:ext cx="261518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20" name="Acento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1508760"/>
            <a:ext cx="2615184" cy="82296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17190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D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82512" y="2331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y mantener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82512" y="287121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Explorador de pruebas para ejecutar, y Copilot para ampliar la cobertura y corregir errores.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0416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unidades restantes se centran en las herramientas de Copilot para generar, ejecutar y mantener las pruebas.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GENERACIÓN DE PRUEBAS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vista Chat de Visual Studio Code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3350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Lugar principal para configurar el marco, generar pruebas para un archivo o selección, refinarlas y ejecutarlas iterando sobre los errores en una misma sesión. Se abre con Ctrl+Alt+I (Cmd+Alt+I en macOS) o desde el icono de Copilot → Toggle Chat.</a:t>
            </a:r>
            <a:endParaRPr lang="en-US" sz="1250" dirty="0"/>
          </a:p>
        </p:txBody>
      </p:sp>
      <p:sp>
        <p:nvSpPr>
          <p:cNvPr id="8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11680"/>
            <a:ext cx="261518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11680"/>
            <a:ext cx="64008" cy="1600200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57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Destino del agente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Determina dónde se ejecuta el agente. Local permite trabajar en el editor con acceso al área de trabajo, herramientas y modelos.</a:t>
            </a:r>
            <a:endParaRPr lang="en-US" sz="1050" dirty="0"/>
          </a:p>
        </p:txBody>
      </p:sp>
      <p:sp>
        <p:nvSpPr>
          <p:cNvPr id="12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2011680"/>
            <a:ext cx="261518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2011680"/>
            <a:ext cx="64008" cy="1600200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2736" y="2157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02736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el rol de la IA. Los agentes locales integrados son Ask, Plan y Agent.</a:t>
            </a:r>
            <a:endParaRPr lang="en-US" sz="1050" dirty="0"/>
          </a:p>
        </p:txBody>
      </p:sp>
      <p:sp>
        <p:nvSpPr>
          <p:cNvPr id="16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2011680"/>
            <a:ext cx="261518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2011680"/>
            <a:ext cx="64008" cy="1600200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157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Nivel de permiso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Aprobaciones predeterminadas · Omisión de aprobaciones · Autopilot.</a:t>
            </a:r>
            <a:endParaRPr lang="en-US" sz="1050" dirty="0"/>
          </a:p>
        </p:txBody>
      </p:sp>
      <p:sp>
        <p:nvSpPr>
          <p:cNvPr id="20" name="Recomenda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94760"/>
            <a:ext cx="804672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9476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Recomendado: Agente + aprobaciones predeterminadas — el Agente edita archivos y ejecuta pruebas, y las aprobaciones mantienen informado al usuario.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GENERAR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Preguntar y configuración inicial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64008" cy="2926080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Preguntar (Ask)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810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 y planifica sin modificar archivos ni invocar herramientas.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21284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 casos de prueba para métodos complejos.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Identificar casos perimetrales y condiciones de límite.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Recomendaciones de marcos o estilos de aserción.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 ejemplos de pruebas sin escribirlos en disco.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6758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57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Flujo: abrir Chat → seleccionar Preguntar → adjuntar el archivo o selección → preguntar → cambiar a Agente para generar.</a:t>
            </a:r>
            <a:endParaRPr lang="en-US" sz="1050" dirty="0"/>
          </a:p>
        </p:txBody>
      </p:sp>
      <p:sp>
        <p:nvSpPr>
          <p:cNvPr id="13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71600"/>
            <a:ext cx="3931920" cy="2926080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4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71600"/>
            <a:ext cx="64008" cy="2926080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con /setupTests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810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 un marco de pruebas cuando el proyecto todavía no lo tiene.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21284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Recomendar un marco de pruebas.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Instalar los paquetes necesarios.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el proyecto de pruebas.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Recomendar extensiones de pruebas para VS Code.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6758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57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Flujo: abrir Chat → seleccionar Agente → ejecutar /setupTests → confirmar herramientas y comandos.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AGENTE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pruebas con /tests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33502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comando /tests genera pruebas unitarias para el código activo en el editor. En modo Agente se escriben directamente en un archivo adecuado: Copilot detecta el marco existente y el estilo de codificación del proyecto.</a:t>
            </a:r>
            <a:endParaRPr lang="en-US" sz="1250" dirty="0"/>
          </a:p>
        </p:txBody>
      </p:sp>
      <p:sp>
        <p:nvSpPr>
          <p:cNvPr id="8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38528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38528"/>
            <a:ext cx="64008" cy="1783080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66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un archivo completo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el archivo de código y Copilot Chat en modo Agente.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/tests con instrucciones adicionales.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Confirmar las herramientas de lectura, escritura y ejecución.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los cambios y seleccionar Mantener o Deshacer.</a:t>
            </a:r>
            <a:endParaRPr lang="en-US" sz="1050" dirty="0"/>
          </a:p>
        </p:txBody>
      </p:sp>
      <p:sp>
        <p:nvSpPr>
          <p:cNvPr id="12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938528"/>
            <a:ext cx="3931920" cy="1783080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938528"/>
            <a:ext cx="64008" cy="1783080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066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un método o bloque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el archivo y seleccionar el método o bloque.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Ejecutar /tests indicando que se use la selección.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y mantener o descartar los cambios.</a:t>
            </a:r>
            <a:endParaRPr lang="en-US" sz="1050" dirty="0"/>
          </a:p>
        </p:txBody>
      </p:sp>
      <p:sp>
        <p:nvSpPr>
          <p:cNvPr id="16" name="No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77056"/>
            <a:ext cx="8046720" cy="6217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77056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También sirve el lenguaje natural: “crear pruebas unitarias para CalculateDiscount, con casos límite para valores negativos y cero”, incluyendo la ejecución posterior en el mismo mensaje.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 DE LAS PRUEBAS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Contexto, revisión y personalización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261518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64008" cy="2395728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99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contexto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182880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Adjuntar archivos, carpetas, símbolos o la selección actual.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Arrastrar archivos desde el Explorador o las pestañas.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Menciones #selection y #codebase.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Markdown con convenciones de prueba.</a:t>
            </a:r>
            <a:endParaRPr lang="en-US" sz="1050" dirty="0"/>
          </a:p>
        </p:txBody>
      </p:sp>
      <p:sp>
        <p:nvSpPr>
          <p:cNvPr id="11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1371600"/>
            <a:ext cx="261518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1371600"/>
            <a:ext cx="64008" cy="2395728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1499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y refinar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02736" y="182880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la diferencia resaltada en el editor.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Mantener o deshacer los cambios.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Compilar y ejecutar desde el explorador o el terminal.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Iterar con mensajes posteriores.</a:t>
            </a:r>
            <a:endParaRPr lang="en-US" sz="1050" dirty="0"/>
          </a:p>
        </p:txBody>
      </p:sp>
      <p:sp>
        <p:nvSpPr>
          <p:cNvPr id="15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1371600"/>
            <a:ext cx="261518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6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1371600"/>
            <a:ext cx="64008" cy="2395728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499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Personalizar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182880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Marcos preferidos, como xUnit o NUnit.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Convenciones de nombres de clases y métodos.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Arrange-Act-Assert.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parametrizadas para valores límite.</a:t>
            </a:r>
            <a:endParaRPr lang="en-US" sz="1050" dirty="0"/>
          </a:p>
        </p:txBody>
      </p:sp>
      <p:sp>
        <p:nvSpPr>
          <p:cNvPr id="19" name="Bloque de instruccion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58768"/>
            <a:ext cx="8046720" cy="566928"/>
          </a:xfrm>
          <a:prstGeom prst="rect">
            <a:avLst/>
          </a:prstGeom>
          <a:solidFill>
            <a:srgbClr val="0F1B30"/>
          </a:solidFill>
          <a:ln w="12700">
            <a:solidFill>
              <a:srgbClr val="0F1B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5876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4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instrucciones personalizadas viven en archivos *.instructions.md y el campo applyTo: tests/** limita su alcance; compartirlas por control de código fuente unifica al equipo.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· PLAN · AGENT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Comparación de agentes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20396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Adecuado para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Uso típico en pruebas unitarias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Preguntar (Ask)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Análisis de solo lectura y preguntas sobre el código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Explorar casos perimetrales, opciones de marco y ejemplos antes de escribir código.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Planes de implementación estructurados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Diseñar estrategias de pruebas de varios archivos para revisar antes de implementar.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Flujos autónomos y codificación de varios archivos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Generar pruebas, ejecutarlas y corregir errores mediante iteraciones.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Fondo del encabez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804672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359152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Adecuado para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02352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típico en pruebas unitarias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3520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Solicitudes Premium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38221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modo Agent, Copilot puede realizar varias solicitudes Premium para una sola tarea — tanto para el mensaje inicial como para las acciones posteriores. El total depende de la complejidad de la tarea, la cantidad de pasos y el modelo seleccionado.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TAREAS GRANDES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Planear con Plan, ejecutar con Agent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3931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64008" cy="2514600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99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7922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 la tarea, formula preguntas aclaratorias y propone un plan paso a paso antes de escribir código.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04288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 de alto nivel y desglose de pasos.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Pasos de comprobación para ejecutar las pruebas.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Decisiones documentadas y revisables.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Útil con varios archivos, nuevos accesorios o convenciones de equipo.</a:t>
            </a:r>
            <a:endParaRPr lang="en-US" sz="1100" dirty="0"/>
          </a:p>
        </p:txBody>
      </p:sp>
      <p:sp>
        <p:nvSpPr>
          <p:cNvPr id="12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71600"/>
            <a:ext cx="3931920" cy="2514600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71600"/>
            <a:ext cx="64008" cy="2514600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99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922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 tareas de varios pasos en todo el espacio de trabajo, con confirmación de herramientas y comandos.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04288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Preparar mediante scaffolding un proyecto de pruebas.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archivos de prueba y ejecutarlos.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informes de resultados.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Corregir los problemas encontrados durante la ejecución.</a:t>
            </a:r>
            <a:endParaRPr lang="en-US" sz="1100" dirty="0"/>
          </a:p>
        </p:txBody>
      </p:sp>
      <p:sp>
        <p:nvSpPr>
          <p:cNvPr id="17" name="Ruta recomend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05072"/>
            <a:ext cx="2615184" cy="51206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4005072"/>
            <a:ext cx="2340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E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primero — </a:t>
            </a: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Ambigüedad, varios archivos o convenciones por confirmar.</a:t>
            </a:r>
            <a:endParaRPr lang="en-US" sz="950" dirty="0"/>
          </a:p>
        </p:txBody>
      </p:sp>
      <p:sp>
        <p:nvSpPr>
          <p:cNvPr id="19" name="Ruta recomend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4005072"/>
            <a:ext cx="2615184" cy="51206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4005072"/>
            <a:ext cx="2340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E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directamente — </a:t>
            </a: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 bien definida, sin planificación intermedia.</a:t>
            </a:r>
            <a:endParaRPr lang="en-US" sz="950" dirty="0"/>
          </a:p>
        </p:txBody>
      </p:sp>
      <p:sp>
        <p:nvSpPr>
          <p:cNvPr id="21" name="Ruta recomend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4768" y="4005072"/>
            <a:ext cx="2615184" cy="51206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4005072"/>
            <a:ext cx="2340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E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→ Agent — </a:t>
            </a: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revisable más implementación autónoma.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MANTENIMIENTO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Ampliar cobertura y corregir errores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3931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64008" cy="2651760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99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 fantasma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7922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Finalización de código que aparece mientras se escribe, basada en los patrones existentes del archivo de pruebas.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04288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Colocar el cursor tras el último caso y pulsar Enter.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Empezar un método o escribir un comentario con el escenario.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 para aceptar la sugerencia, Esc para descartarla.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 mejor con Arrange-Act-Assert ya presente.</a:t>
            </a:r>
            <a:endParaRPr lang="en-US" sz="1100" dirty="0"/>
          </a:p>
        </p:txBody>
      </p:sp>
      <p:sp>
        <p:nvSpPr>
          <p:cNvPr id="12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71600"/>
            <a:ext cx="3931920" cy="2651760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  <a:effectLst>
            <a:outerShdw blurRad="127000" dist="25400" dir="5400000" algn="bl" rotWithShape="0">
              <a:srgbClr val="0B2545">
                <a:alpha val="8000"/>
              </a:srgbClr>
            </a:outerShdw>
          </a:effectLst>
        </p:spPr>
      </p:sp>
      <p:sp>
        <p:nvSpPr>
          <p:cNvPr id="1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71600"/>
            <a:ext cx="64008" cy="2651760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99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Corrección de pruebas con errores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922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caminos según el contexto disponible y el número de fallos.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19456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Explorador de pruebas: “Corregir error de prueba” abre Chat con la prueba y su salida.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/fixTestFailure: iniciar desde Chat adjuntando archivos o salida del terminal.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3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Agent: ejecuta, diagnostica, corrige y vuelve a ejecutar automáticamente.</a:t>
            </a:r>
            <a:endParaRPr lang="en-US" sz="1100" dirty="0"/>
          </a:p>
        </p:txBody>
      </p:sp>
      <p:sp>
        <p:nvSpPr>
          <p:cNvPr id="17" name="Nota f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96512"/>
            <a:ext cx="8046720" cy="384048"/>
          </a:xfrm>
          <a:prstGeom prst="rect">
            <a:avLst/>
          </a:prstGeom>
          <a:solidFill>
            <a:srgbClr val="F2F6FC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9651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corrección puede afectar al código de la aplicación, al código de prueba o a ambos. Volver a ejecutar la prueba para confirmarla.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7C4"/>
          </a:solidFill>
          <a:ln w="12700">
            <a:solidFill>
              <a:srgbClr val="1B5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 PRÁCTICO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Elección de la herramienta</a:t>
            </a:r>
            <a:endParaRPr lang="en-US" sz="2600" dirty="0"/>
          </a:p>
        </p:txBody>
      </p:sp>
      <p:sp>
        <p:nvSpPr>
          <p:cNvPr id="5" name="Regla de tít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33856"/>
            <a:ext cx="1371600" cy="0"/>
          </a:xfrm>
          <a:prstGeom prst="line">
            <a:avLst/>
          </a:prstGeom>
          <a:noFill/>
          <a:ln w="31750">
            <a:solidFill>
              <a:srgbClr val="0BA5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28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A3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 con GitHub Copilot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55219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Herramienta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Uso recomendado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Texto fantasma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Agregar casos a un archivo de pruebas existente que ya contiene el patrón deseado.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Corregir error en el Explorador de pruebas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Corregir rápidamente una única prueba con errores.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/fixTestFailure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Adjuntar contexto adicional o resolver varios fallos desde Chat.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Ejecutar pruebas, diagnosticar errores y aplicar correcciones en varios archivos durante una sesión.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Fondo del encabez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8046720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371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547872" y="1371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recomendado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Chat, Plan y Agent generan las pruebas iniciales; el texto fantasma amplía la cobertura y las herramientas de corrección mantienen el conjunto funcionando a medida que evoluciona el código.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A5C6"/>
          </a:solidFill>
          <a:ln w="12700">
            <a:solidFill>
              <a:srgbClr val="0BA5C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0BA5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revisión manual sigue siendo necesaria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4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pruebas generadas pueden no cubrir todos los escenarios. La revisión manual y la revisión de código siguen siendo imprescindibles para garantizar la calidad del conjunto de pruebas.</a:t>
            </a:r>
            <a:endParaRPr lang="en-US" sz="1400" dirty="0"/>
          </a:p>
        </p:txBody>
      </p:sp>
      <p:sp>
        <p:nvSpPr>
          <p:cNvPr id="6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520440"/>
            <a:ext cx="1280160" cy="0"/>
          </a:xfrm>
          <a:prstGeom prst="line">
            <a:avLst/>
          </a:prstGeom>
          <a:noFill/>
          <a:ln w="38100">
            <a:solidFill>
              <a:srgbClr val="0BA5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 el entorno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2900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con Chat, Plan y Agent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Ampliar y mantener las pruebas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2026-08-19T19:34:59Z</dcterms:modified>
</cp:coreProperties>
</file>