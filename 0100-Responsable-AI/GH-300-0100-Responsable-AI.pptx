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C8054-1F88-8917-3FDD-245EB23C8020}" v="3" dt="2026-08-19T18:18:02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Velo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B2E">
              <a:alpha val="88000"/>
            </a:srgbClr>
          </a:solidFill>
          <a:ln/>
        </p:spPr>
      </p:sp>
      <p:sp>
        <p:nvSpPr>
          <p:cNvPr id="4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91640"/>
            <a:ext cx="6400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FORMACIÓN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Principios, riesgos y buenas prácticas con GitHub Copilot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qué trata este módulo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en el contexto de GitHub Copilot, herramienta de IA generativa para desarrolladores.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utilizar Copilot de forma eficaz en el trabajo diario de desarrollo.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mitigar los riesgos éticos y operativos asociados al uso de IA.</a:t>
            </a:r>
            <a:endParaRPr lang="en-US" sz="14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3941064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723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Eficacia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3529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Aprovechar la asistencia de IA sin perder criterio técnico.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926080"/>
            <a:ext cx="3941064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92608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307238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28616" y="3401568"/>
            <a:ext cx="3529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Anticipar y gestionar los riesgos éticos y operativos.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vas a lograr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41064" cy="14630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5720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934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3529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Comprender y aplicar los principios de uso responsable de la IA.</a:t>
            </a:r>
            <a:endParaRPr lang="en-US" sz="1100" dirty="0"/>
          </a:p>
        </p:txBody>
      </p:sp>
      <p:sp>
        <p:nvSpPr>
          <p:cNvPr id="10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3941064" cy="14630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1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463040"/>
            <a:ext cx="45720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928616" y="160934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Riesgos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1938528"/>
            <a:ext cx="3529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limitaciones y mitigar los riesgos asociados a la IA.</a:t>
            </a:r>
            <a:endParaRPr lang="en-US" sz="1100" dirty="0"/>
          </a:p>
        </p:txBody>
      </p:sp>
      <p:sp>
        <p:nvSpPr>
          <p:cNvPr id="14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82112"/>
            <a:ext cx="3941064" cy="14630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5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82112"/>
            <a:ext cx="45720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28416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3529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Garantizar que el código generado por IA cumpla estándares éticos y los requisitos del proyecto.</a:t>
            </a:r>
            <a:endParaRPr lang="en-US" sz="1100" dirty="0"/>
          </a:p>
        </p:txBody>
      </p:sp>
      <p:sp>
        <p:nvSpPr>
          <p:cNvPr id="1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182112"/>
            <a:ext cx="3941064" cy="14630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182112"/>
            <a:ext cx="45720" cy="1463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4928616" y="3328416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28616" y="3657600"/>
            <a:ext cx="3529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Reconocer el valor de la transparencia y la responsabilidad para mantener la confianza de los usuarios.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MITIGACIÓN DE RIESGOS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Oportunidades con gestión del riesgo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pic>
        <p:nvPicPr>
          <p:cNvPr id="6" name="Image 0" descr="Ilustración abstracta de gobernanza y ética de la IA"/>
          <p:cNvPicPr>
            <a:picLocks noChangeAspect="1"/>
          </p:cNvPicPr>
          <p:nvPr/>
        </p:nvPicPr>
        <p:blipFill>
          <a:blip r:embed="rId3"/>
          <a:srcRect l="19154" r="19154"/>
          <a:stretch/>
        </p:blipFill>
        <p:spPr>
          <a:xfrm>
            <a:off x="5806440" y="1417320"/>
            <a:ext cx="283464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4173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IA ofrece oportunidades de innovación y eficiencia, pero presenta riesgos que deben gestionarse.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decisiones pueden ser difíciles de interpretar: problemas de transparencia y responsabilidad.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producir resultados no intencionados: decisiones sesgadas o violaciones de privacidad.</a:t>
            </a:r>
            <a:endParaRPr lang="en-US" sz="130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54680"/>
            <a:ext cx="1569720" cy="12344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54680"/>
            <a:ext cx="45720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300984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Gobernanza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630168"/>
            <a:ext cx="1158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Marcos sólidos de gobernanza.</a:t>
            </a:r>
            <a:endParaRPr lang="en-US" sz="110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0" y="3154680"/>
            <a:ext cx="1569720" cy="12344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0" y="3154680"/>
            <a:ext cx="45720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2484120" y="3300984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484120" y="3630168"/>
            <a:ext cx="1158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Procesos de IA explicables.</a:t>
            </a:r>
            <a:endParaRPr lang="en-US" sz="1100" dirty="0"/>
          </a:p>
        </p:txBody>
      </p:sp>
      <p:sp>
        <p:nvSpPr>
          <p:cNvPr id="16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8120" y="3154680"/>
            <a:ext cx="1569720" cy="123444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7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8120" y="3154680"/>
            <a:ext cx="45720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4236720" y="3300984"/>
            <a:ext cx="115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Supervisión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36720" y="3630168"/>
            <a:ext cx="1158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Intervención humana en el ciclo.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la IA responsable?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 para desarrollar, evaluar y desplegar sistemas de IA de forma segura, confiable y ética.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sistemas de IA son resultado de múltiples decisiones tomadas por quienes los desarrollan y despliegan.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orientar esas decisiones hacia resultados más beneficiosos y equitativos.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personas y sus objetivos deben permanecer en el centro de las decisiones de diseño.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2560320" cy="11887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45720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92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7216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Trato justo y consistente.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246120"/>
            <a:ext cx="2560320" cy="11887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246120"/>
            <a:ext cx="45720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392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7216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Comportamiento predecible.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246120"/>
            <a:ext cx="2560320" cy="11887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246120"/>
            <a:ext cx="45720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3924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7216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Decisiones explicables.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REFERENCIA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seis principios de Microsoft y GitHub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7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Equidad</a:t>
            </a:r>
            <a:endParaRPr lang="en-US" sz="1400" dirty="0"/>
          </a:p>
        </p:txBody>
      </p:sp>
      <p:sp>
        <p:nvSpPr>
          <p:cNvPr id="10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544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1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5544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 y seguridad</a:t>
            </a:r>
            <a:endParaRPr lang="en-US" sz="1400" dirty="0"/>
          </a:p>
        </p:txBody>
      </p:sp>
      <p:sp>
        <p:nvSpPr>
          <p:cNvPr id="14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5544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5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5544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45352" y="2212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 y seguridad</a:t>
            </a:r>
            <a:endParaRPr lang="en-US" sz="1400" dirty="0"/>
          </a:p>
        </p:txBody>
      </p:sp>
      <p:sp>
        <p:nvSpPr>
          <p:cNvPr id="18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546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9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546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Inclusividad</a:t>
            </a:r>
            <a:endParaRPr lang="en-US" sz="1400" dirty="0"/>
          </a:p>
        </p:txBody>
      </p:sp>
      <p:sp>
        <p:nvSpPr>
          <p:cNvPr id="22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31546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3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31546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74720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</a:t>
            </a:r>
            <a:endParaRPr lang="en-US" sz="1400" dirty="0"/>
          </a:p>
        </p:txBody>
      </p:sp>
      <p:sp>
        <p:nvSpPr>
          <p:cNvPr id="26" name="Tarjeta de princip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3154680"/>
            <a:ext cx="2596896" cy="13716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7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3154680"/>
            <a:ext cx="259689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45352" y="38130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Equidad (Fairness)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Tratar a todas las personas de forma justa, evitando impactos diferenciados sobre grupos en situaciones similares.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tratamientos médicos, préstamos o empleo: recomendaciones consistentes ante características equivalentes.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datos diversos y equilibrados reduce sesgos y promueve la equidad.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51760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51760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98064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datos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Auditar los datos de entrenamiento.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0504" y="2651760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0504" y="2651760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499104" y="2798064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modelos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9104" y="3127248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Muestras demográficas equilibradas.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8088" y="2651760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8088" y="2651760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6688" y="2798064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Reducir sesgos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6688" y="3127248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Técnicas específicas de mitigación.</a:t>
            </a:r>
            <a:endParaRPr lang="en-US" sz="1100" dirty="0"/>
          </a:p>
        </p:txBody>
      </p:sp>
      <p:sp>
        <p:nvSpPr>
          <p:cNvPr id="19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85032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85032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31336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Rendimiento por segmento de usuarios.</a:t>
            </a:r>
            <a:endParaRPr lang="en-US" sz="1100" dirty="0"/>
          </a:p>
        </p:txBody>
      </p:sp>
      <p:sp>
        <p:nvSpPr>
          <p:cNvPr id="23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0504" y="3685032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4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0504" y="3685032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3499104" y="3831336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9104" y="4160520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Invalidar puntuaciones injustas.</a:t>
            </a:r>
            <a:endParaRPr lang="en-US" sz="1100" dirty="0"/>
          </a:p>
        </p:txBody>
      </p:sp>
      <p:sp>
        <p:nvSpPr>
          <p:cNvPr id="2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8088" y="3685032"/>
            <a:ext cx="2602992" cy="86868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8088" y="3685032"/>
            <a:ext cx="45720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266688" y="3831336"/>
            <a:ext cx="2191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Equilibrar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6688" y="4160520"/>
            <a:ext cx="2191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diversos y representativos.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Confiabilidad y seguridad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sistemas deben funcionar de forma confiable, segura y consistente para generar confianza.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confiabilidad implica operación consistente, sin variaciones ni errores no deseados.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Deben ser robustos, precisos y predecibles en condiciones normales de uso.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3986784" cy="9144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45720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0662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Funcionar según diseño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358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Comportamiento acorde a lo especificado.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4296" y="2560320"/>
            <a:ext cx="3986784" cy="9144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4296" y="2560320"/>
            <a:ext cx="45720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82896" y="2706624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 con seguridad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2896" y="303580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 condiciones inesperadas.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3986784" cy="9144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39312"/>
            <a:ext cx="45720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856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Resistir manipulaciones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Frente a usos perjudiciales.</a:t>
            </a:r>
            <a:endParaRPr lang="en-US" sz="1100" dirty="0"/>
          </a:p>
        </p:txBody>
      </p:sp>
      <p:sp>
        <p:nvSpPr>
          <p:cNvPr id="19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4296" y="3639312"/>
            <a:ext cx="3986784" cy="91440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4296" y="3639312"/>
            <a:ext cx="45720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3785616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Minimizar daños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41148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Físicos, emocionales y financieros.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 y seguridad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Proteger la privacidad de los usuarios y la seguridad de sus datos.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Consentimiento previo, recopilación mínima, eliminación de datos sensibles y anonimización (seudonimización y agregación).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Cifrar los datos sensibles en tránsito y en reposo.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2578608" cy="14173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45720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950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 de claves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18688"/>
            <a:ext cx="2167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HSM, almacenes seguros como Microsoft Azure y envelope encryption.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743200"/>
            <a:ext cx="2578608" cy="14173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743200"/>
            <a:ext cx="45720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288950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organizativa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11296" y="3218688"/>
            <a:ext cx="2167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acceso a claves y modelos, rotación regular, copias de seguridad y auditorías periódicas.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743200"/>
            <a:ext cx="2578608" cy="141732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743200"/>
            <a:ext cx="45720" cy="1417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889504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limitado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3218688"/>
            <a:ext cx="2167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acceso de empleados a modelos y datos se limita según el nivel de sensibilidad.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Inclusividad (Inclusiveness)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pic>
        <p:nvPicPr>
          <p:cNvPr id="6" name="Image 0" descr="Ilustración abstracta de personas diversas conectadas en red"/>
          <p:cNvPicPr>
            <a:picLocks noChangeAspect="1"/>
          </p:cNvPicPr>
          <p:nvPr/>
        </p:nvPicPr>
        <p:blipFill>
          <a:blip r:embed="rId3"/>
          <a:srcRect l="19608" r="19608"/>
          <a:stretch/>
        </p:blipFill>
        <p:spPr>
          <a:xfrm>
            <a:off x="5806440" y="1371600"/>
            <a:ext cx="283464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371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Sistemas justos, accesibles y capaces de empoderar a todas las personas.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Funcionan para usuarios diversos, con distintas capacidades, regiones e idiomas.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Incorporan perspectivas de diferentes comunidades y contextos.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Contemplan barreras de discapacidad, idioma, infraestructura y conectividad.</a:t>
            </a:r>
            <a:endParaRPr lang="en-US" sz="1300" dirty="0"/>
          </a:p>
        </p:txBody>
      </p:sp>
      <p:sp>
        <p:nvSpPr>
          <p:cNvPr id="8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2446020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9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575304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Accesibilidad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904488"/>
            <a:ext cx="20345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por voz, subtítulos y lectores de pantalla.</a:t>
            </a:r>
            <a:endParaRPr lang="en-US" sz="1100" dirty="0"/>
          </a:p>
        </p:txBody>
      </p:sp>
      <p:sp>
        <p:nvSpPr>
          <p:cNvPr id="12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1820" y="3429000"/>
            <a:ext cx="2446020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3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1820" y="342900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3360420" y="3575304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global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60420" y="3904488"/>
            <a:ext cx="20345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Idiomas y contextos culturales; uso offline y con recursos limitados.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Transparencia (Transparency)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sistemas deben ser comprensibles e interpretables.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equipos explican cómo funcionan, justifican las decisiones de diseño y comunican capacidades y limitaciones con honestidad.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implementa con documentación de datos y modelos, interfaces explicativas, herramientas de depuración, dashboards de pruebas y logging auditable.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4000500" cy="8229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4572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43784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72968"/>
            <a:ext cx="3589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confianza y permite auditar el sistema.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0580" y="2697480"/>
            <a:ext cx="4000500" cy="8229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0580" y="2697480"/>
            <a:ext cx="4572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2843784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9180" y="3172968"/>
            <a:ext cx="3589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e informes del funcionamiento.</a:t>
            </a:r>
            <a:endParaRPr lang="en-US" sz="1100" dirty="0"/>
          </a:p>
        </p:txBody>
      </p:sp>
      <p:sp>
        <p:nvSpPr>
          <p:cNvPr id="15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4000500" cy="8229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6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4572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03904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Equidad y seguridad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33088"/>
            <a:ext cx="3589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 detectar sesgos y mejorar la seguridad.</a:t>
            </a:r>
            <a:endParaRPr lang="en-US" sz="1100" dirty="0"/>
          </a:p>
        </p:txBody>
      </p:sp>
      <p:sp>
        <p:nvSpPr>
          <p:cNvPr id="19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0580" y="3657600"/>
            <a:ext cx="4000500" cy="8229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20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0580" y="3657600"/>
            <a:ext cx="4572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4869180" y="3803904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9180" y="4133088"/>
            <a:ext cx="35890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Favorece el acceso y la comprensión de los usuarios.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 (Accountability)</a:t>
            </a:r>
            <a:endParaRPr lang="en-US" sz="2600" dirty="0"/>
          </a:p>
        </p:txBody>
      </p:sp>
      <p:sp>
        <p:nvSpPr>
          <p:cNvPr id="5" name="Línea divis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138160" cy="0"/>
          </a:xfrm>
          <a:prstGeom prst="line">
            <a:avLst/>
          </a:prstGeom>
          <a:noFill/>
          <a:ln w="12700">
            <a:solidFill>
              <a:srgbClr val="1F3D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Quienes crean y despliegan sistemas de IA asumen la responsabilidad por su funcionamiento.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desarrolladores monitorean continuamente el rendimiento y mitigan los riesgos detectados.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clave ante casos de daños algorítmicos, sesgos y usos indebidos.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F2F7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la considera un principio fundamental de su estándar de IA responsable.</a:t>
            </a:r>
            <a:endParaRPr lang="en-US" sz="1300" dirty="0"/>
          </a:p>
        </p:txBody>
      </p:sp>
      <p:sp>
        <p:nvSpPr>
          <p:cNvPr id="7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3954780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8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46704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Rendición de cuentas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35433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sistemas de IA responden ante las personas.</a:t>
            </a:r>
            <a:endParaRPr lang="en-US" sz="1100" dirty="0"/>
          </a:p>
        </p:txBody>
      </p:sp>
      <p:sp>
        <p:nvSpPr>
          <p:cNvPr id="11" name="Tarjeta de conteni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200400"/>
            <a:ext cx="3954780" cy="1051560"/>
          </a:xfrm>
          <a:prstGeom prst="rect">
            <a:avLst/>
          </a:prstGeom>
          <a:solidFill>
            <a:srgbClr val="13293F"/>
          </a:solidFill>
          <a:ln/>
        </p:spPr>
      </p:sp>
      <p:sp>
        <p:nvSpPr>
          <p:cNvPr id="12" name="Acento de 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3200400"/>
            <a:ext cx="45720" cy="1051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4900" y="3346704"/>
            <a:ext cx="3543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Responsabilidad organizativa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4900" y="3675888"/>
            <a:ext cx="35433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Quien despliega el sistema asume su operación.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la IA · GitHub Copilot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38160" y="4709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2026-08-19T18:12:27Z</dcterms:created>
  <dcterms:modified xsi:type="dcterms:W3CDTF">2026-08-19T18:19:07Z</dcterms:modified>
</cp:coreProperties>
</file>