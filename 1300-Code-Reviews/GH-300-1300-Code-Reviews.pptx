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0A396-E6DA-D9C6-2559-A895992463B6}" v="3" dt="2026-08-20T20:38:44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ustración abstracta de una revisión de código colaborativa"/>
          <p:cNvPicPr>
            <a:picLocks noChangeAspect="1"/>
          </p:cNvPicPr>
          <p:nvPr/>
        </p:nvPicPr>
        <p:blipFill>
          <a:blip r:embed="rId3"/>
          <a:srcRect l="22111" r="22111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Panel de port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" name="Regla de port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34440"/>
            <a:ext cx="82296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630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Revisiones de código con GitHub Copilot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B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Acelerar las revisiones, elevar la calidad y reducir la carga cognitiva del equipo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Capacitación técnica para equipos de desarrollo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las revisiones se vuelven un cuello de botella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54864" cy="1325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Ciclos largos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9385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revisiones se acumulan y retrasan la combinación de cambios.</a:t>
            </a:r>
            <a:endParaRPr lang="en-US" sz="11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146304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1463040"/>
            <a:ext cx="54864" cy="1325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Comentarios incoherentes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9385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revisor aplica criterios distintos entre equipos y repositorios.</a:t>
            </a:r>
            <a:endParaRPr lang="en-US" sz="11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01752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017520"/>
            <a:ext cx="54864" cy="1325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poco accionables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" y="34930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Cuesta convertir una observación en un cambio concreto de código.</a:t>
            </a:r>
            <a:endParaRPr lang="en-US" sz="11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301752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3017520"/>
            <a:ext cx="54864" cy="1325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desapercibidos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4930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de estilo y seguridad que llegan a la rama principal.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ROL DE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revisor colaborativo, no un reemplazo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Panel destac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371600"/>
            <a:ext cx="3200400" cy="32004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actúa como asistente de revisión: el juicio final y la aprobación siguen siendo humanos.</a:t>
            </a:r>
            <a:endParaRPr lang="en-US" sz="1500" dirty="0"/>
          </a:p>
        </p:txBody>
      </p:sp>
      <p:sp>
        <p:nvSpPr>
          <p:cNvPr id="8" name="Regla int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120" y="3200400"/>
            <a:ext cx="640080" cy="457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832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DF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buscado: revisiones más rápidas, mayor calidad y menos carga cognitiva para el equipo.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51960" y="1463040"/>
            <a:ext cx="4343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 problemas y sugerir mejoras concretas.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Redactar resúmenes y comentarios de revisión.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 y corregir vulnerabilidades.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instrucciones personalizadas de revisión.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 patrones y estándares coherentes entre equipos y repositorios.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código en GitHub.com y localmente en el IDE.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 APRENDIZAJE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vas a poder hacer al terminar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44752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4447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cómo Copilot simplifica las revisiones y las solicitudes de cambios.</a:t>
            </a:r>
            <a:endParaRPr lang="en-US" sz="1300" dirty="0"/>
          </a:p>
        </p:txBody>
      </p:sp>
      <p:sp>
        <p:nvSpPr>
          <p:cNvPr id="9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920240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9202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sus principales características de revisión.</a:t>
            </a:r>
            <a:endParaRPr lang="en-US" sz="1300" dirty="0"/>
          </a:p>
        </p:txBody>
      </p:sp>
      <p:sp>
        <p:nvSpPr>
          <p:cNvPr id="12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395728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395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Solicitar e interpretar revisiones en GitHub.com y comprender sus límites.</a:t>
            </a:r>
            <a:endParaRPr lang="en-US" sz="1300" dirty="0"/>
          </a:p>
        </p:txBody>
      </p:sp>
      <p:sp>
        <p:nvSpPr>
          <p:cNvPr id="15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871216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287121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revisiones locales en el IDE con instrucciones personalizadas.</a:t>
            </a:r>
            <a:endParaRPr lang="en-US" sz="1300" dirty="0"/>
          </a:p>
        </p:txBody>
      </p:sp>
      <p:sp>
        <p:nvSpPr>
          <p:cNvPr id="18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346704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33467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Utilizar PRU para análisis más profundos y con mayor contexto.</a:t>
            </a:r>
            <a:endParaRPr lang="en-US" sz="1300" dirty="0"/>
          </a:p>
        </p:txBody>
      </p:sp>
      <p:sp>
        <p:nvSpPr>
          <p:cNvPr id="21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822192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" y="38221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Automatizar revisiones entre repositorios con conjuntos de reglas.</a:t>
            </a:r>
            <a:endParaRPr lang="en-US" sz="1300" dirty="0"/>
          </a:p>
        </p:txBody>
      </p:sp>
      <p:sp>
        <p:nvSpPr>
          <p:cNvPr id="24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297680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" y="42976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las sugerencias con juicio humano y pruebas.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PRERREQUISITOS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necesitás antes de empezar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1783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1783080" cy="6400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691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de GitHub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60604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 los repositorios donde vas a revisar cambios.</a:t>
            </a:r>
            <a:endParaRPr lang="en-US" sz="1250" dirty="0"/>
          </a:p>
        </p:txBody>
      </p:sp>
      <p:sp>
        <p:nvSpPr>
          <p:cNvPr id="11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4912" y="1463040"/>
            <a:ext cx="1783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2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4912" y="1463040"/>
            <a:ext cx="1783080" cy="6400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2907792" y="1691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0779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habilitado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07792" y="260604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Pro, Pro+, Business o Enterprise para las funcionalidades completas.</a:t>
            </a:r>
            <a:endParaRPr lang="en-US" sz="1250" dirty="0"/>
          </a:p>
        </p:txBody>
      </p:sp>
      <p:sp>
        <p:nvSpPr>
          <p:cNvPr id="1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6592" y="1463040"/>
            <a:ext cx="1783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7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6592" y="1463040"/>
            <a:ext cx="1783080" cy="6400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691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Bases de revisión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260604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Conocimientos de solicitudes de cambios y revisión de código.</a:t>
            </a:r>
            <a:endParaRPr lang="en-US" sz="1250" dirty="0"/>
          </a:p>
        </p:txBody>
      </p:sp>
      <p:sp>
        <p:nvSpPr>
          <p:cNvPr id="21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8272" y="1463040"/>
            <a:ext cx="1783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2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8272" y="1463040"/>
            <a:ext cx="1783080" cy="6400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23" name="Text 21"/>
          <p:cNvSpPr/>
          <p:nvPr/>
        </p:nvSpPr>
        <p:spPr>
          <a:xfrm>
            <a:off x="6931152" y="1691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 (recomendado)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31152" y="260604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 o IDE de JetBrains para revisiones locales.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3232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funcionalidades completas de revisión requieren un plan de Copilot compatible.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EN EL PROCESO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Copilot agrega a la revisión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pic>
        <p:nvPicPr>
          <p:cNvPr id="6" name="Image 0" descr="Ilustración abstracta de un asistente que revisa una solicitud de cambios"/>
          <p:cNvPicPr>
            <a:picLocks noChangeAspect="1"/>
          </p:cNvPicPr>
          <p:nvPr/>
        </p:nvPicPr>
        <p:blipFill>
          <a:blip r:embed="rId3"/>
          <a:srcRect l="13333" r="13333"/>
          <a:stretch/>
        </p:blipFill>
        <p:spPr>
          <a:xfrm>
            <a:off x="5074920" y="1371600"/>
            <a:ext cx="352044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4630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 problemas comunes antes que un humano.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Redacta comentarios de revisión claros.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solicitudes de incorporación de cambios.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 riesgos de seguridad.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 directrices personalizadas del equipo.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 código dentro del IDE.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Trabaja con distintos lenguajes y convenciones.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CLAVE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capacidades que usarás a diario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17320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 de 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17320"/>
            <a:ext cx="54864" cy="56692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17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Resúmenes de cambios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4173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Descripción automática con el resumen y los archivos afectados.</a:t>
            </a:r>
            <a:endParaRPr lang="en-US" sz="1150" dirty="0"/>
          </a:p>
        </p:txBody>
      </p:sp>
      <p:sp>
        <p:nvSpPr>
          <p:cNvPr id="10" name="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075688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1" name="Acento de 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075688"/>
            <a:ext cx="54864" cy="56692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075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Correcciones de seguridad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0756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con el análisis de código para detectar vulnerabilidades.</a:t>
            </a:r>
            <a:endParaRPr lang="en-US" sz="1150" dirty="0"/>
          </a:p>
        </p:txBody>
      </p:sp>
      <p:sp>
        <p:nvSpPr>
          <p:cNvPr id="14" name="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734056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5" name="Acento de 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734056"/>
            <a:ext cx="54864" cy="56692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7340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Explicaciones línea a línea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73405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código y pedir que explique su funcionamiento.</a:t>
            </a:r>
            <a:endParaRPr lang="en-US" sz="1150" dirty="0"/>
          </a:p>
        </p:txBody>
      </p:sp>
      <p:sp>
        <p:nvSpPr>
          <p:cNvPr id="18" name="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392424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9" name="Acento de 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392424"/>
            <a:ext cx="54864" cy="56692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3924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Redacción de comentarios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339242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Comentarios accionables según procedimientos recomendados.</a:t>
            </a:r>
            <a:endParaRPr lang="en-US" sz="1150" dirty="0"/>
          </a:p>
        </p:txBody>
      </p:sp>
      <p:sp>
        <p:nvSpPr>
          <p:cNvPr id="22" name="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050792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3" name="Acento de fi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050792"/>
            <a:ext cx="54864" cy="56692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050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Revisiones en el IDE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4050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 y solucionar problemas antes de abrir la solicitud.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una entrada sin sanitizar a un parche seguro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arjeta de dete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3703320" cy="6400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2057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entrada sin sanitizar utilizada con eval() en el código de la solicitud de cambios.</a:t>
            </a:r>
            <a:endParaRPr lang="en-US" sz="1700" dirty="0"/>
          </a:p>
        </p:txBody>
      </p:sp>
      <p:sp>
        <p:nvSpPr>
          <p:cNvPr id="10" name="Tarjeta de corre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040" y="1463040"/>
            <a:ext cx="3703320" cy="23317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A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Sugiere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057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Reemplazar por un analizador seguro como JSON.parse(), con un parche alineado a las directrices del repositorio.</a:t>
            </a:r>
            <a:endParaRPr lang="en-US" sz="1700" dirty="0"/>
          </a:p>
        </p:txBody>
      </p:sp>
      <p:sp>
        <p:nvSpPr>
          <p:cNvPr id="13" name="Banda de no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023360"/>
            <a:ext cx="7863840" cy="566928"/>
          </a:xfrm>
          <a:prstGeom prst="rect">
            <a:avLst/>
          </a:prstGeom>
          <a:solidFill>
            <a:srgbClr val="EEF0F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23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 patrón aplica a otros lenguajes: por ejemplo, reemplazar exec() por subprocess.run() en Python.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PANORAMA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formas en que Copilot ayuda en las revisiones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508760"/>
            <a:ext cx="2423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84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de revisión de código</a:t>
            </a:r>
            <a:endParaRPr lang="en-US" sz="1250" dirty="0"/>
          </a:p>
        </p:txBody>
      </p:sp>
      <p:sp>
        <p:nvSpPr>
          <p:cNvPr id="9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508760"/>
            <a:ext cx="2423160" cy="1280160"/>
          </a:xfrm>
          <a:prstGeom prst="rect">
            <a:avLst/>
          </a:prstGeom>
          <a:solidFill>
            <a:srgbClr val="EEF0F9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655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3592" y="1984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Revisiones en varios lenguajes</a:t>
            </a:r>
            <a:endParaRPr lang="en-US" sz="1250" dirty="0"/>
          </a:p>
        </p:txBody>
      </p:sp>
      <p:sp>
        <p:nvSpPr>
          <p:cNvPr id="1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1616" y="1508760"/>
            <a:ext cx="2423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655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72784" y="19842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Formateo de datos en solicitudes de cambios</a:t>
            </a:r>
            <a:endParaRPr lang="en-US" sz="1250" dirty="0"/>
          </a:p>
        </p:txBody>
      </p:sp>
      <p:sp>
        <p:nvSpPr>
          <p:cNvPr id="15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017520"/>
            <a:ext cx="2423160" cy="1280160"/>
          </a:xfrm>
          <a:prstGeom prst="rect">
            <a:avLst/>
          </a:prstGeom>
          <a:solidFill>
            <a:srgbClr val="EEF0F9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63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49300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de resúmenes efectivos</a:t>
            </a:r>
            <a:endParaRPr lang="en-US" sz="12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3017520"/>
            <a:ext cx="2423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3163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93592" y="349300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Explicación y revisión del código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PRÁCTICA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desde la vista Archivos modificados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una línea o bloque de código en la solicitud de cambios.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a Copilot que sugiera mejoras, detecte problemas o proponga refactorizaciones.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Incorporar la propuesta al comentario junto con la explicación del revisor.</a:t>
            </a:r>
            <a:endParaRPr lang="en-US" sz="1400" dirty="0"/>
          </a:p>
        </p:txBody>
      </p:sp>
      <p:sp>
        <p:nvSpPr>
          <p:cNvPr id="7" name="Tarjeta de ejemp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0" y="1463040"/>
            <a:ext cx="2926080" cy="2194560"/>
          </a:xfrm>
          <a:prstGeom prst="rect">
            <a:avLst/>
          </a:prstGeom>
          <a:solidFill>
            <a:srgbClr val="EEF0F9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97880" y="19659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 lógica repetida en Ruby, Copilot propone una refactorización más limpia que el revisor puede adjuntar al comentario.</a:t>
            </a:r>
            <a:endParaRPr lang="en-US" sz="1200" dirty="0"/>
          </a:p>
        </p:txBody>
      </p:sp>
      <p:sp>
        <p:nvSpPr>
          <p:cNvPr id="10" name="Banda de conclus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886200"/>
            <a:ext cx="786384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8620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responsabilidad de la revisión sigue siendo humana; Copilot genera comentarios accionables.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Varios lenguajes y formato coherente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3703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 de 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3703320" cy="6400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en varios lenguajes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" y="22860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 desvíos de los procedimientos recomendados o de las directrices del equipo.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Propone mejoras alineadas con las convenciones de cada lenguaje.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comentar con precisión aunque el revisor no domine el lenguaje.</a:t>
            </a:r>
            <a:endParaRPr lang="en-US" sz="1350" dirty="0"/>
          </a:p>
        </p:txBody>
      </p:sp>
      <p:sp>
        <p:nvSpPr>
          <p:cNvPr id="10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1463040"/>
            <a:ext cx="37033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1" name="Acento de 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1463040"/>
            <a:ext cx="3703320" cy="6400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46904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Formateo de datos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46904" y="22860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 tablas mal formateadas en las descripciones de las solicitudes.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Propone una versión corregida según las directrices de Markdown de la empresa.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 las instrucciones de .github/copilot-instructions.md en línea.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como revisor asignado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544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agrega desde el menú Revisores de la solicitud de cambios.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 comentarios no aprueban ni rechazan: no bloquean las combinaciones.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comportan como los de cualquier revisor: reacciones, resolución y respuestas.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Señala tipos faltantes, problemas de formato y posibles errores.</a:t>
            </a:r>
            <a:endParaRPr lang="en-US" sz="1500" dirty="0"/>
          </a:p>
        </p:txBody>
      </p:sp>
      <p:sp>
        <p:nvSpPr>
          <p:cNvPr id="7" name="Dato destac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463040"/>
            <a:ext cx="2788920" cy="1600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691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30 s</a:t>
            </a:r>
            <a:endParaRPr lang="en-US" sz="3200" dirty="0"/>
          </a:p>
          <a:p>
            <a:pPr marL="0" indent="0">
              <a:buNone/>
            </a:pPr>
            <a:r>
              <a:rPr lang="en-US" sz="1200" dirty="0">
                <a:solidFill>
                  <a:srgbClr val="DCDF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duración habitual de una revisión de Copilot</a:t>
            </a:r>
            <a:endParaRPr lang="en-US" sz="3200" dirty="0"/>
          </a:p>
        </p:txBody>
      </p:sp>
      <p:sp>
        <p:nvSpPr>
          <p:cNvPr id="9" name="No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3200400"/>
            <a:ext cx="2788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0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3200400"/>
            <a:ext cx="54864" cy="13258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6053328" y="320040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 función es dar contexto y sugerencias a los revisores humanos, no emitir un veredicto.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pasos para revisar con Copilot en GitHub.com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81328"/>
            <a:ext cx="2423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09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1609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la solicitud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198424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o abrir la solicitud de incorporación de cambios.</a:t>
            </a:r>
            <a:endParaRPr lang="en-US" sz="1100" dirty="0"/>
          </a:p>
        </p:txBody>
      </p:sp>
      <p:sp>
        <p:nvSpPr>
          <p:cNvPr id="10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481328"/>
            <a:ext cx="2423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609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41064" y="1609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Copilot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75304" y="198424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Asignarlo desde el menú Revisores.</a:t>
            </a:r>
            <a:endParaRPr lang="en-US" sz="1100" dirty="0"/>
          </a:p>
        </p:txBody>
      </p:sp>
      <p:sp>
        <p:nvSpPr>
          <p:cNvPr id="14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1616" y="1481328"/>
            <a:ext cx="2423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609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0256" y="1609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Esperar la revisión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54496" y="198424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Suele completarse en menos de 30 segundos.</a:t>
            </a:r>
            <a:endParaRPr lang="en-US" sz="1100" dirty="0"/>
          </a:p>
        </p:txBody>
      </p:sp>
      <p:sp>
        <p:nvSpPr>
          <p:cNvPr id="18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962656"/>
            <a:ext cx="2423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090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61872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comentarios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" y="34655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las observaciones sobre cada línea de código.</a:t>
            </a:r>
            <a:endParaRPr lang="en-US" sz="1100" dirty="0"/>
          </a:p>
        </p:txBody>
      </p:sp>
      <p:sp>
        <p:nvSpPr>
          <p:cNvPr id="22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2962656"/>
            <a:ext cx="2423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3090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41064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sugerencias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75304" y="34655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soluciones cuando haga falta.</a:t>
            </a:r>
            <a:endParaRPr lang="en-US" sz="1100" dirty="0"/>
          </a:p>
        </p:txBody>
      </p:sp>
      <p:sp>
        <p:nvSpPr>
          <p:cNvPr id="26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1616" y="2962656"/>
            <a:ext cx="2423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090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20256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los cambios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54496" y="34655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las pruebas correspondientes.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de solicitud: “Sugerir una corrección para este comentario de revisión: reemplace exec() por una función más segura.”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tiene un papel de asesor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54864" cy="22860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no hace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9264" y="2057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aprueba ni rechaza solicitudes de cambios.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 comentarios no cuentan para las aprobaciones requeridas.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reemplaza a los revisores humanos.</a:t>
            </a:r>
            <a:endParaRPr lang="en-US" sz="1200" dirty="0"/>
          </a:p>
        </p:txBody>
      </p:sp>
      <p:sp>
        <p:nvSpPr>
          <p:cNvPr id="10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1463040"/>
            <a:ext cx="3703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1463040"/>
            <a:ext cx="54864" cy="22860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46904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qué usarlo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46904" y="2057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 problemas y generar sugerencias accionables.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Acelerar comprobaciones rutinarias y repetitivas.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Liberar tiempo para las decisiones complejas.</a:t>
            </a:r>
            <a:endParaRPr lang="en-US" sz="1200" dirty="0"/>
          </a:p>
        </p:txBody>
      </p:sp>
      <p:sp>
        <p:nvSpPr>
          <p:cNvPr id="14" name="Banda de conclus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931920"/>
            <a:ext cx="7863840" cy="6400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319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decisiones arquitectónicas, los matices y la aprobación final son responsabilidad humana.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DETECCIÓN TEMPRANA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Revisiones locales en el IDE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en Visual Studio Code o IDE de JetBrains antes de abrir la solicitud.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Detectar tempranamente infracciones de estilo, problemas de seguridad e incumplimientos de buenas prácticas.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reglas en .github/copilot-instructions.md: foco en seguridad, sin interpolaciones inseguras, docstrings con parámetros y valores devueltos.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Analizar diferencias más grandes con contexto alineado al estilo del repositorio.</a:t>
            </a:r>
            <a:endParaRPr lang="en-US" sz="1350" dirty="0"/>
          </a:p>
        </p:txBody>
      </p:sp>
      <p:sp>
        <p:nvSpPr>
          <p:cNvPr id="7" name="Tarjeta de c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463040"/>
            <a:ext cx="2788920" cy="2514600"/>
          </a:xfrm>
          <a:prstGeom prst="rect">
            <a:avLst/>
          </a:prstGeom>
          <a:solidFill>
            <a:srgbClr val="EEF0F9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6459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de uso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96596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desarrollador agrega código repetitivo en un servicio TypeScript. Copilot sugiere extraer una función auxiliar y el problema se corrige antes de enviar el código, reduciendo el ruido de la revisión posterior.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INSTRUCCIONES PERSONALIZADAS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específicas por rutas del repositorio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527048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5270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la carpeta .github/instructions en la raíz del repositorio.</a:t>
            </a:r>
            <a:endParaRPr lang="en-US" sz="1250" dirty="0"/>
          </a:p>
        </p:txBody>
      </p:sp>
      <p:sp>
        <p:nvSpPr>
          <p:cNvPr id="9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075688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2075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uno o varios archivos terminados en .instructions.md.</a:t>
            </a:r>
            <a:endParaRPr lang="en-US" sz="1250" dirty="0"/>
          </a:p>
        </p:txBody>
      </p:sp>
      <p:sp>
        <p:nvSpPr>
          <p:cNvPr id="12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624328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624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las rutas con applyTo usando sintaxis glob.</a:t>
            </a:r>
            <a:endParaRPr lang="en-US" sz="1250" dirty="0"/>
          </a:p>
        </p:txBody>
      </p:sp>
      <p:sp>
        <p:nvSpPr>
          <p:cNvPr id="15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172968"/>
            <a:ext cx="274320" cy="274320"/>
          </a:xfrm>
          <a:prstGeom prst="ellipse">
            <a:avLst/>
          </a:prstGeom>
          <a:solidFill>
            <a:srgbClr val="E8EAF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172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las instrucciones en Markdown debajo del frontmatter.</a:t>
            </a:r>
            <a:endParaRPr lang="en-US" sz="1250" dirty="0"/>
          </a:p>
        </p:txBody>
      </p:sp>
      <p:sp>
        <p:nvSpPr>
          <p:cNvPr id="18" name="Tarjeta de rut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1481328"/>
            <a:ext cx="3063240" cy="24688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A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Ejemplos de rutas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201168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app/models/**/*.rb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B9BE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 Ruby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**/*.ts, **/*.tsx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B9BE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TypeScript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**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9BE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el repositorio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aplica estas instrucciones en las revisiones y en la generación de código de las rutas correspondientes.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Automatizar revisiones con conjuntos de reglas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pic>
        <p:nvPicPr>
          <p:cNvPr id="6" name="Image 0" descr="Ilustración abstracta de reglas de automatización aplicadas a múltiples repositorios"/>
          <p:cNvPicPr>
            <a:picLocks noChangeAspect="1"/>
          </p:cNvPicPr>
          <p:nvPr/>
        </p:nvPicPr>
        <p:blipFill>
          <a:blip r:embed="rId3"/>
          <a:srcRect l="11107" r="11107"/>
          <a:stretch/>
        </p:blipFill>
        <p:spPr>
          <a:xfrm>
            <a:off x="5212080" y="1463040"/>
            <a:ext cx="338328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4630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Asignar Copilot automáticamente a las solicitudes dirigidas a ramas protegidas.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Combinar la revisión con comprobaciones de estado complementarias.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de forma coherente incluso cambios pequeños y actualizaciones de dependencias.</a:t>
            </a:r>
            <a:endParaRPr lang="en-US" sz="1350" dirty="0"/>
          </a:p>
        </p:txBody>
      </p:sp>
      <p:sp>
        <p:nvSpPr>
          <p:cNvPr id="8" name="Fila de comproba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06324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46888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estilo y legibilidad</a:t>
            </a:r>
            <a:endParaRPr lang="en-US" sz="1150" dirty="0"/>
          </a:p>
        </p:txBody>
      </p:sp>
      <p:sp>
        <p:nvSpPr>
          <p:cNvPr id="11" name="Fila de comproba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56616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scanning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4688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vulnerabilidades</a:t>
            </a:r>
            <a:endParaRPr lang="en-US" sz="1150" dirty="0"/>
          </a:p>
        </p:txBody>
      </p:sp>
      <p:sp>
        <p:nvSpPr>
          <p:cNvPr id="14" name="Fila de comproba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06908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4069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46888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Revisiones automáticas: cuenta, repositorio y organización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17320"/>
            <a:ext cx="2423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 de 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17320"/>
            <a:ext cx="2423160" cy="6400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Pro o Pro+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→ Su Copilot.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Buscar la revisión de código automática.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Habilitado.</a:t>
            </a:r>
            <a:endParaRPr lang="en-US" sz="1100" dirty="0"/>
          </a:p>
        </p:txBody>
      </p:sp>
      <p:sp>
        <p:nvSpPr>
          <p:cNvPr id="11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417320"/>
            <a:ext cx="2423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2" name="Acento de 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417320"/>
            <a:ext cx="2423160" cy="6400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Administradores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93592" y="228600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→ Código y automatización → Reglas.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Nuevo conjunto de reglas de rama, estado Activo.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Requerir solicitud de cambios y revisión de Copilot.</a:t>
            </a:r>
            <a:endParaRPr lang="en-US" sz="1100" dirty="0"/>
          </a:p>
        </p:txBody>
      </p:sp>
      <p:sp>
        <p:nvSpPr>
          <p:cNvPr id="16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1616" y="1417320"/>
            <a:ext cx="2423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7" name="Acento de 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1616" y="1417320"/>
            <a:ext cx="2423160" cy="64008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72784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Propietarios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784" y="2286000"/>
            <a:ext cx="205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→ Repositorio → Conjuntos de reglas.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Incluir o excluir repositorios y ramas de destino.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Exigir solicitud de cambios y revisión de Copilot.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 de solicitud Premium: qué son y qué habilitan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pic>
        <p:nvPicPr>
          <p:cNvPr id="6" name="Image 0" descr="Ilustración abstracta del consumo de unidades de solicitud premium"/>
          <p:cNvPicPr>
            <a:picLocks noChangeAspect="1"/>
          </p:cNvPicPr>
          <p:nvPr/>
        </p:nvPicPr>
        <p:blipFill>
          <a:blip r:embed="rId3"/>
          <a:srcRect l="13184" r="13184"/>
          <a:stretch/>
        </p:blipFill>
        <p:spPr>
          <a:xfrm>
            <a:off x="5212080" y="1463040"/>
            <a:ext cx="338328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 adicional de procesamiento y contexto para las tareas de revisión más exigentes.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21488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Analizar diferencias completas y de gran tamaño.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Interpretar directrices personalizadas del repositorio.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correcciones accionables y explicativas.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Comprobar seguridad, estilo y buenas prácticas en profundidad.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tareas rutinarias y ligeras pueden no consumir PRU.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EN EL EQUIPO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las PRU importan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2423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54864" cy="169164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más profundo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9659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Vulnerabilidades sutiles, lógica duplicada e infracciones de estilo en diferencias grandes.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463040"/>
            <a:ext cx="2423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2424" y="1463040"/>
            <a:ext cx="54864" cy="169164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Coherencia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21024" y="19659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mismas comprobaciones de seguridad, legibilidad y estilo en cada revisión.</a:t>
            </a:r>
            <a:endParaRPr lang="en-US" sz="11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1616" y="1463040"/>
            <a:ext cx="2423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1616" y="1463040"/>
            <a:ext cx="54864" cy="169164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ráfagas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19659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 la calidad en picos de actividad mientras los humanos deciden lo complejo.</a:t>
            </a:r>
            <a:endParaRPr lang="en-US" sz="1100" dirty="0"/>
          </a:p>
        </p:txBody>
      </p:sp>
      <p:sp>
        <p:nvSpPr>
          <p:cNvPr id="18" name="Tarjeta de ejemp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383280"/>
            <a:ext cx="7863840" cy="1143000"/>
          </a:xfrm>
          <a:prstGeom prst="rect">
            <a:avLst/>
          </a:prstGeom>
          <a:solidFill>
            <a:srgbClr val="EEF0F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5478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· microservicios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404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Go, Python y TypeScript, Copilot revisa cada servicio según las buenas prácticas de su lenguaje: detecta una llamada peligrosa a eval() en JavaScript y señala una falta de comprobación de errores en Go.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evaluar las revisiones basadas en PRU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Fila de métr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4800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54864" cy="9144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93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Plazo de solicitud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 desde la apertura hasta la combinación.</a:t>
            </a:r>
            <a:endParaRPr lang="en-US" sz="1200" dirty="0"/>
          </a:p>
        </p:txBody>
      </p:sp>
      <p:sp>
        <p:nvSpPr>
          <p:cNvPr id="10" name="Fila de métr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514600"/>
            <a:ext cx="4800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514600"/>
            <a:ext cx="54864" cy="9144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6609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de calidad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29900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problemas de estilo o seguridad tras la combinación.</a:t>
            </a:r>
            <a:endParaRPr lang="en-US" sz="1200" dirty="0"/>
          </a:p>
        </p:txBody>
      </p:sp>
      <p:sp>
        <p:nvSpPr>
          <p:cNvPr id="14" name="Fila de métr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566160"/>
            <a:ext cx="4800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566160"/>
            <a:ext cx="54864" cy="9144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124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 del equipo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40416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Percepción de rapidez y claridad de las revisiones.</a:t>
            </a:r>
            <a:endParaRPr lang="en-US" sz="1200" dirty="0"/>
          </a:p>
        </p:txBody>
      </p:sp>
      <p:sp>
        <p:nvSpPr>
          <p:cNvPr id="18" name="Tarjeta de result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463040"/>
            <a:ext cx="2788920" cy="30175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73736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días → 1 día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DF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 de combinación de solicitudes grandes tras habilitar revisiones con PRU, con menos confirmaciones de seguimiento.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3840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tácticas para usar bien las PRU</a:t>
            </a:r>
            <a:endParaRPr lang="en-US" sz="2600" dirty="0"/>
          </a:p>
        </p:txBody>
      </p:sp>
      <p:sp>
        <p:nvSpPr>
          <p:cNvPr id="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800600"/>
            <a:ext cx="8138160" cy="18288"/>
          </a:xfrm>
          <a:prstGeom prst="rect">
            <a:avLst/>
          </a:prstGeom>
          <a:solidFill>
            <a:srgbClr val="DDE1EC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6304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Planificar por adelantado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al 75 %, 90 % y 100 % del uso mensual.</a:t>
            </a:r>
            <a:endParaRPr lang="en-US" sz="1150" dirty="0"/>
          </a:p>
        </p:txBody>
      </p:sp>
      <p:sp>
        <p:nvSpPr>
          <p:cNvPr id="9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146304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Usarlas estratégicamente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Reservarlas para cambios grandes o de alto riesgo.</a:t>
            </a:r>
            <a:endParaRPr lang="en-US" sz="1150" dirty="0"/>
          </a:p>
        </p:txBody>
      </p:sp>
      <p:sp>
        <p:nvSpPr>
          <p:cNvPr id="1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69748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Refinar los mensajes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Solicitudes claras y específicas reducen reintentos.</a:t>
            </a:r>
            <a:endParaRPr lang="en-US" sz="1150" dirty="0"/>
          </a:p>
        </p:txBody>
      </p:sp>
      <p:sp>
        <p:nvSpPr>
          <p:cNvPr id="15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269748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Escalar el plan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Considerar un plan superior si el consumo crece de forma sostenida.</a:t>
            </a:r>
            <a:endParaRPr lang="en-US" sz="1150" dirty="0"/>
          </a:p>
        </p:txBody>
      </p:sp>
      <p:sp>
        <p:nvSpPr>
          <p:cNvPr id="18" name="Banda de ejemp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977640"/>
            <a:ext cx="7863840" cy="658368"/>
          </a:xfrm>
          <a:prstGeom prst="rect">
            <a:avLst/>
          </a:prstGeom>
          <a:solidFill>
            <a:srgbClr val="EEF0F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9776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−30 % </a:t>
            </a:r>
            <a:r>
              <a:rPr lang="en-US" sz="1200" dirty="0">
                <a:solidFill>
                  <a:srgbClr val="1B1F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consumo mensual en un equipo que reservó las revisiones premium para código de producción, sin perder calidad.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l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051560"/>
            <a:ext cx="82296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fundamental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3D6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PRU hacen posibles las funcionalidades avanzadas de revisión. Comprender su funcionamiento, medir su impacto y optimizar su uso permite realizar revisiones más profundas y contextuales, y escalar la calidad en toda la organización.</a:t>
            </a:r>
            <a:endParaRPr lang="en-US" sz="1500" dirty="0"/>
          </a:p>
        </p:txBody>
      </p:sp>
      <p:sp>
        <p:nvSpPr>
          <p:cNvPr id="5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246120"/>
            <a:ext cx="2286000" cy="1143000"/>
          </a:xfrm>
          <a:prstGeom prst="rect">
            <a:avLst/>
          </a:prstGeom>
          <a:solidFill>
            <a:srgbClr val="2A2666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profundidad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BE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contextual de diferencias grandes.</a:t>
            </a:r>
            <a:endParaRPr lang="en-US" sz="1050" dirty="0"/>
          </a:p>
        </p:txBody>
      </p:sp>
      <p:sp>
        <p:nvSpPr>
          <p:cNvPr id="8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3280" y="3246120"/>
            <a:ext cx="2286000" cy="1143000"/>
          </a:xfrm>
          <a:prstGeom prst="rect">
            <a:avLst/>
          </a:prstGeom>
          <a:solidFill>
            <a:srgbClr val="2A2666"/>
          </a:solidFill>
          <a:ln/>
        </p:spPr>
      </p:sp>
      <p:sp>
        <p:nvSpPr>
          <p:cNvPr id="9" name="Text 7"/>
          <p:cNvSpPr/>
          <p:nvPr/>
        </p:nvSpPr>
        <p:spPr>
          <a:xfrm>
            <a:off x="3584448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escala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84448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BE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Estándares coherentes entre repositorios.</a:t>
            </a:r>
            <a:endParaRPr lang="en-US" sz="1050" dirty="0"/>
          </a:p>
        </p:txBody>
      </p:sp>
      <p:sp>
        <p:nvSpPr>
          <p:cNvPr id="11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3246120"/>
            <a:ext cx="2286000" cy="1143000"/>
          </a:xfrm>
          <a:prstGeom prst="rect">
            <a:avLst/>
          </a:prstGeom>
          <a:solidFill>
            <a:srgbClr val="2A2666"/>
          </a:solidFill>
          <a:ln/>
        </p:spPr>
      </p:sp>
      <p:sp>
        <p:nvSpPr>
          <p:cNvPr id="12" name="Text 10"/>
          <p:cNvSpPr/>
          <p:nvPr/>
        </p:nvSpPr>
        <p:spPr>
          <a:xfrm>
            <a:off x="6144768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Juicio humano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4768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BE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aprobación final sigue siendo de las personas.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2026-08-20T21:47:45Z</dcterms:modified>
</cp:coreProperties>
</file>