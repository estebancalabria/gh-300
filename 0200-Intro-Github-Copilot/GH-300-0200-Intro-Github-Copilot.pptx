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E90E1D-CA72-3C72-A0D6-56610BAEF9DB}" v="3" dt="2026-08-19T18:27:15.9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a later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4" name="líneas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55080" y="1234440"/>
            <a:ext cx="2194560" cy="118872"/>
          </a:xfrm>
          <a:prstGeom prst="rect">
            <a:avLst/>
          </a:prstGeom>
          <a:solidFill>
            <a:srgbClr val="1F4E7A"/>
          </a:solidFill>
          <a:ln/>
        </p:spPr>
      </p:sp>
      <p:sp>
        <p:nvSpPr>
          <p:cNvPr id="5" name="líneas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55080" y="1618488"/>
            <a:ext cx="1554480" cy="1188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6" name="líneas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55080" y="2002536"/>
            <a:ext cx="1920240" cy="118872"/>
          </a:xfrm>
          <a:prstGeom prst="rect">
            <a:avLst/>
          </a:prstGeom>
          <a:solidFill>
            <a:srgbClr val="1F4E7A"/>
          </a:solidFill>
          <a:ln/>
        </p:spPr>
      </p:sp>
      <p:sp>
        <p:nvSpPr>
          <p:cNvPr id="7" name="líneas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55080" y="2386584"/>
            <a:ext cx="1097280" cy="1188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8" name="líneas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55080" y="2770632"/>
            <a:ext cx="2286000" cy="118872"/>
          </a:xfrm>
          <a:prstGeom prst="rect">
            <a:avLst/>
          </a:prstGeom>
          <a:solidFill>
            <a:srgbClr val="1F4E7A"/>
          </a:solidFill>
          <a:ln/>
        </p:spPr>
      </p:sp>
      <p:sp>
        <p:nvSpPr>
          <p:cNvPr id="9" name="líneas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55080" y="3154680"/>
            <a:ext cx="1463040" cy="1188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371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 DE APRENDIZAJE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173736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85800" y="26974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programador de pares basado en IA para todo el ciclo de vida del desarrollo de software</a:t>
            </a:r>
            <a:endParaRPr lang="en-US" sz="1400" dirty="0"/>
          </a:p>
        </p:txBody>
      </p:sp>
      <p:sp>
        <p:nvSpPr>
          <p:cNvPr id="13" name="subray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3657600"/>
            <a:ext cx="914400" cy="45720"/>
          </a:xfrm>
          <a:prstGeom prst="rect">
            <a:avLst/>
          </a:prstGeom>
          <a:solidFill>
            <a:srgbClr val="22D3E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es GitHub Copilot?</a:t>
            </a:r>
            <a:endParaRPr lang="en-US" sz="2800" dirty="0"/>
          </a:p>
        </p:txBody>
      </p:sp>
      <p:sp>
        <p:nvSpPr>
          <p:cNvPr id="5" name="subray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70432"/>
            <a:ext cx="822960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81328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asistente para desarrolladores basado en inteligencia artificial que ayuda a trabajar más rápido y con mayor confianza durante todo el ciclo de vida del desarrollo de software.</a:t>
            </a:r>
            <a:endParaRPr lang="en-US" sz="1400" dirty="0"/>
          </a:p>
        </p:txBody>
      </p:sp>
      <p:sp>
        <p:nvSpPr>
          <p:cNvPr id="7" name="separad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651760"/>
            <a:ext cx="3794760" cy="3200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83464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Desarrollado por Microsoft en colaboración con OpenAI, utiliza el sistema OpenAI Codex, entrenado con una alta concentración de código fuente público.</a:t>
            </a:r>
            <a:endParaRPr lang="en-US" sz="1250" dirty="0"/>
          </a:p>
        </p:txBody>
      </p:sp>
      <p:sp>
        <p:nvSpPr>
          <p:cNvPr id="9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7720" y="1417320"/>
            <a:ext cx="4023360" cy="3063240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10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7720" y="1417320"/>
            <a:ext cx="4023360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 el contexto del código y los comentarios para: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2011680"/>
            <a:ext cx="35204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Generar código.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Explicar lógica existente.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Refactorizar implementaciones.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Corregir errores.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Escribir pruebas.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3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Mantener al desarrollador en el flujo de trabajo.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RESULTADOS DE INVESTIGACIÓN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Productividad y satisfacción</a:t>
            </a:r>
            <a:endParaRPr lang="en-US" sz="2800" dirty="0"/>
          </a:p>
        </p:txBody>
      </p:sp>
      <p:sp>
        <p:nvSpPr>
          <p:cNvPr id="5" name="subray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70432"/>
            <a:ext cx="822960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arjeta de da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600200"/>
            <a:ext cx="2560320" cy="2194560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7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600200"/>
            <a:ext cx="2560320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874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46 %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 código nuevo es escrito mediante IA</a:t>
            </a:r>
            <a:endParaRPr lang="en-US" sz="1200" dirty="0"/>
          </a:p>
        </p:txBody>
      </p:sp>
      <p:sp>
        <p:nvSpPr>
          <p:cNvPr id="10" name="tarjeta de da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600200"/>
            <a:ext cx="2560320" cy="2194560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11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600200"/>
            <a:ext cx="2560320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874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55 %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520440" y="26974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más rápida la productividad general de los desarrolladores</a:t>
            </a:r>
            <a:endParaRPr lang="en-US" sz="1200" dirty="0"/>
          </a:p>
        </p:txBody>
      </p:sp>
      <p:sp>
        <p:nvSpPr>
          <p:cNvPr id="14" name="tarjeta de da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600200"/>
            <a:ext cx="2560320" cy="2194560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15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600200"/>
            <a:ext cx="2560320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874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74 %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309360" y="26974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los desarrolladores se sienten más centrados en el trabajo que les gusta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9776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investigaciones mencionadas indican mejoras de productividad y satisfacción al utilizar GitHub Copilot.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EXTENSIONES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Dónde está disponible</a:t>
            </a:r>
            <a:endParaRPr lang="en-US" sz="2800" dirty="0"/>
          </a:p>
        </p:txBody>
      </p:sp>
      <p:sp>
        <p:nvSpPr>
          <p:cNvPr id="5" name="subray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70432"/>
            <a:ext cx="822960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2542032" cy="1572768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7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64008" cy="157276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1609344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Studio Code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22376" y="2176272"/>
            <a:ext cx="21579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Extensión disponible en Visual Studio Marketplace.</a:t>
            </a:r>
            <a:endParaRPr lang="en-US" sz="110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1481328"/>
            <a:ext cx="2542032" cy="1572768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11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1481328"/>
            <a:ext cx="64008" cy="157276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609344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Studio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2176272"/>
            <a:ext cx="21579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Integración con el entorno de desarrollo de Microsoft.</a:t>
            </a:r>
            <a:endParaRPr lang="en-US" sz="1100" dirty="0"/>
          </a:p>
        </p:txBody>
      </p:sp>
      <p:sp>
        <p:nvSpPr>
          <p:cNvPr id="14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1481328"/>
            <a:ext cx="2542032" cy="1572768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15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1481328"/>
            <a:ext cx="64008" cy="157276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6318504" y="1609344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Vim / Neovim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18504" y="2176272"/>
            <a:ext cx="21579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Soporte para editores basados en terminal.</a:t>
            </a:r>
            <a:endParaRPr lang="en-US" sz="1100" dirty="0"/>
          </a:p>
        </p:txBody>
      </p:sp>
      <p:sp>
        <p:nvSpPr>
          <p:cNvPr id="18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10128"/>
            <a:ext cx="2542032" cy="1572768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19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10128"/>
            <a:ext cx="64008" cy="157276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" y="3438144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 de JetBrains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2376" y="4005072"/>
            <a:ext cx="21579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Compatible con la familia de entornos JetBrains.</a:t>
            </a:r>
            <a:endParaRPr lang="en-US" sz="1100" dirty="0"/>
          </a:p>
        </p:txBody>
      </p:sp>
      <p:sp>
        <p:nvSpPr>
          <p:cNvPr id="22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3310128"/>
            <a:ext cx="2542032" cy="1572768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23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3310128"/>
            <a:ext cx="64008" cy="157276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4" name="Text 22"/>
          <p:cNvSpPr/>
          <p:nvPr/>
        </p:nvSpPr>
        <p:spPr>
          <a:xfrm>
            <a:off x="3520440" y="3438144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520440" y="4005072"/>
            <a:ext cx="21579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Disponible sin necesidad de instalar extensión.</a:t>
            </a:r>
            <a:endParaRPr lang="en-US" sz="1100" dirty="0"/>
          </a:p>
        </p:txBody>
      </p:sp>
      <p:sp>
        <p:nvSpPr>
          <p:cNvPr id="2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3310128"/>
            <a:ext cx="2542032" cy="1572768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27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3310128"/>
            <a:ext cx="64008" cy="157276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8" name="Text 26"/>
          <p:cNvSpPr/>
          <p:nvPr/>
        </p:nvSpPr>
        <p:spPr>
          <a:xfrm>
            <a:off x="6318504" y="3438144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 y móvil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18504" y="4005072"/>
            <a:ext cx="21579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Asistencia desde la línea de comandos y el chat móvil.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Objetivos de aprendizaje</a:t>
            </a:r>
            <a:endParaRPr lang="en-US" sz="2800" dirty="0"/>
          </a:p>
        </p:txBody>
      </p:sp>
      <p:sp>
        <p:nvSpPr>
          <p:cNvPr id="5" name="subray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70432"/>
            <a:ext cx="822960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716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finalizar el módulo se podrá: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53949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Comprender cómo GitHub Copilot ayuda a escribir, comprender y mejorar código mediante sugerencias, explicaciones y generación contextual.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Comprender las distintas formas de activar GitHub Copilot.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Diferenciar los planes Free, Pro, Pro+, Business y Enterprise.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Configurar GitHub Copilot.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Solucionar problemas de GitHub Copilot.</a:t>
            </a:r>
            <a:endParaRPr lang="en-US" sz="1300" dirty="0"/>
          </a:p>
        </p:txBody>
      </p:sp>
      <p:sp>
        <p:nvSpPr>
          <p:cNvPr id="8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1371600"/>
            <a:ext cx="2468880" cy="3063240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9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1371600"/>
            <a:ext cx="2468880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6382512" y="1600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Requisitos previos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82512" y="201168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Conocimientos de GitHub.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Conocimientos básicos de GitHub Copilot.</a:t>
            </a:r>
            <a:endParaRPr lang="en-US" sz="1250" dirty="0"/>
          </a:p>
        </p:txBody>
      </p:sp>
      <p:sp>
        <p:nvSpPr>
          <p:cNvPr id="12" name="separad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82512" y="3063240"/>
            <a:ext cx="731520" cy="3200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3" name="Text 11"/>
          <p:cNvSpPr/>
          <p:nvPr/>
        </p:nvSpPr>
        <p:spPr>
          <a:xfrm>
            <a:off x="6382512" y="324612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módulo recorre las características, los planes de suscripción, las formas de interacción y la configuración de GitHub Copilot.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ENFOQUE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programador de pares de IA</a:t>
            </a:r>
            <a:endParaRPr lang="en-US" sz="2800" dirty="0"/>
          </a:p>
        </p:txBody>
      </p:sp>
      <p:sp>
        <p:nvSpPr>
          <p:cNvPr id="5" name="subray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70432"/>
            <a:ext cx="822960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630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 proporciona un programador de pares basado en IA que funciona con los principales lenguajes de programación.</a:t>
            </a:r>
            <a:endParaRPr lang="en-US" sz="1500" dirty="0"/>
          </a:p>
        </p:txBody>
      </p:sp>
      <p:sp>
        <p:nvSpPr>
          <p:cNvPr id="7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331720"/>
            <a:ext cx="2560320" cy="1783080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2468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04088" y="2880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Autocompletado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4088" y="321868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 foco inicial: mantener al desarrollador en el flujo mediante finalización de comentarios y código.</a:t>
            </a:r>
            <a:endParaRPr lang="en-US" sz="1100" dirty="0"/>
          </a:p>
        </p:txBody>
      </p:sp>
      <p:sp>
        <p:nvSpPr>
          <p:cNvPr id="11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2331720"/>
            <a:ext cx="2560320" cy="1783080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12" name="Text 10"/>
          <p:cNvSpPr/>
          <p:nvPr/>
        </p:nvSpPr>
        <p:spPr>
          <a:xfrm>
            <a:off x="3493008" y="2468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93008" y="2880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Ampliación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93008" y="321868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 capacidades se ampliaron para cubrir diferentes etapas del desarrollo.</a:t>
            </a:r>
            <a:endParaRPr lang="en-US" sz="1100" dirty="0"/>
          </a:p>
        </p:txBody>
      </p:sp>
      <p:sp>
        <p:nvSpPr>
          <p:cNvPr id="15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2331720"/>
            <a:ext cx="2560320" cy="1783080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2468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81928" y="2880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Ciclo completo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81928" y="321868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 diseño y la escritura a la revisión, las pruebas y la documentación.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CAPACIDADES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Características principales</a:t>
            </a:r>
            <a:endParaRPr lang="en-US" sz="2800" dirty="0"/>
          </a:p>
        </p:txBody>
      </p:sp>
      <p:sp>
        <p:nvSpPr>
          <p:cNvPr id="5" name="subray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70432"/>
            <a:ext cx="822960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2542032" cy="1600200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7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64008" cy="1600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1609344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Chat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22376" y="2176272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 integrado en el editor: preguntas sobre el código, explicaciones, pruebas y documentación.</a:t>
            </a:r>
            <a:endParaRPr lang="en-US" sz="110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1481328"/>
            <a:ext cx="2542032" cy="1600200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11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1481328"/>
            <a:ext cx="64008" cy="1600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609344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Resúmenes de PR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2176272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 automáticamente la descripción de los cambios de una solicitud de incorporación.</a:t>
            </a:r>
            <a:endParaRPr lang="en-US" sz="1100" dirty="0"/>
          </a:p>
        </p:txBody>
      </p:sp>
      <p:sp>
        <p:nvSpPr>
          <p:cNvPr id="14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1481328"/>
            <a:ext cx="2542032" cy="1600200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15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1481328"/>
            <a:ext cx="64008" cy="1600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6318504" y="1609344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Revisión de código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18504" y="2176272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Sugiere posibles problemas, describe cambios e identifica casos perimetrales.</a:t>
            </a:r>
            <a:endParaRPr lang="en-US" sz="1100" dirty="0"/>
          </a:p>
        </p:txBody>
      </p:sp>
      <p:sp>
        <p:nvSpPr>
          <p:cNvPr id="18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37560"/>
            <a:ext cx="2542032" cy="1600200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19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37560"/>
            <a:ext cx="64008" cy="1600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" y="3465576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para la CLI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2376" y="4032504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Sugerencias de comandos, scripts de shell y comprensión de errores.</a:t>
            </a:r>
            <a:endParaRPr lang="en-US" sz="1100" dirty="0"/>
          </a:p>
        </p:txBody>
      </p:sp>
      <p:sp>
        <p:nvSpPr>
          <p:cNvPr id="22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3337560"/>
            <a:ext cx="2542032" cy="1600200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23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3337560"/>
            <a:ext cx="64008" cy="1600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4" name="Text 22"/>
          <p:cNvSpPr/>
          <p:nvPr/>
        </p:nvSpPr>
        <p:spPr>
          <a:xfrm>
            <a:off x="3520440" y="3465576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Spaces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520440" y="4032504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Entorno contextual para planificar, refinar requisitos e iterar sobre diseños.</a:t>
            </a:r>
            <a:endParaRPr lang="en-US" sz="1100" dirty="0"/>
          </a:p>
        </p:txBody>
      </p:sp>
      <p:sp>
        <p:nvSpPr>
          <p:cNvPr id="2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3337560"/>
            <a:ext cx="2542032" cy="1600200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27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3337560"/>
            <a:ext cx="64008" cy="1600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8" name="Text 26"/>
          <p:cNvSpPr/>
          <p:nvPr/>
        </p:nvSpPr>
        <p:spPr>
          <a:xfrm>
            <a:off x="6318504" y="3465576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Agente en la nube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18504" y="4032504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Asistente autónomo para tareas de codificación en varios pasos.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CAPACIDADES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Chat, revisión y CLI en detalle</a:t>
            </a:r>
            <a:endParaRPr lang="en-US" sz="2800" dirty="0"/>
          </a:p>
        </p:txBody>
      </p:sp>
      <p:sp>
        <p:nvSpPr>
          <p:cNvPr id="5" name="subray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70432"/>
            <a:ext cx="822960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2560320" cy="2697480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7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2560320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6642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Chat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04088" y="2029968"/>
            <a:ext cx="2240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Formular preguntas sobre el código.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Obtener explicaciones sobre lógica o errores.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Generar pruebas y documentación.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Explorar nuevas funcionalidades.</a:t>
            </a:r>
            <a:endParaRPr lang="en-US" sz="110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463040"/>
            <a:ext cx="2560320" cy="2697480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11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463040"/>
            <a:ext cx="2560320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3493008" y="16642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Asistencia de revisión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93008" y="2029968"/>
            <a:ext cx="2240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Sugerencias sobre posibles problemas.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Descripción de cambios.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Identificación de casos perimetrales.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Propuestas de mejoras.</a:t>
            </a:r>
            <a:endParaRPr lang="en-US" sz="1100" dirty="0"/>
          </a:p>
        </p:txBody>
      </p:sp>
      <p:sp>
        <p:nvSpPr>
          <p:cNvPr id="14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463040"/>
            <a:ext cx="2560320" cy="2697480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15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463040"/>
            <a:ext cx="2560320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6642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para la CLI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81928" y="2029968"/>
            <a:ext cx="2240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Sugerencias de comandos y fragmentos.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Generar scripts de shell.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Comprender resultados y errores.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Generar proyectos desde la CLI.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31596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chat utiliza el contexto del código y del proyecto para relacionar sus respuestas con el trabajo actual.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SUSCRIPCIONES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Planes para desarrolladores individuales</a:t>
            </a:r>
            <a:endParaRPr lang="en-US" sz="2800" dirty="0"/>
          </a:p>
        </p:txBody>
      </p:sp>
      <p:sp>
        <p:nvSpPr>
          <p:cNvPr id="5" name="subray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70432"/>
            <a:ext cx="822960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arjeta de pla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2560320" cy="2834640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7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2560320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6642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Free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04088" y="2048256"/>
            <a:ext cx="22402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Finalizaciones de código en editores compatibles.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mensual limitado de finalizaciones y chat.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Acceso a modelos avanzados de IA.</a:t>
            </a:r>
            <a:endParaRPr lang="en-US" sz="1100" dirty="0"/>
          </a:p>
        </p:txBody>
      </p:sp>
      <p:sp>
        <p:nvSpPr>
          <p:cNvPr id="10" name="tarjeta de pla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463040"/>
            <a:ext cx="2560320" cy="2834640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11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463040"/>
            <a:ext cx="2560320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3493008" y="16642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Pro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93008" y="2048256"/>
            <a:ext cx="22402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Límites de uso superiores al plan gratuito.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Acceso prioritario a modelos recientes.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Sugerencias y explicaciones avanzadas.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Integración con VS Code, Visual Studio, JetBrains y Neovim.</a:t>
            </a:r>
            <a:endParaRPr lang="en-US" sz="1100" dirty="0"/>
          </a:p>
        </p:txBody>
      </p:sp>
      <p:sp>
        <p:nvSpPr>
          <p:cNvPr id="14" name="tarjeta de pla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463040"/>
            <a:ext cx="2560320" cy="2834640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15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463040"/>
            <a:ext cx="2560320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6642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Pro+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81928" y="2048256"/>
            <a:ext cx="22402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 lo de Pro, más capacidad adicional de solicitudes premium.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Acceso prioritario a la infraestructura.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adicional de modelos premium.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4074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límites de disponibilidad, pruebas y uso pueden cambiar con el tiempo.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SUSCRIPCIONES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Planes para organizaciones</a:t>
            </a:r>
            <a:endParaRPr lang="en-US" sz="2800" dirty="0"/>
          </a:p>
        </p:txBody>
      </p:sp>
      <p:sp>
        <p:nvSpPr>
          <p:cNvPr id="5" name="subray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70432"/>
            <a:ext cx="822960" cy="41148"/>
          </a:xfrm>
          <a:prstGeom prst="rect">
            <a:avLst/>
          </a:prstGeom>
          <a:solidFill>
            <a:srgbClr val="22D3EE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8138160" cy="1801368"/>
        </p:xfrm>
        <a:graphic>
          <a:graphicData uri="http://schemas.openxmlformats.org/drawingml/2006/table">
            <a:tbl>
              <a:tblPr/>
              <a:tblGrid>
                <a:gridCol w="4069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Business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>
                    <a:lnL w="254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Enterprise (incluye Business)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>
                    <a:lnL w="254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7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9CCE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Administración centralizada y controles de directivas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9CCE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Filtrado de vulnerabilidades de seguridad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9CCE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Referencia y filtrado de código público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9CCE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Indemnización por IP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9CCE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Seguridad y privacidad de nivel empresarial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9CCE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Chat en IDE y dispositivos móviles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>
                    <a:lnL w="254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5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9CCE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Sugerencias basadas en código interno o privado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9CCE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Integración con GitHub Enterprise Cloud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9CCE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Documentación y búsqueda mediante IA en el código base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9CCE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Etiquetas y resúmenes con IA para solicitudes de cambios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9CCE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Personalización y ajuste de modelos para toda la organización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9CCE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Integración profunda con GitHub para explorar el código base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>
                    <a:lnL w="254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37947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puede indexar el código base de la organización para generar sugerencias más adaptadas y trabajar con modelos privados.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Sugerencias en línea y paleta de comandos</a:t>
            </a:r>
            <a:endParaRPr lang="en-US" sz="2800" dirty="0"/>
          </a:p>
        </p:txBody>
      </p:sp>
      <p:sp>
        <p:nvSpPr>
          <p:cNvPr id="5" name="subray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70432"/>
            <a:ext cx="822960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3977640" cy="2788920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7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3977640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642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Sugerencias en línea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05740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Mientras se escribe, Copilot analiza el código y el contexto para ofrecer finalizaciones en tiempo real. Aparecen como texto atenuado delante del cursor.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Aceptar: </a:t>
            </a:r>
            <a:r>
              <a:rPr lang="en-US" sz="1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 o →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Rechazar: </a:t>
            </a:r>
            <a:r>
              <a:rPr lang="en-US" sz="1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seguir escribiendo o Esc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6576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Útiles para tareas repetitivas y generación rápida de código reutilizable.</a:t>
            </a:r>
            <a:endParaRPr lang="en-US" sz="1100" dirty="0"/>
          </a:p>
        </p:txBody>
      </p:sp>
      <p:sp>
        <p:nvSpPr>
          <p:cNvPr id="12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463040"/>
            <a:ext cx="3977640" cy="2788920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13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463040"/>
            <a:ext cx="3977640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6642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Paleta de comandos (VS Code)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92040" y="205740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Abrir con Ctrl+Shift+P (Windows/Linux) o Cmd+Shift+P (Mac).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Escribir Copilot.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Seleccionar acciones como Explica esto o Genera pruebas unitarias.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 de Copilot y chat insertado</a:t>
            </a:r>
            <a:endParaRPr lang="en-US" sz="2800" dirty="0"/>
          </a:p>
        </p:txBody>
      </p:sp>
      <p:sp>
        <p:nvSpPr>
          <p:cNvPr id="5" name="subray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70432"/>
            <a:ext cx="822960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3977640" cy="2926080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7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3977640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642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 de Copilot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Interacción mediante lenguaje natural desde el IDE: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Formular preguntas.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Solicitar fragmentos de código.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Explorar conceptos.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Obtener ayuda con sintaxis desconocida.</a:t>
            </a:r>
            <a:endParaRPr lang="en-US" sz="1200" dirty="0"/>
          </a:p>
        </p:txBody>
      </p:sp>
      <p:sp>
        <p:nvSpPr>
          <p:cNvPr id="11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463040"/>
            <a:ext cx="3977640" cy="2926080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12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463040"/>
            <a:ext cx="3977640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6642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 insertado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92040" y="201168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Conversación contextual sobre una sección del código, sin cambiar de contexto. Se abre con Ctrl+I (Windows/Linux) o Cmd+I (Mac). Comandos de barra diagonal: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283464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/explain</a:t>
            </a:r>
            <a:r>
              <a:rPr lang="en-US" sz="115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explica el código seleccionado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/suggest</a:t>
            </a:r>
            <a:r>
              <a:rPr lang="en-US" sz="115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sugerencias según el contexto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/tests</a:t>
            </a:r>
            <a:r>
              <a:rPr lang="en-US" sz="115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genera pruebas unitarias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/comment</a:t>
            </a:r>
            <a:r>
              <a:rPr lang="en-US" sz="115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convierte comentarios en código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Más formas de obtener asistencia</a:t>
            </a:r>
            <a:endParaRPr lang="en-US" sz="2800" dirty="0"/>
          </a:p>
        </p:txBody>
      </p:sp>
      <p:sp>
        <p:nvSpPr>
          <p:cNvPr id="5" name="subray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70432"/>
            <a:ext cx="822960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2542032" cy="1600200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7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64008" cy="1600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1609344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Comentarios al código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22376" y="2176272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describe la funcionalidad en un comentario y Copilot genera el código correspondiente.</a:t>
            </a:r>
            <a:endParaRPr lang="en-US" sz="110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1481328"/>
            <a:ext cx="2542032" cy="1600200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11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1481328"/>
            <a:ext cx="64008" cy="1600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609344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Sugerencias múltiples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2176272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Icono de bombilla o Alt+] / Option+] para recorrer alternativas y comparar enfoques.</a:t>
            </a:r>
            <a:endParaRPr lang="en-US" sz="1100" dirty="0"/>
          </a:p>
        </p:txBody>
      </p:sp>
      <p:sp>
        <p:nvSpPr>
          <p:cNvPr id="14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1481328"/>
            <a:ext cx="2542032" cy="1600200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15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1481328"/>
            <a:ext cx="64008" cy="1600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6318504" y="1609344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Explicaciones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18504" y="2176272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Seleccionar el bloque, clic derecho y elegir Copilot: Explica esto para comprender el código.</a:t>
            </a:r>
            <a:endParaRPr lang="en-US" sz="1100" dirty="0"/>
          </a:p>
        </p:txBody>
      </p:sp>
      <p:sp>
        <p:nvSpPr>
          <p:cNvPr id="18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37560"/>
            <a:ext cx="2542032" cy="1600200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19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37560"/>
            <a:ext cx="64008" cy="1600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" y="3465576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Generación de pruebas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2376" y="4032504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Seleccionar la función, abrir la paleta y elegir Copilot: Genera pruebas unitarias.</a:t>
            </a:r>
            <a:endParaRPr lang="en-US" sz="1100" dirty="0"/>
          </a:p>
        </p:txBody>
      </p:sp>
      <p:sp>
        <p:nvSpPr>
          <p:cNvPr id="22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3337560"/>
            <a:ext cx="2542032" cy="1600200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23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3337560"/>
            <a:ext cx="64008" cy="1600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4" name="Text 22"/>
          <p:cNvSpPr/>
          <p:nvPr/>
        </p:nvSpPr>
        <p:spPr>
          <a:xfrm>
            <a:off x="3520440" y="3465576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Importancia del contexto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520440" y="4032504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bien estructurado y comentado produce asistencia más precisa y relevante.</a:t>
            </a:r>
            <a:endParaRPr lang="en-US" sz="1100" dirty="0"/>
          </a:p>
        </p:txBody>
      </p:sp>
      <p:sp>
        <p:nvSpPr>
          <p:cNvPr id="2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3337560"/>
            <a:ext cx="2542032" cy="1600200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27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3337560"/>
            <a:ext cx="64008" cy="1600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8" name="Text 26"/>
          <p:cNvSpPr/>
          <p:nvPr/>
        </p:nvSpPr>
        <p:spPr>
          <a:xfrm>
            <a:off x="6318504" y="3465576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Interacción continua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18504" y="4032504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el uso, Copilot comprende mejor el estilo y las preferencias de codificación.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Registro e instalación en VS Code</a:t>
            </a:r>
            <a:endParaRPr lang="en-US" sz="2800" dirty="0"/>
          </a:p>
        </p:txBody>
      </p:sp>
      <p:sp>
        <p:nvSpPr>
          <p:cNvPr id="5" name="subray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70432"/>
            <a:ext cx="822960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3977640" cy="2834640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7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3977640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642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Registro en GitHub Copilot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0574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Seleccionar la foto de perfil de GitHub.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Ir a Configuración.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Acceder a Copilot dentro de Código, planeamiento y automatización.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6118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Después del registro se instala la extensión correspondiente al entorno utilizado.</a:t>
            </a:r>
            <a:endParaRPr lang="en-US" sz="1100" dirty="0"/>
          </a:p>
        </p:txBody>
      </p:sp>
      <p:sp>
        <p:nvSpPr>
          <p:cNvPr id="11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463040"/>
            <a:ext cx="3977640" cy="2834640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12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463040"/>
            <a:ext cx="3977640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6642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Instalar la extensión en VS Code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92040" y="205740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Abrir la página de la extensión en Visual Studio Marketplace.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Seleccionar Instalar.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Abrir VS Code cuando se solicite.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la pestaña Extensión: GitHub Copilot, seleccionar Instalar.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Iniciar sesión en GitHub desde VS Code si es necesario.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Habilitar, deshabilitar y ajustar</a:t>
            </a:r>
            <a:endParaRPr lang="en-US" sz="2800" dirty="0"/>
          </a:p>
        </p:txBody>
      </p:sp>
      <p:sp>
        <p:nvSpPr>
          <p:cNvPr id="5" name="subray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70432"/>
            <a:ext cx="822960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2542032" cy="1600200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7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64008" cy="1600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1609344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 de Copilot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22376" y="2176272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Seleccionar el icono de estado en el panel inferior de VS Code y elegir Habilitar o Deshabilitar.</a:t>
            </a:r>
            <a:endParaRPr lang="en-US" sz="110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1481328"/>
            <a:ext cx="2542032" cy="1600200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11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1481328"/>
            <a:ext cx="64008" cy="1600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609344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Alcance del apagado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2176272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Deshabilitar finalizaciones globalmente, o solo para el lenguaje del archivo actual.</a:t>
            </a:r>
            <a:endParaRPr lang="en-US" sz="1100" dirty="0"/>
          </a:p>
        </p:txBody>
      </p:sp>
      <p:sp>
        <p:nvSpPr>
          <p:cNvPr id="14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1481328"/>
            <a:ext cx="2542032" cy="1600200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15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1481328"/>
            <a:ext cx="64008" cy="1600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6318504" y="1609344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Sugerencias en línea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18504" y="2176272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Archivo &gt; Preferencias &gt; Configuración &gt; Extensiones &gt; GitHub Copilot.</a:t>
            </a:r>
            <a:endParaRPr lang="en-US" sz="1100" dirty="0"/>
          </a:p>
        </p:txBody>
      </p:sp>
      <p:sp>
        <p:nvSpPr>
          <p:cNvPr id="18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37560"/>
            <a:ext cx="2542032" cy="1600200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19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37560"/>
            <a:ext cx="64008" cy="1600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" y="3465576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Finalizaciones automáticas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2376" y="4032504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Editor: Activar las finalizaciones automáticas se habilitan o deshabilitan las sugerencias.</a:t>
            </a:r>
            <a:endParaRPr lang="en-US" sz="1100" dirty="0"/>
          </a:p>
        </p:txBody>
      </p:sp>
      <p:sp>
        <p:nvSpPr>
          <p:cNvPr id="22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3337560"/>
            <a:ext cx="2542032" cy="1600200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23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3337560"/>
            <a:ext cx="64008" cy="1600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4" name="Text 22"/>
          <p:cNvSpPr/>
          <p:nvPr/>
        </p:nvSpPr>
        <p:spPr>
          <a:xfrm>
            <a:off x="3520440" y="3465576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lenguaje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520440" y="4032504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pueden configurar los idiomas en los que Copilot estará habilitado o deshabilitado.</a:t>
            </a:r>
            <a:endParaRPr lang="en-US" sz="1100" dirty="0"/>
          </a:p>
        </p:txBody>
      </p:sp>
      <p:sp>
        <p:nvSpPr>
          <p:cNvPr id="2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3337560"/>
            <a:ext cx="2542032" cy="1600200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27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3337560"/>
            <a:ext cx="64008" cy="1600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8" name="Text 26"/>
          <p:cNvSpPr/>
          <p:nvPr/>
        </p:nvSpPr>
        <p:spPr>
          <a:xfrm>
            <a:off x="6318504" y="3465576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Autocompletado activo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18504" y="4032504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vez instalado, Copilot autocompleta código y permite configurar opciones avanzadas.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DIAGNÓSTICO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Solución de problemas</a:t>
            </a:r>
            <a:endParaRPr lang="en-US" sz="2800" dirty="0"/>
          </a:p>
        </p:txBody>
      </p:sp>
      <p:sp>
        <p:nvSpPr>
          <p:cNvPr id="5" name="subray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70432"/>
            <a:ext cx="822960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3977640" cy="2926080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7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3977640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642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Archivos de registro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05740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Desarrollador: Abrir el archivo de registro.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Desarrollador: Abrir la carpeta Registros de extensiones.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Registros de Electron: Ayuda &gt; Alternar Herramientas de desarrollo.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Redes restringidas, firewalls y proxies pueden causar problemas de conexión.</a:t>
            </a:r>
            <a:endParaRPr lang="en-US" sz="120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463040"/>
            <a:ext cx="3977640" cy="2926080"/>
          </a:xfrm>
          <a:prstGeom prst="rect">
            <a:avLst/>
          </a:prstGeom>
          <a:solidFill>
            <a:srgbClr val="13355C"/>
          </a:solidFill>
          <a:ln/>
        </p:spPr>
      </p:sp>
      <p:sp>
        <p:nvSpPr>
          <p:cNvPr id="11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463040"/>
            <a:ext cx="3977640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6642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Recopilar diagnósticos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92040" y="205740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Abrir la paleta de comandos: Shift+Command+P (Mac) o Ctrl+Shift+P (Windows/Linux).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Escribir Diagnósticos.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Seleccionar GitHub Copilot: Recopilar diagnósticos.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36576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abre un nuevo editor con información para inspeccionar o compartir con soporte técnico.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85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Ideas clave</a:t>
            </a:r>
            <a:endParaRPr lang="en-US" sz="3000" dirty="0"/>
          </a:p>
        </p:txBody>
      </p:sp>
      <p:sp>
        <p:nvSpPr>
          <p:cNvPr id="4" name="subray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280160"/>
            <a:ext cx="82296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00200"/>
            <a:ext cx="77724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4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 acompaña todo el ciclo de desarrollo: generar, explicar, refactorizar, corregir y probar código.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4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 capacidades abarcan chat, revisión de código, CLI, Spaces y un agente autónomo en la nube.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4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planes Free, Pro, Pro+, Business y Enterprise cubren desde el uso individual hasta la administración empresarial.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4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contexto es determinante: código estructurado y comentado produce mejores sugerencias.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US" sz="1400" dirty="0">
                <a:solidFill>
                  <a:srgbClr val="B9CC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configuración y los registros de VS Code permiten ajustar el comportamiento y diagnosticar problemas.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2012-07-30T22:48:03Z</dcterms:created>
  <dcterms:modified xsi:type="dcterms:W3CDTF">2026-08-19T18:28:16Z</dcterms:modified>
</cp:coreProperties>
</file>