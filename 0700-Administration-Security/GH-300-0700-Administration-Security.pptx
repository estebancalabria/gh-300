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71D68E-F79E-5FDE-2521-05ABFCCA16DC}" v="3" dt="2026-08-19T19:14:21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1B5FA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Círc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3108960"/>
            <a:ext cx="2194560" cy="2194560"/>
          </a:xfrm>
          <a:prstGeom prst="ellipse">
            <a:avLst/>
          </a:prstGeom>
          <a:solidFill>
            <a:srgbClr val="2E86D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FC1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Administración, seguridad,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exclusiones y solución de problemas</a:t>
            </a:r>
            <a:endParaRPr lang="en-US" sz="3400" dirty="0"/>
          </a:p>
        </p:txBody>
      </p:sp>
      <p:sp>
        <p:nvSpPr>
          <p:cNvPr id="7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310128"/>
            <a:ext cx="914400" cy="45720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520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F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segura y fiable a lo largo de todo el ciclo de vida del desarrollo de software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cubre este módulo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impulsa una IA segura y fiable, aprovechándola para mejorar la eficiencia y la innovación durante todo el ciclo de vida del desarrollo de software.</a:t>
            </a:r>
            <a:endParaRPr lang="en-US" sz="130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65960"/>
            <a:ext cx="3931920" cy="123444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65960"/>
            <a:ext cx="54864" cy="1234440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939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Planes de Copilot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4414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Funciones de administración y personalización según el plan.</a:t>
            </a:r>
            <a:endParaRPr lang="en-US" sz="1150" dirty="0"/>
          </a:p>
        </p:txBody>
      </p:sp>
      <p:sp>
        <p:nvSpPr>
          <p:cNvPr id="1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965960"/>
            <a:ext cx="3931920" cy="123444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965960"/>
            <a:ext cx="54864" cy="1234440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093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209397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Protecciones contractuales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24414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Indemnización por IP y filtro de código público coincidente.</a:t>
            </a:r>
            <a:endParaRPr lang="en-US" sz="1150" dirty="0"/>
          </a:p>
        </p:txBody>
      </p:sp>
      <p:sp>
        <p:nvSpPr>
          <p:cNvPr id="1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3931920" cy="123444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54864" cy="1234440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11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5112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Exclusiones de contenido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8587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Proteger archivos y repositorios confidenciales.</a:t>
            </a:r>
            <a:endParaRPr lang="en-US" sz="115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383280"/>
            <a:ext cx="3931920" cy="123444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383280"/>
            <a:ext cx="54864" cy="1234440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511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35112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de problemas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38587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Problemas comunes y cómo resolverlos.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Planes de GitHub Copilot y controles de privacidad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ofrece distintos planes para responder a las necesidades de desarrolladores y organizaciones, priorizando seguridad, privacidad, cumplimiento y transparencia.</a:t>
            </a:r>
            <a:endParaRPr lang="en-US" sz="1300" dirty="0"/>
          </a:p>
        </p:txBody>
      </p:sp>
      <p:sp>
        <p:nvSpPr>
          <p:cNvPr id="7" name="Tarjeta de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6596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65960"/>
            <a:ext cx="2560320" cy="502920"/>
          </a:xfrm>
          <a:prstGeom prst="rect">
            <a:avLst/>
          </a:prstGeom>
          <a:solidFill>
            <a:srgbClr val="7FA8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482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Gratis / Pro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individual con límites: 2000 autocompletados y 50 mensajes de chat al mes. Incluye filtro de código público.</a:t>
            </a:r>
            <a:endParaRPr lang="en-US" sz="1200" dirty="0"/>
          </a:p>
        </p:txBody>
      </p:sp>
      <p:sp>
        <p:nvSpPr>
          <p:cNvPr id="11" name="Tarjeta de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96596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965960"/>
            <a:ext cx="2560320" cy="50292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0482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6060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 usuarios, exclusiones de contenido, SSO SAML, métricas e indemnización por IP.</a:t>
            </a:r>
            <a:endParaRPr lang="en-US" sz="1200" dirty="0"/>
          </a:p>
        </p:txBody>
      </p:sp>
      <p:sp>
        <p:nvSpPr>
          <p:cNvPr id="15" name="Tarjeta de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96596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965960"/>
            <a:ext cx="2560320" cy="502920"/>
          </a:xfrm>
          <a:prstGeom prst="rect">
            <a:avLst/>
          </a:prstGeom>
          <a:solidFill>
            <a:srgbClr val="0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0482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26060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de Business más personalización con el código base privado y bases de conocimiento. Requiere Enterprise Cloud.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498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Educadores, estudiantes y determinados mantenedores de código abierto pueden recibir Copilot Pro de forma gratuita.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de administración por plan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283464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Característica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Gratis/Pro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Business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Enterprise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Filtro de código público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Administración de usuarios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Datos excluidos del entrenamiento de forma predeterminada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Seguridad de clase empresarial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Indemnización de propiedad intelectual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Exclusiones de contenido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Autenticación SAML de inicio de sesión único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Requiere GitHub Enterprise Cloud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Métricas de uso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5537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Gratis tiene limitaciones de uso.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Personalización y factores para elegir plan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164592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Personalización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Gratis/Pro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Business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Enterprise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Adaptar conversaciones al código base privado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Integraciones ilimitadas con extensiones (beta pública)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Crear una extensión privada para herramientas internas (beta pública)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Adjuntar bases de conocimiento al chat para contexto organizativo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7B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090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Factores para seleccionar un plan</a:t>
            </a:r>
            <a:endParaRPr lang="en-US" sz="1400" dirty="0"/>
          </a:p>
        </p:txBody>
      </p:sp>
      <p:sp>
        <p:nvSpPr>
          <p:cNvPr id="8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45720" cy="65836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34290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Privacidad y seguridad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7512" y="36576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y Enterprise ofrecen exclusiones de archivos, registros de auditoría e indemnización por IP.</a:t>
            </a:r>
            <a:endParaRPr lang="en-US" sz="1050" dirty="0"/>
          </a:p>
        </p:txBody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429000"/>
            <a:ext cx="45720" cy="65836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73752" y="34290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 directivas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73752" y="36576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Permiten administrar las directivas de Copilot a nivel organizativo.</a:t>
            </a:r>
            <a:endParaRPr lang="en-US" sz="1050" dirty="0"/>
          </a:p>
        </p:txBody>
      </p:sp>
      <p:sp>
        <p:nvSpPr>
          <p:cNvPr id="14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87368"/>
            <a:ext cx="45720" cy="65836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40873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Recopilación y retención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67512" y="4315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suscriptores individuales eligen si GitHub conserva sus indicaciones y sugerencias.</a:t>
            </a:r>
            <a:endParaRPr lang="en-US" sz="1050" dirty="0"/>
          </a:p>
        </p:txBody>
      </p:sp>
      <p:sp>
        <p:nvSpPr>
          <p:cNvPr id="1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4087368"/>
            <a:ext cx="45720" cy="65836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73752" y="40873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 legal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73752" y="43159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privacidad y la indemnización por IP reducen riesgos legales y con clientes.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Y CUMPLIMIENTO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Protecciones contractuales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8138160" cy="96012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96012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813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Indemnización por 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y Enterprise incluyen protección jurídica frente a reclamaciones de propiedad intelectual relacionadas con sugerencias de Copilot. Para que GitHub asuma esta responsabilidad, debe estar bloqueada la configuración de código público coincidente.</a:t>
            </a:r>
            <a:endParaRPr lang="en-US" sz="11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87168"/>
            <a:ext cx="8138160" cy="96012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87168"/>
            <a:ext cx="54864" cy="96012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968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Acuerdo de protección de datos (DPA)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87121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las medidas utilizadas para proteger los datos y cumplir las normativas de privacidad.</a:t>
            </a:r>
            <a:endParaRPr lang="en-US" sz="11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02736"/>
            <a:ext cx="8138160" cy="96012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02736"/>
            <a:ext cx="54864" cy="96012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124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Centro de confianza de GitHub Copilot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8678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Proporciona información sobre seguridad, privacidad, cumplimiento y propiedad intelectual de Copilot.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filtro de código público identifica y filtra sugerencias que coinciden con código disponible públicamente, reduciendo el riesgo de incorporar código no seguro o no conforme.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PÚBLICO COINCIDENTE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Quién administra el filtro de código público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26334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Ámbito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Quién administra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controla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Organización Business/Enterprise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Administradores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Filtro de código público para todos los miembros; necesario para la indemnización por IP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Cuenta personal Gratis/Pro/Pro+ con pago individual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Usuario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Permitir o bloquear sugerencias coincidentes con código público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Cuenta personal proporcionada por una organización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Usuario, sujeto a la política organizativa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29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opción puede estar bloqueada y reflejar la política de la organización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No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41648"/>
            <a:ext cx="8138160" cy="68580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41648"/>
            <a:ext cx="54864" cy="685800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1879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Bloquear las sugerencias que coinciden con código público es requisito para la indemnización por propiedad intelectual en los planes Business y Enterprise.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administrar el filtro de código público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una organización Business o Enterprise</a:t>
            </a:r>
            <a:endParaRPr lang="en-US" sz="1400" dirty="0"/>
          </a:p>
        </p:txBody>
      </p:sp>
      <p:sp>
        <p:nvSpPr>
          <p:cNvPr id="7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5564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a Configuración de la empresa u organización.</a:t>
            </a:r>
            <a:endParaRPr lang="en-US" sz="1150" dirty="0"/>
          </a:p>
        </p:txBody>
      </p:sp>
      <p:sp>
        <p:nvSpPr>
          <p:cNvPr id="10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5856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Copilot en Código, planificación y automatización.</a:t>
            </a:r>
            <a:endParaRPr lang="en-US" sz="1150" dirty="0"/>
          </a:p>
        </p:txBody>
      </p:sp>
      <p:sp>
        <p:nvSpPr>
          <p:cNvPr id="13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6148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Entrar en Características y desplazarse hasta Privacidad.</a:t>
            </a:r>
            <a:endParaRPr lang="en-US" sz="1150" dirty="0"/>
          </a:p>
        </p:txBody>
      </p:sp>
      <p:sp>
        <p:nvSpPr>
          <p:cNvPr id="16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6440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Buscar Sugerencias que coincidan con el código público.</a:t>
            </a:r>
            <a:endParaRPr lang="en-US" sz="1150" dirty="0"/>
          </a:p>
        </p:txBody>
      </p:sp>
      <p:sp>
        <p:nvSpPr>
          <p:cNvPr id="19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6732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749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la configuración, por ejemplo Bloquear, y guardar.</a:t>
            </a:r>
            <a:endParaRPr lang="en-US" sz="1150" dirty="0"/>
          </a:p>
        </p:txBody>
      </p:sp>
      <p:sp>
        <p:nvSpPr>
          <p:cNvPr id="22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3712" y="1371600"/>
            <a:ext cx="18288" cy="3108960"/>
          </a:xfrm>
          <a:prstGeom prst="rect">
            <a:avLst/>
          </a:prstGeom>
          <a:solidFill>
            <a:srgbClr val="D6E1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71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una cuenta personal Gratis, Pro o Pro+</a:t>
            </a:r>
            <a:endParaRPr lang="en-US" sz="1400" dirty="0"/>
          </a:p>
        </p:txBody>
      </p:sp>
      <p:sp>
        <p:nvSpPr>
          <p:cNvPr id="24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175564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a Configuración.</a:t>
            </a:r>
            <a:endParaRPr lang="en-US" sz="1150" dirty="0"/>
          </a:p>
        </p:txBody>
      </p:sp>
      <p:sp>
        <p:nvSpPr>
          <p:cNvPr id="27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225856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Copilot en Código, planificación y automatización.</a:t>
            </a:r>
            <a:endParaRPr lang="en-US" sz="1150" dirty="0"/>
          </a:p>
        </p:txBody>
      </p:sp>
      <p:sp>
        <p:nvSpPr>
          <p:cNvPr id="30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276148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Entrar en Características y luego en Privacidad.</a:t>
            </a:r>
            <a:endParaRPr lang="en-US" sz="1150" dirty="0"/>
          </a:p>
        </p:txBody>
      </p:sp>
      <p:sp>
        <p:nvSpPr>
          <p:cNvPr id="33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326440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Buscar Sugerencias que coincidan con el código público.</a:t>
            </a:r>
            <a:endParaRPr lang="en-US" sz="1150" dirty="0"/>
          </a:p>
        </p:txBody>
      </p:sp>
      <p:sp>
        <p:nvSpPr>
          <p:cNvPr id="36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376732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Permitir o Bloquear.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EXCLUSIONES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exclusiones de contenido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exclusión de contenido protege información confidencial evitando que determinados archivos, directorios o repositorios informen las sugerencias de finalización de código.</a:t>
            </a:r>
            <a:endParaRPr lang="en-US" sz="1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20240"/>
            <a:ext cx="3931920" cy="265176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920240"/>
            <a:ext cx="3931920" cy="265176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 repositorio</a:t>
            </a:r>
            <a:endParaRPr lang="en-US" sz="1400" dirty="0"/>
          </a:p>
        </p:txBody>
      </p:sp>
      <p:sp>
        <p:nvSpPr>
          <p:cNvPr id="10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53288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a la página principal del repositorio.</a:t>
            </a:r>
            <a:endParaRPr lang="en-US" sz="1150" dirty="0"/>
          </a:p>
        </p:txBody>
      </p:sp>
      <p:sp>
        <p:nvSpPr>
          <p:cNvPr id="13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03580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Configuración.</a:t>
            </a:r>
            <a:endParaRPr lang="en-US" sz="1150" dirty="0"/>
          </a:p>
        </p:txBody>
      </p:sp>
      <p:sp>
        <p:nvSpPr>
          <p:cNvPr id="16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53872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Código y automatización, seleccionar Copilot.</a:t>
            </a:r>
            <a:endParaRPr lang="en-US" sz="1150" dirty="0"/>
          </a:p>
        </p:txBody>
      </p:sp>
      <p:sp>
        <p:nvSpPr>
          <p:cNvPr id="19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04164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023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Repositorios y rutas de acceso para excluir, especificar archivos o directorios.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8348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una organización</a:t>
            </a:r>
            <a:endParaRPr lang="en-US" sz="1400" dirty="0"/>
          </a:p>
        </p:txBody>
      </p:sp>
      <p:sp>
        <p:nvSpPr>
          <p:cNvPr id="23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3480" y="253288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514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a Configuración de la organización.</a:t>
            </a:r>
            <a:endParaRPr lang="en-US" sz="1150" dirty="0"/>
          </a:p>
        </p:txBody>
      </p:sp>
      <p:sp>
        <p:nvSpPr>
          <p:cNvPr id="26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3480" y="303580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Copilot y luego Exclusión de contenido.</a:t>
            </a:r>
            <a:endParaRPr lang="en-US" sz="1150" dirty="0"/>
          </a:p>
        </p:txBody>
      </p:sp>
      <p:sp>
        <p:nvSpPr>
          <p:cNvPr id="29" name="Númer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3480" y="3538728"/>
            <a:ext cx="292608" cy="292608"/>
          </a:xfrm>
          <a:prstGeom prst="ellipse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Especificar los archivos o repositorios que se deben excluir.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EXCLUSIONES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de las exclusiones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se excluye contenido</a:t>
            </a:r>
            <a:endParaRPr lang="en-US" sz="140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373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37360"/>
            <a:ext cx="256032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202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finalización de código deja de estar disponible en los archivos afectados.</a:t>
            </a:r>
            <a:endParaRPr lang="en-US" sz="12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7373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737360"/>
            <a:ext cx="256032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9202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contenido excluido no informa las sugerencias de finalización en otros archivos.</a:t>
            </a:r>
            <a:endParaRPr lang="en-US" sz="1250" dirty="0"/>
          </a:p>
        </p:txBody>
      </p:sp>
      <p:sp>
        <p:nvSpPr>
          <p:cNvPr id="13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7373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737360"/>
            <a:ext cx="2560320" cy="54864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19202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contenido excluido no informa las respuestas del Chat de GitHub Copilot.</a:t>
            </a:r>
            <a:endParaRPr lang="en-US" sz="1250" dirty="0"/>
          </a:p>
        </p:txBody>
      </p:sp>
      <p:sp>
        <p:nvSpPr>
          <p:cNvPr id="16" name="No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813816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844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exclusiones mejoran la seguridad y el cumplimiento, pero reducen el contexto disponible y pueden afectar la precisión y utilidad de las sugerencias. Se aplican a los miembros con licencia Business o Enterprise.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EXCLUSIONES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Limitaciones de las exclusiones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8138160" cy="987552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4864" cy="987552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996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Limitaciones del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Algunas funciones, como el participante de chat @github en Visual Studio Code y Visual Studio, pueden no respetar las exclusiones.</a:t>
            </a:r>
            <a:endParaRPr lang="en-US" sz="12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14600"/>
            <a:ext cx="8138160" cy="987552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14600"/>
            <a:ext cx="54864" cy="987552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426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semántica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podría usar tipos, definiciones de símbolos o llamadas a funciones de un archivo excluido si el IDE las aporta desde uno no excluido.</a:t>
            </a:r>
            <a:endParaRPr lang="en-US" sz="12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8138160" cy="987552"/>
          </a:xfrm>
          <a:prstGeom prst="rect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54864" cy="987552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856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Ámbito de la directiva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069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exclusión solo se aplica a miembros de la organización donde fue configurada. Otras personas con acceso a los archivos pueden seguir recibiendo sugerencias o respuestas que hagan referencia a ellos.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exclusiones configuradas en una organización o repositorio dentro de una empresa se aplican a los miembros con licencia de GitHub Copilot Business o Enterprise.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de problemas comunes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Faltan sugerencias de código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Conexión a Internet: Copilot requiere una conexión activa.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Extensión de Copilot: utilizar la versión más reciente.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Compatibilidad del IDE: verificar que sea compatible y esté bien configurado.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Exclusiones de contenido: comprobar si los archivos están excluidos.</a:t>
            </a:r>
            <a:endParaRPr lang="en-US" sz="1150" dirty="0"/>
          </a:p>
        </p:txBody>
      </p:sp>
      <p:sp>
        <p:nvSpPr>
          <p:cNvPr id="8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3712" y="1325880"/>
            <a:ext cx="18288" cy="3200400"/>
          </a:xfrm>
          <a:prstGeom prst="rect">
            <a:avLst/>
          </a:prstGeom>
          <a:solidFill>
            <a:srgbClr val="D6E1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325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exclusiones no funcionan como se espera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64208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diferida: los cambios pueden tardar hasta 30 minutos; recargar la configuración para aplicarlos de inmediato.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Ámbito incorrecto: verificar que los miembros correspondientes tengan la configuración adecuada.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en el IDE: el icono de Copilot aparece con una línea diagonal si hay exclusión; el cursor indica si la organización o el repositorio lo deshabilitó.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Limitaciones del IDE: funciones como el Chat pueden no aplicar las exclusiones.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5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las sugerencias no son satisfactorias</a:t>
            </a:r>
            <a:endParaRPr lang="en-US" sz="2500" dirty="0"/>
          </a:p>
        </p:txBody>
      </p:sp>
      <p:sp>
        <p:nvSpPr>
          <p:cNvPr id="5" name="Reg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60704"/>
            <a:ext cx="822960" cy="41148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ajustes para mejorar los resultados</a:t>
            </a:r>
            <a:endParaRPr lang="en-US" sz="130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8308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Fondo de núme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8529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claro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comentarios descriptivos y nombres de variables significativos.</a:t>
            </a:r>
            <a:endParaRPr lang="en-US" sz="1250" dirty="0"/>
          </a:p>
        </p:txBody>
      </p:sp>
      <p:sp>
        <p:nvSpPr>
          <p:cNvPr id="1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78308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Fondo de núme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4720" y="2103120"/>
            <a:ext cx="548640" cy="54864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74720" y="28529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Comandos de Copilot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Algunos IDE ofrecen comandos específicos; en Visual Studio Code, Ctrl+Entrar.</a:t>
            </a:r>
            <a:endParaRPr lang="en-US" sz="1250" dirty="0"/>
          </a:p>
        </p:txBody>
      </p:sp>
      <p:sp>
        <p:nvSpPr>
          <p:cNvPr id="1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78308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Fondo de núme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2103120"/>
            <a:ext cx="548640" cy="548640"/>
          </a:xfrm>
          <a:prstGeom prst="ellipse">
            <a:avLst/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17920" y="28529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Longitud de la indicación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9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indicaciones más largas o detalladas para mejorar las sugerencias.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FC1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IDEAS CLAVE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Adoptar Copilot con control</a:t>
            </a:r>
            <a:endParaRPr lang="en-US" sz="3000" dirty="0"/>
          </a:p>
        </p:txBody>
      </p:sp>
      <p:sp>
        <p:nvSpPr>
          <p:cNvPr id="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965960"/>
            <a:ext cx="4572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842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C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plan define el nivel de administración, privacidad y personalización disponible.</a:t>
            </a:r>
            <a:endParaRPr lang="en-US" sz="1350" dirty="0"/>
          </a:p>
        </p:txBody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24328"/>
            <a:ext cx="4572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4261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C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indemnización por IP exige bloquear el filtro de código público coincidente.</a:t>
            </a:r>
            <a:endParaRPr lang="en-US" sz="1350" dirty="0"/>
          </a:p>
        </p:txBody>
      </p:sp>
      <p:sp>
        <p:nvSpPr>
          <p:cNvPr id="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282696"/>
            <a:ext cx="4572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0098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C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exclusiones protegen contenido sensible, a costa de menos contexto.</a:t>
            </a:r>
            <a:endParaRPr lang="en-US" sz="1350" dirty="0"/>
          </a:p>
        </p:txBody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941064"/>
            <a:ext cx="45720" cy="530352"/>
          </a:xfrm>
          <a:prstGeom prst="rect">
            <a:avLst/>
          </a:prstGeom>
          <a:solidFill>
            <a:srgbClr val="2E86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59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CE8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mayoría de los fallos se resuelven revisando conexión, versión, IDE y exclusiones.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2026-08-19T19:15:56Z</dcterms:modified>
</cp:coreProperties>
</file>