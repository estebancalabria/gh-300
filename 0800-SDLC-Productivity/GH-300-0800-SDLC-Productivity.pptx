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C8BE7F-4F1A-FB3C-DCD6-79878D9E4194}" v="3" dt="2026-08-19T19:20:41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a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10896" cy="5143500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3" name="Band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96" y="0"/>
            <a:ext cx="91440" cy="5143500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05156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7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141732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Productividad, personalización, SDLC, orquestación y medición de impacto</a:t>
            </a:r>
            <a:endParaRPr lang="en-US" sz="3400" dirty="0"/>
          </a:p>
        </p:txBody>
      </p:sp>
      <p:sp>
        <p:nvSpPr>
          <p:cNvPr id="6" name="Reg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2880360"/>
            <a:ext cx="1280160" cy="45720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12724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Casos de uso de la inteligencia artificial para desarrolladores: del autocompletado contextual a los flujos de trabajo orquestados y su medición con datos.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asistente integrado en el flujo de trabajo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1005840" cy="41148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ayuda a escribir código más rápido: se integra con los IDE más populares y ofrece sugerencias contextuales adaptadas al estilo y las preferencias de codificación de cada desarrollador.</a:t>
            </a:r>
            <a:endParaRPr lang="en-US" sz="1400" dirty="0"/>
          </a:p>
        </p:txBody>
      </p:sp>
      <p:sp>
        <p:nvSpPr>
          <p:cNvPr id="7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286000"/>
            <a:ext cx="1847088" cy="1737360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871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Productividad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962656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Acelera tareas rutinarias y ahorra tiempo.</a:t>
            </a:r>
            <a:endParaRPr lang="en-US" sz="110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5184" y="2286000"/>
            <a:ext cx="1847088" cy="1737360"/>
          </a:xfrm>
          <a:prstGeom prst="rect">
            <a:avLst/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8064" y="24871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Personalización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98064" y="2962656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adapta a las preferencias individuales.</a:t>
            </a:r>
            <a:endParaRPr lang="en-US" sz="1100" dirty="0"/>
          </a:p>
        </p:txBody>
      </p:sp>
      <p:sp>
        <p:nvSpPr>
          <p:cNvPr id="13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2286000"/>
            <a:ext cx="1847088" cy="1737360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24871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Alcance en el SDLC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64608" y="2962656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Impacta todas las fases del ciclo de vida.</a:t>
            </a:r>
            <a:endParaRPr lang="en-US" sz="1100" dirty="0"/>
          </a:p>
        </p:txBody>
      </p:sp>
      <p:sp>
        <p:nvSpPr>
          <p:cNvPr id="1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48272" y="2286000"/>
            <a:ext cx="1847088" cy="1737360"/>
          </a:xfrm>
          <a:prstGeom prst="rect">
            <a:avLst/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24871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Calidad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31152" y="2962656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Mejora el código y la satisfacción del equipo.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24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Módulo: casos de uso con GitHub Copilot para la inteligencia artificial de los desarrolladores.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EMPEZAR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de aprendizaje y requisitos previos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1005840" cy="41148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3931920" cy="3108960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7" name="Acento 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54864" cy="3108960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645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de aprendizaje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029968"/>
            <a:ext cx="34747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Identificar cómo Copilot se integra en los flujos de trabajo y se adapta a las preferencias de codificación.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Explorar su impacto en las distintas fases del SDLC.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Evaluar las limitaciones de la codificación asistida por IA y su efecto en la eficacia del desarrollo.</a:t>
            </a:r>
            <a:endParaRPr lang="en-US" sz="1150" dirty="0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3931920" cy="3108960"/>
          </a:xfrm>
          <a:prstGeom prst="rect">
            <a:avLst/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1" name="Acento 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54864" cy="3108960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1645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Requisitos previos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01184" y="2029968"/>
            <a:ext cx="34747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Conocimientos básicos de desarrollo de software.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Familiaridad con al menos un lenguaje de programación.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Cuenta de GitHub y conocimiento básico de sus funcionalidades.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Cuenta personal o administrada por una organización para acceder a Copilot.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Free es suficiente para aprender.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PRIMEROS PASOS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Free: límites y activación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1005840" cy="41148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6" name="Métric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3108960" cy="1417320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5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autocompletados de código al mes</a:t>
            </a:r>
            <a:endParaRPr lang="en-US" sz="1200" dirty="0"/>
          </a:p>
        </p:txBody>
      </p:sp>
      <p:sp>
        <p:nvSpPr>
          <p:cNvPr id="9" name="Métric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17520"/>
            <a:ext cx="3108960" cy="1417320"/>
          </a:xfrm>
          <a:prstGeom prst="rect">
            <a:avLst/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54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7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31520" y="3858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mensajes de chat al mes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77640" y="14813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empezar desde Visual Studio Code</a:t>
            </a:r>
            <a:endParaRPr lang="en-US" sz="1500" dirty="0"/>
          </a:p>
        </p:txBody>
      </p:sp>
      <p:sp>
        <p:nvSpPr>
          <p:cNvPr id="13" name="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77640" y="1920240"/>
            <a:ext cx="329184" cy="329184"/>
          </a:xfrm>
          <a:prstGeom prst="ellipse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34840" y="190195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Visual Studio Code.</a:t>
            </a:r>
            <a:endParaRPr lang="en-US" sz="1200" dirty="0"/>
          </a:p>
        </p:txBody>
      </p:sp>
      <p:sp>
        <p:nvSpPr>
          <p:cNvPr id="16" name="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77640" y="2487168"/>
            <a:ext cx="329184" cy="329184"/>
          </a:xfrm>
          <a:prstGeom prst="ellipse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34840" y="24688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el icono de GitHub Copilot.</a:t>
            </a:r>
            <a:endParaRPr lang="en-US" sz="1200" dirty="0"/>
          </a:p>
        </p:txBody>
      </p:sp>
      <p:sp>
        <p:nvSpPr>
          <p:cNvPr id="19" name="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77640" y="3054096"/>
            <a:ext cx="329184" cy="329184"/>
          </a:xfrm>
          <a:prstGeom prst="ellipse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34840" y="30358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Hacer clic en “Iniciar sesión para usar GitHub Copilot de forma gratuita”.</a:t>
            </a:r>
            <a:endParaRPr lang="en-US" sz="1200" dirty="0"/>
          </a:p>
        </p:txBody>
      </p:sp>
      <p:sp>
        <p:nvSpPr>
          <p:cNvPr id="22" name="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77640" y="3621024"/>
            <a:ext cx="329184" cy="329184"/>
          </a:xfrm>
          <a:prstGeom prst="ellipse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3621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34840" y="3602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Iniciar sesión con la cuenta de GitHub en el navegador.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77640" y="426110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Educadores, estudiantes y determinados mantenedores de código abierto pueden recibir Copilot Pro de forma gratuita.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PRODUCTIVIDAD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Cuatro casos de uso para optimizar el día a día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1005840" cy="41148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18196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1819656" cy="54864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824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Aprender lenguajes y marcos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2304288"/>
            <a:ext cx="14173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Ejemplos de funciones y bibliotecas desconocidas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Transición entre lenguajes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Sugerencias de API y parámetros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“Explicar esto” para entender el código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1463040"/>
            <a:ext cx="18196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1463040"/>
            <a:ext cx="1819656" cy="54864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25496" y="16824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Minimizar el cambio de contexto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25496" y="2304288"/>
            <a:ext cx="14173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Asistencia nativa en el editor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Referencias rápidas de API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Finalización de patrones repetitivos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consultas externas</a:t>
            </a:r>
            <a:endParaRPr lang="en-US" sz="10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463040"/>
            <a:ext cx="18196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463040"/>
            <a:ext cx="1819656" cy="54864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16824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Mejorar la documentación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01184" y="2304288"/>
            <a:ext cx="14173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Comentarios insertados en código complejo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Descripciones de funciones y parámetros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Generación de archivos README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Estilo documental coherente</a:t>
            </a:r>
            <a:endParaRPr lang="en-US" sz="105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75704" y="1463040"/>
            <a:ext cx="18196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75704" y="1463040"/>
            <a:ext cx="1819656" cy="54864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76872" y="16824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Automatizar tareas rutinarias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76872" y="2304288"/>
            <a:ext cx="14173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reutilizable (API REST, clases)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de ejemplo realistas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Traducción y refactorización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AVANZADA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plantillas complejas a historias de usuario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1005840" cy="41148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3931920" cy="2331720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7" name="Acento 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54864" cy="2331720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645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con plantillas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029968"/>
            <a:ext cx="347472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Modelos de base de datos, migraciones y configuraciones ORM.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Puntos de conexión REST con validación, errores y documentación.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Configuraciones de desarrollo, ensayo y producción.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Infraestructuras completas de pruebas y microservicios con Docker y CI/CD.</a:t>
            </a:r>
            <a:endParaRPr lang="en-US" sz="1150" dirty="0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3931920" cy="2331720"/>
          </a:xfrm>
          <a:prstGeom prst="rect">
            <a:avLst/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1" name="Acento 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54864" cy="2331720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1645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Desde historias de usuario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01184" y="2029968"/>
            <a:ext cx="347472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Scaffolding de características: modelos, API y front-end.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Lógica de negocio a partir de reglas en lenguaje natural.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Patrones de integración: autenticación, registro y servicios externos.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Calidad integrada: validación, registro y seguridad básica.</a:t>
            </a:r>
            <a:endParaRPr lang="en-US" sz="1150" dirty="0"/>
          </a:p>
        </p:txBody>
      </p:sp>
      <p:sp>
        <p:nvSpPr>
          <p:cNvPr id="14" name="Banda de consum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50208"/>
            <a:ext cx="8046720" cy="65836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5020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Consumo de PRU:  </a:t>
            </a:r>
            <a:r>
              <a:rPr lang="en-US" sz="1150" dirty="0">
                <a:solidFill>
                  <a:srgbClr val="DCE7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1–2 PRU tareas reutilizables simples   •   3–5 PRU andamiaje de proyectos completos   •   2–3 PRU por borrador de refactorización en una PR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SOLICITUDES DE INCORPORACIÓN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Acelerar el camino de la PR a producción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1005840" cy="41148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3931920" cy="3108960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7" name="Acento 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54864" cy="3108960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645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listo para PR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029968"/>
            <a:ext cx="34747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Implementaciones completas con manejo de errores, registros y casos límite.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Coherencia con convenciones y patrones arquitectónicos del proyecto.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Comentarios, documentación de funciones y actualizaciones del README.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unitarias, de integración y ejemplos de uso.</a:t>
            </a:r>
            <a:endParaRPr lang="en-US" sz="1150" dirty="0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3931920" cy="3108960"/>
          </a:xfrm>
          <a:prstGeom prst="rect">
            <a:avLst/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1" name="Acento 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54864" cy="3108960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1645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Revisión inteligente y colaboración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01184" y="2029968"/>
            <a:ext cx="34747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Detección de problemas antes de crear la PR.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Comentarios de revisión constructivos y específicos.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Alternativas cuando los revisores solicitan cambios.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Resolución de conflictos considerando la intención de ambas ramas.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Normalización del código y uso compartido de conocimiento del equipo.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FLUJOS ORQUESTADOS DE 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Desarrollo con varios agentes especializados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1005840" cy="41148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6" name="Agen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54480"/>
            <a:ext cx="184708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Encabezado de agen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54480"/>
            <a:ext cx="1847088" cy="420624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55448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Agente de borrador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4944" y="210312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Analiza requisitos y genera la implementación inicial con errores controlados y pruebas básicas.</a:t>
            </a:r>
            <a:endParaRPr lang="en-US" sz="1050" dirty="0"/>
          </a:p>
        </p:txBody>
      </p:sp>
      <p:sp>
        <p:nvSpPr>
          <p:cNvPr id="10" name="Agen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5184" y="1554480"/>
            <a:ext cx="184708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Encabezado de agen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5184" y="1554480"/>
            <a:ext cx="1847088" cy="420624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55448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Agente de revisión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61488" y="210312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Evalúa calidad, seguridad, rendimiento y cumplimiento de patrones arquitectónicos.</a:t>
            </a:r>
            <a:endParaRPr lang="en-US" sz="1050" dirty="0"/>
          </a:p>
        </p:txBody>
      </p:sp>
      <p:sp>
        <p:nvSpPr>
          <p:cNvPr id="14" name="Agen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1554480"/>
            <a:ext cx="184708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Encabezado de agen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1554480"/>
            <a:ext cx="1847088" cy="420624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155448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Agente de documentación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28032" y="210312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 o actualiza la documentación del código y de las API.</a:t>
            </a:r>
            <a:endParaRPr lang="en-US" sz="1050" dirty="0"/>
          </a:p>
        </p:txBody>
      </p:sp>
      <p:sp>
        <p:nvSpPr>
          <p:cNvPr id="18" name="Agen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48272" y="1554480"/>
            <a:ext cx="184708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" name="Encabezado de agen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48272" y="1554480"/>
            <a:ext cx="1847088" cy="420624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1554480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Agente de pruebas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94576" y="210312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 conjuntos de pruebas y comprobaciones de calidad.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9502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agente se especializa en un área y contribuye a generar código más completo y preparado para producción.</a:t>
            </a:r>
            <a:endParaRPr lang="en-US" sz="1200" dirty="0"/>
          </a:p>
        </p:txBody>
      </p:sp>
      <p:sp>
        <p:nvSpPr>
          <p:cNvPr id="23" name="Nota de consum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315968"/>
            <a:ext cx="8046720" cy="457200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3159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transferencia consume aproximadamente 1 PRU; un flujo de dos agentes suele utilizar 2–3 PRU.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ORQUESTACIÓN AVANZADA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Razonamiento premium y entrega completa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1005840" cy="41148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3931920" cy="3108960"/>
          </a:xfrm>
          <a:prstGeom prst="rect">
            <a:avLst/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7" name="Acento 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54864" cy="3108960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645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Razonamiento de alta calidad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029968"/>
            <a:ext cx="34747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Decisiones arquitectónicas: escalabilidad, mantenimiento y rendimiento.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de impacto entre sistemas distribuidos.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Coordinación de refactorizaciones en múltiples archivos.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Optimización de patrones de integración.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ejecuciones premium pueden consumir 4 o más PRU por solicitud.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3440" y="1481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Entrega de extremo a extremo</a:t>
            </a:r>
            <a:endParaRPr lang="en-US" sz="1400" dirty="0"/>
          </a:p>
        </p:txBody>
      </p:sp>
      <p:sp>
        <p:nvSpPr>
          <p:cNvPr id="11" name="Etap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901952"/>
            <a:ext cx="3931920" cy="438912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12" name="Acento de etap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901952"/>
            <a:ext cx="54864" cy="438912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9019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Análisis de requisitos</a:t>
            </a:r>
            <a:endParaRPr lang="en-US" sz="1200" dirty="0"/>
          </a:p>
        </p:txBody>
      </p:sp>
      <p:sp>
        <p:nvSpPr>
          <p:cNvPr id="14" name="Etap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450592"/>
            <a:ext cx="3931920" cy="438912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15" name="Acento de etap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450592"/>
            <a:ext cx="54864" cy="438912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245059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Implementación de la característica</a:t>
            </a:r>
            <a:endParaRPr lang="en-US" sz="1200" dirty="0"/>
          </a:p>
        </p:txBody>
      </p:sp>
      <p:sp>
        <p:nvSpPr>
          <p:cNvPr id="17" name="Etap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999232"/>
            <a:ext cx="3931920" cy="438912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18" name="Acento de etap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999232"/>
            <a:ext cx="54864" cy="438912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29992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Control de calidad y pruebas</a:t>
            </a:r>
            <a:endParaRPr lang="en-US" sz="1200" dirty="0"/>
          </a:p>
        </p:txBody>
      </p:sp>
      <p:sp>
        <p:nvSpPr>
          <p:cNvPr id="20" name="Etap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547872"/>
            <a:ext cx="3931920" cy="438912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21" name="Acento de etap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547872"/>
            <a:ext cx="54864" cy="438912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35478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Documentación</a:t>
            </a:r>
            <a:endParaRPr lang="en-US" sz="1200" dirty="0"/>
          </a:p>
        </p:txBody>
      </p:sp>
      <p:sp>
        <p:nvSpPr>
          <p:cNvPr id="23" name="Etap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4096512"/>
            <a:ext cx="3931920" cy="438912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24" name="Acento de etap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4096512"/>
            <a:ext cx="54864" cy="438912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409651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Implementación y supervisión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Alineación con las preferencias del desarrollador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1005840" cy="41148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18196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1819656" cy="54864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824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y pruebas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2304288"/>
            <a:ext cx="14173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Varias sugerencias ante escenarios ambiguos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Expresiones propias de cada lenguaje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Casos de prueba, incluidos casos perimetrales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Códigos auxiliares de documentación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1463040"/>
            <a:ext cx="18196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1463040"/>
            <a:ext cx="1819656" cy="54864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25496" y="16824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Refactorización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25496" y="2304288"/>
            <a:ext cx="14173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Reconocimiento de patrones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Sintaxis moderna del lenguaje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Coherencia con el estilo del código base</a:t>
            </a:r>
            <a:endParaRPr lang="en-US" sz="10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463040"/>
            <a:ext cx="18196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463040"/>
            <a:ext cx="1819656" cy="54864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16824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Depuración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01184" y="2304288"/>
            <a:ext cx="14173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Explicación de errores en lenguaje natural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Instrucciones de registro para diagnosticar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para aislar errores difíciles</a:t>
            </a:r>
            <a:endParaRPr lang="en-US" sz="105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75704" y="1463040"/>
            <a:ext cx="18196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75704" y="1463040"/>
            <a:ext cx="1819656" cy="54864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76872" y="16824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Ciencia de datos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76872" y="2304288"/>
            <a:ext cx="14173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Funciones y pruebas estadísticas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Visualización con Matplotlib, Seaborn o Plotly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Preprocesamiento y escalado de datos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Evaluación de modelos y métricas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FLUJOS SIMPLIFICADOS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cambio de contexto, más autonomía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1005840" cy="41148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2511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2511552" cy="54864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82496"/>
            <a:ext cx="2109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Experiencia integrada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2304288"/>
            <a:ext cx="210921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Asistencia nativa en el IDE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Reconocimiento del contexto del proyecto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mínima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6224" y="1463040"/>
            <a:ext cx="2511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6224" y="1463040"/>
            <a:ext cx="2511552" cy="54864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7392" y="1682496"/>
            <a:ext cx="2109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Tareas autónomas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17392" y="2304288"/>
            <a:ext cx="210921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 de extremo a extremo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Valores predeterminados inteligentes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Mejora progresiva del código generado</a:t>
            </a:r>
            <a:endParaRPr lang="en-US" sz="10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3808" y="1463040"/>
            <a:ext cx="2511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3808" y="1463040"/>
            <a:ext cx="2511552" cy="54864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4976" y="1682496"/>
            <a:ext cx="2109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Enfoque en la calidad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84976" y="2304288"/>
            <a:ext cx="210921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Procedimientos recomendados integrados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Coherencia con las convenciones del equipo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 de pruebas y documentación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645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deja de ser solo un finalizador de código para convertirse en asistencia integrada en todo el proceso de desarrollo.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SDLC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 en las fases del ciclo de vida del software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1005840" cy="41148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6" name="Fila de 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81328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Acento de 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81328"/>
            <a:ext cx="54864" cy="548640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4813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de requisitos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17520" y="148132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Prototipos rápidos, casos de usuario convertidos en clases y funciones, y diseño de API.</a:t>
            </a:r>
            <a:endParaRPr lang="en-US" sz="1100" dirty="0"/>
          </a:p>
        </p:txBody>
      </p:sp>
      <p:sp>
        <p:nvSpPr>
          <p:cNvPr id="10" name="Fila de 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21408"/>
            <a:ext cx="8046720" cy="548640"/>
          </a:xfrm>
          <a:prstGeom prst="rect">
            <a:avLst/>
          </a:prstGeom>
          <a:solidFill>
            <a:srgbClr val="F5F8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Acento de 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21408"/>
            <a:ext cx="54864" cy="548640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1214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y desarrollo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17520" y="212140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reutilizable, modelos de diseño, optimización y traducción entre lenguajes.</a:t>
            </a:r>
            <a:endParaRPr lang="en-US" sz="1100" dirty="0"/>
          </a:p>
        </p:txBody>
      </p:sp>
      <p:sp>
        <p:nvSpPr>
          <p:cNvPr id="14" name="Fila de 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761488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Acento de 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761488"/>
            <a:ext cx="54864" cy="548640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27614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y calidad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017520" y="276148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unitarias, datos de prueba, casos límite, aserciones, canalizaciones CI/CD y puertas de calidad.</a:t>
            </a:r>
            <a:endParaRPr lang="en-US" sz="1100" dirty="0"/>
          </a:p>
        </p:txBody>
      </p:sp>
      <p:sp>
        <p:nvSpPr>
          <p:cNvPr id="18" name="Fila de 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01568"/>
            <a:ext cx="8046720" cy="548640"/>
          </a:xfrm>
          <a:prstGeom prst="rect">
            <a:avLst/>
          </a:prstGeom>
          <a:solidFill>
            <a:srgbClr val="F5F8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" name="Acento de 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01568"/>
            <a:ext cx="54864" cy="548640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401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Implementación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017520" y="340156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de configuración por entorno, scripts de implementación y documentación actualizada.</a:t>
            </a:r>
            <a:endParaRPr lang="en-US" sz="1100" dirty="0"/>
          </a:p>
        </p:txBody>
      </p:sp>
      <p:sp>
        <p:nvSpPr>
          <p:cNvPr id="22" name="Fila de 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41648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3" name="Acento de 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41648"/>
            <a:ext cx="54864" cy="548640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4041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Soporte y mantenimiento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017520" y="404164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Corrección de errores, refactorización, documentación sincronizada y comprensión de código heredado.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LIMITACIONES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tener en cuenta al adoptar la IA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1005840" cy="41148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18196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1819656" cy="54864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824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Calidad y corrección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2304288"/>
            <a:ext cx="14173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Puede sugerir código con errores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siempre sigue las prácticas de seguridad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Puede interpretar mal el contexto amplio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1463040"/>
            <a:ext cx="18196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1463040"/>
            <a:ext cx="1819656" cy="54864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25496" y="16824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Lenguajes y marcos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25496" y="2304288"/>
            <a:ext cx="14173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Rendimiento variable según el lenguaje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Menor precisión en tecnologías de nicho o recientes</a:t>
            </a:r>
            <a:endParaRPr lang="en-US" sz="10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463040"/>
            <a:ext cx="18196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463040"/>
            <a:ext cx="1819656" cy="54864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16824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de entrenamiento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01184" y="2304288"/>
            <a:ext cx="14173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Posible sesgo o prácticas obsoletas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Debate abierto sobre derechos de autor</a:t>
            </a:r>
            <a:endParaRPr lang="en-US" sz="105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75704" y="1463040"/>
            <a:ext cx="18196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75704" y="1463040"/>
            <a:ext cx="1819656" cy="54864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76872" y="16824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Problemas complejos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76872" y="2304288"/>
            <a:ext cx="14173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Limitado en diseño arquitectónico de alto nivel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reemplaza la creatividad humana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REST de métricas de uso de GitHub Copilot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1005840" cy="41148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898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a métricas para miembros de empresa, equipos y organizaciones: uso diario, finalizaciones, interacciones de chat, participación, editores y lenguajes, sugerencias, aceptaciones y usuarios activos.</a:t>
            </a:r>
            <a:endParaRPr lang="en-US" sz="1250" dirty="0"/>
          </a:p>
        </p:txBody>
      </p:sp>
      <p:sp>
        <p:nvSpPr>
          <p:cNvPr id="7" name="Punto de conex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29968"/>
            <a:ext cx="80467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8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29968"/>
            <a:ext cx="54864" cy="603504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02996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Empresa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29968"/>
            <a:ext cx="5715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/enterprises/{enterprise}/copilot/usage</a:t>
            </a:r>
            <a:endParaRPr lang="en-US" sz="1150" dirty="0"/>
          </a:p>
        </p:txBody>
      </p:sp>
      <p:sp>
        <p:nvSpPr>
          <p:cNvPr id="11" name="Punto de conex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743200"/>
            <a:ext cx="80467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2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743200"/>
            <a:ext cx="54864" cy="603504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74320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 empresarial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2743200"/>
            <a:ext cx="5715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/enterprises/{enterprise}/team/{team_slug}/copilot/usage</a:t>
            </a:r>
            <a:endParaRPr lang="en-US" sz="1150" dirty="0"/>
          </a:p>
        </p:txBody>
      </p:sp>
      <p:sp>
        <p:nvSpPr>
          <p:cNvPr id="15" name="Punto de conex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56432"/>
            <a:ext cx="8046720" cy="603504"/>
          </a:xfrm>
          <a:prstGeom prst="rect">
            <a:avLst/>
          </a:prstGeom>
          <a:solidFill>
            <a:srgbClr val="F5F8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6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56432"/>
            <a:ext cx="54864" cy="603504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45643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Organización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3456432"/>
            <a:ext cx="5715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/orgs/{org}/copilot/usage</a:t>
            </a:r>
            <a:endParaRPr lang="en-US" sz="1150" dirty="0"/>
          </a:p>
        </p:txBody>
      </p:sp>
      <p:sp>
        <p:nvSpPr>
          <p:cNvPr id="19" name="Nota de respues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261104"/>
            <a:ext cx="8046720" cy="457200"/>
          </a:xfrm>
          <a:prstGeom prst="rect">
            <a:avLst/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6110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Respuesta: 200 OK con una matriz JSON de métricas diarias, desglosada por editor e idioma. Autenticación con token Bearer.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MARCO DE IMPACTO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Cuatro fases para evaluar el impacto con datos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1005840" cy="41148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6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72768"/>
            <a:ext cx="384048" cy="384048"/>
          </a:xfrm>
          <a:prstGeom prst="ellipse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81051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Satisfacción del desarrollador y finalización de tareas; usuarios activos diarios, tasa de aceptación y líneas de código aceptadas.</a:t>
            </a:r>
            <a:endParaRPr lang="en-US" sz="1150" dirty="0"/>
          </a:p>
        </p:txBody>
      </p:sp>
      <p:sp>
        <p:nvSpPr>
          <p:cNvPr id="10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414016"/>
            <a:ext cx="384048" cy="384048"/>
          </a:xfrm>
          <a:prstGeom prst="ellipse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3957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65176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Supervisar productividad y habilitación a medida que Copilot se integra, e identificar necesidades de entrenamiento.</a:t>
            </a:r>
            <a:endParaRPr lang="en-US" sz="1150" dirty="0"/>
          </a:p>
        </p:txBody>
      </p:sp>
      <p:sp>
        <p:nvSpPr>
          <p:cNvPr id="14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23697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Optimización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4930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Relacionar el impacto con objetivos organizativos: tiempo de comercialización y calidad del código.</a:t>
            </a:r>
            <a:endParaRPr lang="en-US" sz="1150" dirty="0"/>
          </a:p>
        </p:txBody>
      </p:sp>
      <p:sp>
        <p:nvSpPr>
          <p:cNvPr id="18" name="Viñeta numer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96512"/>
            <a:ext cx="384048" cy="384048"/>
          </a:xfrm>
          <a:prstGeom prst="ellipse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0782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Eficiencia sostenida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33425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Evaluación continua y ajustes para garantizar mejoras de productividad a largo plazo.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ENCUESTA DE DESARROLLADORES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Formatos, cadencia y análisis de resultados</a:t>
            </a:r>
            <a:endParaRPr lang="en-US" sz="26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188720"/>
            <a:ext cx="1005840" cy="41148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3931920" cy="3108960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7" name="Acento 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54864" cy="3108960"/>
          </a:xfrm>
          <a:prstGeom prst="rect">
            <a:avLst/>
          </a:prstGeom>
          <a:solidFill>
            <a:srgbClr val="1B5FBF"/>
          </a:solidFill>
          <a:ln w="12700">
            <a:solidFill>
              <a:srgbClr val="1B5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645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Formato corto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029968"/>
            <a:ext cx="34747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Comentarios frecuentes y rápidos, posible cada dos semanas.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Satisfacción general, desafíos específicos y tiempo ahorrado.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“¿Cómo se sentiría si ya no pudiera usar GitHub Copilot?”</a:t>
            </a:r>
            <a:endParaRPr lang="en-US" sz="1150" dirty="0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3931920" cy="3108960"/>
          </a:xfrm>
          <a:prstGeom prst="rect">
            <a:avLst/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1" name="Acento 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54864" cy="3108960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1645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Formato largo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01184" y="2029968"/>
            <a:ext cx="34747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profundo en las fases de evaluación y adopción.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más de una vez cada cuatro semanas.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Impacto en el equipo: mejores revisiones y combinación más rápida en producción.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645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Análisis: respuestas anonimizadas, seguimiento en herramientas de BI y análisis de tendencias para impulsar la mejora continua.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4300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7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MEDICIÓN BASADA EN DATOS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allá de la evidencia anecdótica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5798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8D8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combinación de la API REST de métricas de uso y la encuesta de desarrolladores permite entender con datos concretos cómo GitHub Copilot influye en el proceso de codificación.</a:t>
            </a:r>
            <a:endParaRPr lang="en-US" sz="1350" dirty="0"/>
          </a:p>
        </p:txBody>
      </p:sp>
      <p:sp>
        <p:nvSpPr>
          <p:cNvPr id="6" name="Tarjeta de cier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035808"/>
            <a:ext cx="1709928" cy="1005840"/>
          </a:xfrm>
          <a:prstGeom prst="rect">
            <a:avLst/>
          </a:prstGeom>
          <a:solidFill>
            <a:srgbClr val="14375C"/>
          </a:solidFill>
          <a:ln w="12700">
            <a:solidFill>
              <a:srgbClr val="2450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3035808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Decisiones fundamentadas</a:t>
            </a:r>
            <a:endParaRPr lang="en-US" sz="1150" dirty="0"/>
          </a:p>
        </p:txBody>
      </p:sp>
      <p:sp>
        <p:nvSpPr>
          <p:cNvPr id="8" name="Tarjeta de cier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34056" y="3035808"/>
            <a:ext cx="1709928" cy="1005840"/>
          </a:xfrm>
          <a:prstGeom prst="rect">
            <a:avLst/>
          </a:prstGeom>
          <a:solidFill>
            <a:srgbClr val="14375C"/>
          </a:solidFill>
          <a:ln w="12700">
            <a:solidFill>
              <a:srgbClr val="2450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3035808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Impacto medible en el flujo de trabajo</a:t>
            </a:r>
            <a:endParaRPr lang="en-US" sz="1150" dirty="0"/>
          </a:p>
        </p:txBody>
      </p:sp>
      <p:sp>
        <p:nvSpPr>
          <p:cNvPr id="10" name="Tarjeta de cier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035808"/>
            <a:ext cx="1709928" cy="1005840"/>
          </a:xfrm>
          <a:prstGeom prst="rect">
            <a:avLst/>
          </a:prstGeom>
          <a:solidFill>
            <a:srgbClr val="14375C"/>
          </a:solidFill>
          <a:ln w="12700">
            <a:solidFill>
              <a:srgbClr val="2450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3035808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Áreas de optimización</a:t>
            </a:r>
            <a:endParaRPr lang="en-US" sz="1150" dirty="0"/>
          </a:p>
        </p:txBody>
      </p:sp>
      <p:sp>
        <p:nvSpPr>
          <p:cNvPr id="12" name="Tarjeta de cier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6248" y="3035808"/>
            <a:ext cx="1709928" cy="1005840"/>
          </a:xfrm>
          <a:prstGeom prst="rect">
            <a:avLst/>
          </a:prstGeom>
          <a:solidFill>
            <a:srgbClr val="14375C"/>
          </a:solidFill>
          <a:ln w="12700">
            <a:solidFill>
              <a:srgbClr val="2450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2552" y="3035808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Mejora continua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2012-07-30T22:48:03Z</dcterms:created>
  <dcterms:modified xsi:type="dcterms:W3CDTF">2026-08-19T19:23:04Z</dcterms:modified>
</cp:coreProperties>
</file>