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5FDC32-32BE-10BF-9707-0E27E80EE003}" v="3" dt="2026-08-19T18:35:41.1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0" autoAdjust="0"/>
    <p:restoredTop sz="94660"/>
  </p:normalViewPr>
  <p:slideViewPr>
    <p:cSldViewPr snapToGrid="0">
      <p:cViewPr varScale="1">
        <p:scale>
          <a:sx n="73" d="100"/>
          <a:sy n="73" d="100"/>
        </p:scale>
        <p:origin x="72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nel de portad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Ilustración abstracta de desarrollo de software asistido por IA"/>
          <p:cNvPicPr>
            <a:picLocks noChangeAspect="1"/>
          </p:cNvPicPr>
          <p:nvPr/>
        </p:nvPicPr>
        <p:blipFill>
          <a:blip r:embed="rId3"/>
          <a:srcRect l="28205" r="28205"/>
          <a:stretch/>
        </p:blipFill>
        <p:spPr>
          <a:xfrm>
            <a:off x="5120640" y="0"/>
            <a:ext cx="4023360" cy="5143500"/>
          </a:xfrm>
          <a:prstGeom prst="rect">
            <a:avLst/>
          </a:prstGeom>
        </p:spPr>
      </p:pic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" y="1170432"/>
            <a:ext cx="822960" cy="45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MÓDULO FORMATIVO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40080" y="1417320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e ingeniería de solicitudes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32004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escribir solicitudes eficaces, cómo procesa Copilot cada mensaje y qué papel cumplen los modelos de lenguaje grande.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4297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Resumen del módulo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INTRODUCCIÓN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acelera el flujo de desarrollo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Copilot, con tecnología de OpenAI, acompaña desde la creación inicial de código hasta implementaciones listas para producción. Comprende el contexto del proyecto a partir de datos de entrenamiento que incluyen lenguaje natural y miles de millones de líneas de código fuente disponible públicamente, incluidos repositorios públicos de GitHub.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sugerencias contextuales dentro del editor.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Acelera los cambios de código y las tareas rutinarias.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 calidad depende de cómo se formulen las solicitudes.</a:t>
            </a:r>
            <a:endParaRPr lang="en-US" sz="1300" dirty="0"/>
          </a:p>
        </p:txBody>
      </p:sp>
      <p:pic>
        <p:nvPicPr>
          <p:cNvPr id="7" name="Image 0" descr="Ilustración de una conversación entre una persona desarrolladora y un asistente de IA"/>
          <p:cNvPicPr>
            <a:picLocks noChangeAspect="1"/>
          </p:cNvPicPr>
          <p:nvPr/>
        </p:nvPicPr>
        <p:blipFill>
          <a:blip r:embed="rId3"/>
          <a:srcRect l="11905" r="11905"/>
          <a:stretch/>
        </p:blipFill>
        <p:spPr>
          <a:xfrm>
            <a:off x="5669280" y="1371600"/>
            <a:ext cx="2971800" cy="2971800"/>
          </a:xfrm>
          <a:prstGeom prst="rect">
            <a:avLst/>
          </a:prstGeom>
        </p:spPr>
      </p:pic>
      <p:sp>
        <p:nvSpPr>
          <p:cNvPr id="8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 aborda este módulo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Principios y buenas prácticas de ingeniería de solicitudes.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avanzadas: solicitud de roles y administración del historial de chat.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procesa Copilot las solicitudes para generar respuestas y código.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datos de las sugerencias de código y del chat.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3931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 de los modelos de lenguaje grande (LLM) en GitHub Copilot.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Creación de solicitudes eficaces para mejorar precisión y relevancia.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Relación entre las solicitudes y las respuestas de Copilot.</a:t>
            </a:r>
            <a:endParaRPr lang="en-US" sz="13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Gestión de los datos: transmisión segura y filtrado de contenido.</a:t>
            </a:r>
            <a:endParaRPr lang="en-US" sz="1350" dirty="0"/>
          </a:p>
        </p:txBody>
      </p:sp>
      <p:sp>
        <p:nvSpPr>
          <p:cNvPr id="7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CONCEPTO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Ingeniería de solicitudes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 el proceso de crear instrucciones claras para guiar sistemas de IA como GitHub Copilot y obtener código adecuado al contexto y a las necesidades específicas del proyecto.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2286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Una solicitud bien diseñada busca obtener código:</a:t>
            </a:r>
            <a:endParaRPr lang="en-US" sz="1200" dirty="0"/>
          </a:p>
        </p:txBody>
      </p:sp>
      <p:sp>
        <p:nvSpPr>
          <p:cNvPr id="7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97480"/>
            <a:ext cx="2587752" cy="173736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697480"/>
            <a:ext cx="50292" cy="17373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89864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Sintácticamente correcto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58952" y="3300984"/>
            <a:ext cx="21305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Compila y respeta las reglas del lenguaje utilizado.</a:t>
            </a:r>
            <a:endParaRPr lang="en-US" sz="1150" dirty="0"/>
          </a:p>
        </p:txBody>
      </p:sp>
      <p:sp>
        <p:nvSpPr>
          <p:cNvPr id="11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697480"/>
            <a:ext cx="2587752" cy="173736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697480"/>
            <a:ext cx="50292" cy="17373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9584" y="289864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Funcional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9584" y="3300984"/>
            <a:ext cx="21305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Resuelve realmente la tarea planteada en la solicitud.</a:t>
            </a:r>
            <a:endParaRPr lang="en-US" sz="1150" dirty="0"/>
          </a:p>
        </p:txBody>
      </p:sp>
      <p:sp>
        <p:nvSpPr>
          <p:cNvPr id="1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2697480"/>
            <a:ext cx="2587752" cy="173736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2697480"/>
            <a:ext cx="50292" cy="17373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289864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Adecuado al contexto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0216" y="3300984"/>
            <a:ext cx="213055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Sigue las convenciones y la estructura del proyecto.</a:t>
            </a:r>
            <a:endParaRPr lang="en-US" sz="1150" dirty="0"/>
          </a:p>
        </p:txBody>
      </p:sp>
      <p:sp>
        <p:nvSpPr>
          <p:cNvPr id="19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PRINCIPIOS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4 S de una buena solicitud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920240" cy="269748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920240" cy="502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22376" y="22128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Única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2596896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Centrar la solicitud en una sola tarea o pregunta bien definida para obtener respuestas precisas.</a:t>
            </a:r>
            <a:endParaRPr lang="en-US" sz="1150" dirty="0"/>
          </a:p>
        </p:txBody>
      </p:sp>
      <p:sp>
        <p:nvSpPr>
          <p:cNvPr id="1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3472" y="1463040"/>
            <a:ext cx="1920240" cy="269748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3472" y="1463040"/>
            <a:ext cx="1920240" cy="502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Specific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852928" y="22128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Específica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52928" y="2596896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instrucciones explícitas y detalladas para lograr sugerencias más aplicables.</a:t>
            </a:r>
            <a:endParaRPr lang="en-US" sz="1150" dirty="0"/>
          </a:p>
        </p:txBody>
      </p:sp>
      <p:sp>
        <p:nvSpPr>
          <p:cNvPr id="1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4024" y="1463040"/>
            <a:ext cx="1920240" cy="269748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4024" y="1463040"/>
            <a:ext cx="1920240" cy="502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983480" y="22128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2596896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Mantener la solicitud concisa y directa, equilibrando detalle y claridad.</a:t>
            </a:r>
            <a:endParaRPr lang="en-US" sz="1150" dirty="0"/>
          </a:p>
        </p:txBody>
      </p:sp>
      <p:sp>
        <p:nvSpPr>
          <p:cNvPr id="2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94576" y="1463040"/>
            <a:ext cx="1920240" cy="269748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94576" y="1463040"/>
            <a:ext cx="1920240" cy="502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178308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Surround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7114032" y="22128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Enmarcada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14032" y="2596896"/>
            <a:ext cx="1508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Aportar contexto con nombres de archivo descriptivos y archivos relacionados abiertos.</a:t>
            </a:r>
            <a:endParaRPr lang="en-US" sz="1150" dirty="0"/>
          </a:p>
        </p:txBody>
      </p:sp>
      <p:sp>
        <p:nvSpPr>
          <p:cNvPr id="2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 al solicitar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2587752" cy="310896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50292" cy="31089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66420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952" y="204825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Proporcionar claridad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2450592"/>
            <a:ext cx="213055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solicitudes deben ser claras, específicas y centradas en una única tarea.</a:t>
            </a:r>
            <a:endParaRPr lang="en-US" sz="1150" dirty="0"/>
          </a:p>
        </p:txBody>
      </p:sp>
      <p:sp>
        <p:nvSpPr>
          <p:cNvPr id="1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463040"/>
            <a:ext cx="2587752" cy="310896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1463040"/>
            <a:ext cx="50292" cy="31089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166420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9584" y="204825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Proporcionar contexto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529584" y="2450592"/>
            <a:ext cx="213055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información contextual ayuda a comprender los requisitos. Los comentarios en el código aportan detalles adicionales, y Copilot también usa las pestañas abiertas en paralelo en el editor.</a:t>
            </a:r>
            <a:endParaRPr lang="en-US" sz="1150" dirty="0"/>
          </a:p>
        </p:txBody>
      </p:sp>
      <p:sp>
        <p:nvSpPr>
          <p:cNvPr id="1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463040"/>
            <a:ext cx="2587752" cy="310896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1463040"/>
            <a:ext cx="50292" cy="31089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664208"/>
            <a:ext cx="2130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300216" y="2048256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Proporcionar ejemplos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0216" y="2450592"/>
            <a:ext cx="213055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ejemplos aclaran requisitos y hacen concretos los conceptos abstractos: ayudan a identificar patrones y reducen las iteraciones necesarias.</a:t>
            </a:r>
            <a:endParaRPr lang="en-US" sz="1150" dirty="0"/>
          </a:p>
        </p:txBody>
      </p:sp>
      <p:sp>
        <p:nvSpPr>
          <p:cNvPr id="20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Ejemplos e iteración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ejemplos son especialmente útiles para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78308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Código reutilizable.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Plantillas de pruebas.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Implementaciones repetitivas.</a:t>
            </a:r>
            <a:endParaRPr lang="en-US" sz="13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Características más grandes basadas en patrones existentes.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primera solicitud no siempre produce código listo para producción: la interacción con Copilot es un diálogo iterativo.</a:t>
            </a:r>
            <a:endParaRPr lang="en-US" sz="1250" dirty="0"/>
          </a:p>
        </p:txBody>
      </p:sp>
      <p:sp>
        <p:nvSpPr>
          <p:cNvPr id="8" name="Panel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54880" y="1417320"/>
            <a:ext cx="3886200" cy="306324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60020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Ciclo de iteración</a:t>
            </a:r>
            <a:endParaRPr lang="en-US" sz="1300" dirty="0"/>
          </a:p>
        </p:txBody>
      </p:sp>
      <p:sp>
        <p:nvSpPr>
          <p:cNvPr id="10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029968"/>
            <a:ext cx="329184" cy="329184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20574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68112" y="2057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Revisar el código sugerido.</a:t>
            </a:r>
            <a:endParaRPr lang="en-US" sz="1200" dirty="0"/>
          </a:p>
        </p:txBody>
      </p:sp>
      <p:sp>
        <p:nvSpPr>
          <p:cNvPr id="13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2596896"/>
            <a:ext cx="329184" cy="329184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68112" y="262432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Enriquecer la solicitud con detalles o ejemplos.</a:t>
            </a:r>
            <a:endParaRPr lang="en-US" sz="1200" dirty="0"/>
          </a:p>
        </p:txBody>
      </p:sp>
      <p:sp>
        <p:nvSpPr>
          <p:cNvPr id="16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163824"/>
            <a:ext cx="329184" cy="329184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319125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68112" y="3191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Volver a solicitar una solución.</a:t>
            </a:r>
            <a:endParaRPr lang="en-US" sz="1200" dirty="0"/>
          </a:p>
        </p:txBody>
      </p:sp>
      <p:sp>
        <p:nvSpPr>
          <p:cNvPr id="19" name="Círculo de pas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0" y="3730752"/>
            <a:ext cx="329184" cy="329184"/>
          </a:xfrm>
          <a:prstGeom prst="ellipse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7581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68112" y="375818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Iterar hasta obtener el resultado esperado.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114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iteración aprovecha la comprensión previa de los requisitos.</a:t>
            </a:r>
            <a:endParaRPr lang="en-US" sz="1050" dirty="0"/>
          </a:p>
        </p:txBody>
      </p:sp>
      <p:sp>
        <p:nvSpPr>
          <p:cNvPr id="23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Cómo aprende Copilot de las solicitudes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usa modelos entrenados con grandes cantidades de datos. Los ejemplos orientan al modelo hacia patrones y convenciones específicas.</a:t>
            </a:r>
            <a:endParaRPr lang="en-US" sz="1300" dirty="0"/>
          </a:p>
        </p:txBody>
      </p:sp>
      <p:sp>
        <p:nvSpPr>
          <p:cNvPr id="6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11680"/>
            <a:ext cx="2587752" cy="237744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11680"/>
            <a:ext cx="50292" cy="2377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221284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 ejemplos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" y="2615184"/>
            <a:ext cx="21305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 código a partir de su entrenamiento previo. Adecuado para patrones comunes y funcionalidades estándar.</a:t>
            </a:r>
            <a:endParaRPr lang="en-US" sz="1150" dirty="0"/>
          </a:p>
        </p:txBody>
      </p:sp>
      <p:sp>
        <p:nvSpPr>
          <p:cNvPr id="1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011680"/>
            <a:ext cx="2587752" cy="237744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011680"/>
            <a:ext cx="50292" cy="2377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9584" y="221284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un ejemplo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9584" y="2615184"/>
            <a:ext cx="21305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respuestas más compatibles con el contexto y las convenciones específicas del código.</a:t>
            </a:r>
            <a:endParaRPr lang="en-US" sz="1150" dirty="0"/>
          </a:p>
        </p:txBody>
      </p:sp>
      <p:sp>
        <p:nvSpPr>
          <p:cNvPr id="14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2011680"/>
            <a:ext cx="2587752" cy="237744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2011680"/>
            <a:ext cx="50292" cy="2377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0216" y="221284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varios ejemplos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00216" y="2615184"/>
            <a:ext cx="2130552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Permite implementaciones más sofisticadas, cubriendo distintos escenarios y casos límite.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44805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Mejoran la precisión y reducen el trabajo de revisión manual.</a:t>
            </a:r>
            <a:endParaRPr lang="en-US" sz="1100" dirty="0"/>
          </a:p>
        </p:txBody>
      </p:sp>
      <p:sp>
        <p:nvSpPr>
          <p:cNvPr id="19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CONVERSACIONES LARGAS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Cadena de mensajes e historial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funcionalidades complejas pueden requerir conversaciones extendidas. Cada turno agrega información, pero un historial demasiado largo aumenta el contexto y el procesamiento necesarios.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Ejemplo de conversación progresiva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578608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Crear una función de autenticación de usuario.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control de errores para credenciales no válidas.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pruebas unitarias.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Agregar comentarios JSDoc.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Optimizar el rendimiento.</a:t>
            </a:r>
            <a:endParaRPr lang="en-US" sz="1200" dirty="0"/>
          </a:p>
        </p:txBody>
      </p:sp>
      <p:sp>
        <p:nvSpPr>
          <p:cNvPr id="8" name="Tarjeta de da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77840" y="1371600"/>
            <a:ext cx="3063240" cy="141732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2–3 PRU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06440" y="199339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 turno con avisos largos que arrastran todo el historial, frente a cerca de 1 PRU por solicitud al resumir o restablecer.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577840" y="2971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Administrar el historial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77840" y="3310128"/>
            <a:ext cx="3063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Resumir el contexto cuando la conversación se extiende.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Restablecer la conversación al comenzar una nueva funcionalidad.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Usar referencias concisas al trabajo anterior.</a:t>
            </a:r>
            <a:endParaRPr lang="en-US" sz="1100" dirty="0"/>
          </a:p>
        </p:txBody>
      </p:sp>
      <p:sp>
        <p:nvSpPr>
          <p:cNvPr id="13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ESTRATEGIAS AVANZADAS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 de roles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 en indicar a Copilot que actúe como un tipo específico de experto, lo que puede mejorar la calidad y relevancia de las soluciones en tareas especializadas.</a:t>
            </a:r>
            <a:endParaRPr lang="en-US" sz="1300" dirty="0"/>
          </a:p>
        </p:txBody>
      </p:sp>
      <p:sp>
        <p:nvSpPr>
          <p:cNvPr id="6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11680"/>
            <a:ext cx="2587752" cy="237744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011680"/>
            <a:ext cx="50292" cy="2377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221284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Experto en seguridad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40664" y="278892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Saneamiento de entrada.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Protección ante ataques comunes.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Validación estándar del sector.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Buenas prácticas de seguridad.</a:t>
            </a:r>
            <a:endParaRPr lang="en-US" sz="1050" dirty="0"/>
          </a:p>
        </p:txBody>
      </p:sp>
      <p:sp>
        <p:nvSpPr>
          <p:cNvPr id="1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011680"/>
            <a:ext cx="2587752" cy="237744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73552" y="2011680"/>
            <a:ext cx="50292" cy="2377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11296" y="221284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Optimización del rendimiento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11296" y="278892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Algoritmos y estructuras optimizados.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eficiente de memoria.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Escalabilidad.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Supervisión del rendimiento.</a:t>
            </a:r>
            <a:endParaRPr lang="en-US" sz="1050" dirty="0"/>
          </a:p>
        </p:txBody>
      </p:sp>
      <p:sp>
        <p:nvSpPr>
          <p:cNvPr id="14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2011680"/>
            <a:ext cx="2587752" cy="237744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4184" y="2011680"/>
            <a:ext cx="50292" cy="237744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2212848"/>
            <a:ext cx="2130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Especialista en pruebas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281928" y="2788920"/>
            <a:ext cx="21305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Cobertura exhaustiva.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Casos extremos.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Implementaciones ficticias.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Pruebas de condiciones de error.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48056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Incorporar conocimiento de dominio desde la primera implementación reduce ciclos de revisión.</a:t>
            </a:r>
            <a:endParaRPr lang="en-US" sz="1100" dirty="0"/>
          </a:p>
        </p:txBody>
      </p:sp>
      <p:sp>
        <p:nvSpPr>
          <p:cNvPr id="19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PROCESAMIENTO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entrada: de la solicitud al modelo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920240" cy="301752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63040"/>
            <a:ext cx="1920240" cy="502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22376" y="2176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Transmisión segura y contexto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22376" y="2779776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mensaje viaja por HTTPS. Copilot reúne el código anterior y posterior al cursor, el archivo, las pestañas abiertas, la estructura del proyecto y los lenguajes, y aplica Fill-in-the-Middle.</a:t>
            </a:r>
            <a:endParaRPr lang="en-US" sz="1000" dirty="0"/>
          </a:p>
        </p:txBody>
      </p:sp>
      <p:sp>
        <p:nvSpPr>
          <p:cNvPr id="1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3472" y="1463040"/>
            <a:ext cx="1920240" cy="301752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33472" y="1463040"/>
            <a:ext cx="1920240" cy="502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52928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52928" y="2176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Filtro de proxy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852928" y="2779776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contexto pasa a un servidor proxy en un inquilino de Microsoft Azure propiedad de GitHub, que filtra el tráfico y bloquea intentos de manipular la solicitud.</a:t>
            </a:r>
            <a:endParaRPr lang="en-US" sz="1000" dirty="0"/>
          </a:p>
        </p:txBody>
      </p:sp>
      <p:sp>
        <p:nvSpPr>
          <p:cNvPr id="1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4024" y="1463040"/>
            <a:ext cx="1920240" cy="301752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4024" y="1463040"/>
            <a:ext cx="1920240" cy="502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83480" y="2176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Filtrado de toxicidad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2779776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Antes de generar código se bloquean discursos de odio y contenido inapropiado, y se filtran datos personales como nombres, direcciones o identificadores.</a:t>
            </a:r>
            <a:endParaRPr lang="en-US" sz="1000" dirty="0"/>
          </a:p>
        </p:txBody>
      </p:sp>
      <p:sp>
        <p:nvSpPr>
          <p:cNvPr id="2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94576" y="1463040"/>
            <a:ext cx="1920240" cy="301752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94576" y="1463040"/>
            <a:ext cx="1920240" cy="502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14032" y="1737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14032" y="2176272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Generación con LLM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14032" y="2779776"/>
            <a:ext cx="1508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solicitud filtrada y analizada se envía a los modelos de lenguaje grande, que generan sugerencias relevantes y adaptadas al proyecto.</a:t>
            </a:r>
            <a:endParaRPr lang="en-US" sz="1000" dirty="0"/>
          </a:p>
        </p:txBody>
      </p:sp>
      <p:sp>
        <p:nvSpPr>
          <p:cNvPr id="2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PROCESAMIENTO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Flujo de salida: validación y entrega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4892040" cy="1389888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0292" cy="138988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45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5453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Procesamiento posterior y validación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1819656"/>
            <a:ext cx="42062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filtro de toxicidad elimina contenido dañino y el proxy comprueba calidad, seguridad y estándares éticos, buscando errores comunes como XSS o inyección SQL. Opcionalmente, los administradores pueden activar el filtro de código público coincidente, que evita sugerencias de más de unos 150 caracteres muy parecidas a código público. Lo que no supera las comprobaciones se trunca o se descarta.</a:t>
            </a:r>
            <a:endParaRPr lang="en-US" sz="950" dirty="0"/>
          </a:p>
        </p:txBody>
      </p:sp>
      <p:sp>
        <p:nvSpPr>
          <p:cNvPr id="1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53512"/>
            <a:ext cx="4892040" cy="749808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2953512"/>
            <a:ext cx="50292" cy="74980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81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3081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Entrega y bucle de retroalimentación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05840" y="3355848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Solo se entregan las respuestas que superan los filtros. Copilot inicia un bucle de retroalimentación: amplía sus conocimientos con las sugerencias aceptadas y aprende de las modificaciones y los rechazos.</a:t>
            </a:r>
            <a:endParaRPr lang="en-US" sz="950" dirty="0"/>
          </a:p>
        </p:txBody>
      </p:sp>
      <p:sp>
        <p:nvSpPr>
          <p:cNvPr id="1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9624"/>
            <a:ext cx="4892040" cy="749808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3849624"/>
            <a:ext cx="50292" cy="74980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Repetición en solicitudes posteriores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05840" y="4251960"/>
            <a:ext cx="4206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9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proceso se repite con cada mensaje. Copilot aplica los datos acumulados y el contexto para comprender mejor la intención y refinar la generación de código.</a:t>
            </a:r>
            <a:endParaRPr lang="en-US" sz="950" dirty="0"/>
          </a:p>
        </p:txBody>
      </p:sp>
      <p:pic>
        <p:nvPicPr>
          <p:cNvPr id="20" name="Image 0" descr="Diagrama abstracto de una canalización de datos con nodos y un motivo de escudo"/>
          <p:cNvPicPr>
            <a:picLocks noChangeAspect="1"/>
          </p:cNvPicPr>
          <p:nvPr/>
        </p:nvPicPr>
        <p:blipFill>
          <a:blip r:embed="rId3"/>
          <a:srcRect l="28923" r="28923"/>
          <a:stretch/>
        </p:blipFill>
        <p:spPr>
          <a:xfrm>
            <a:off x="5715000" y="1417320"/>
            <a:ext cx="2926080" cy="2926080"/>
          </a:xfrm>
          <a:prstGeom prst="rect">
            <a:avLst/>
          </a:prstGeom>
        </p:spPr>
      </p:pic>
      <p:sp>
        <p:nvSpPr>
          <p:cNvPr id="21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PRIVACIDAD Y DATOS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Datos de GitHub Copilot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controla los datos según el entorno, las características y las configuraciones utilizadas.</a:t>
            </a:r>
            <a:endParaRPr lang="en-US" sz="1300" dirty="0"/>
          </a:p>
        </p:txBody>
      </p:sp>
      <p:sp>
        <p:nvSpPr>
          <p:cNvPr id="6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3977640" cy="278892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783080"/>
            <a:ext cx="50292" cy="278892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842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Sugerencias de código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350008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el editor, Copilot no conserva las solicitudes ni el código u otro contexto para entrenar los modelos fundamentales.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 solicitudes se descartan una vez devuelta la sugerencia.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suscriptores individuales pueden optar por no compartir sus solicitudes para el perfeccionamiento del modelo.</a:t>
            </a:r>
            <a:endParaRPr lang="en-US" sz="1100" dirty="0"/>
          </a:p>
        </p:txBody>
      </p:sp>
      <p:sp>
        <p:nvSpPr>
          <p:cNvPr id="10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783080"/>
            <a:ext cx="3977640" cy="278892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783080"/>
            <a:ext cx="50292" cy="2788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842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de GitHub Copilot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350008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Formato: resalta fragmentos de código y ofrece integrarlos directamente.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Interacción: admite preguntas de seguimiento y aclaraciones.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Historial: conserva la conversación para mantener el contexto.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Retención: fuera del editor, GitHub conserva normalmente solicitudes, sugerencias y contexto 28 días.</a:t>
            </a:r>
            <a:endParaRPr lang="en-US" sz="10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 comportamiento en CLI, Móvil y GitHub.com.</a:t>
            </a:r>
            <a:endParaRPr lang="en-US" sz="1050" dirty="0"/>
          </a:p>
        </p:txBody>
      </p:sp>
      <p:sp>
        <p:nvSpPr>
          <p:cNvPr id="14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USO DEL CHAT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de solicitud y ventana de contexto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Tipos de solicitud admitidos por el chat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Preguntas directas sobre conceptos, bibliotecas o solución de errores.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Solicitudes de código: generar, modificar, corregir o explicar.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Consultas abiertas sobre procedimientos recomendados o mejoras.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Solicitudes contextuales con fragmentos de código o escenarios concretos.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977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Esta variedad permite usar Copilot como un compañero de codificación integral.</a:t>
            </a:r>
            <a:endParaRPr lang="en-US" sz="1100" dirty="0"/>
          </a:p>
        </p:txBody>
      </p:sp>
      <p:sp>
        <p:nvSpPr>
          <p:cNvPr id="8" name="Panel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00600" y="1371600"/>
            <a:ext cx="3840480" cy="315468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0" y="15727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Ventanas de contexto limitadas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190195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ventana de contexto determina cuánto código y texto puede procesar el modelo a la vez.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7492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200–500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74920" y="28712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líneas de código, o hasta unos miles de tokens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12280" y="24871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4000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812280" y="28712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en la ventana actual del chat de Copilot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74920" y="3520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Puede variar según la implementación y versión. Conviene dividir los problemas complejos en consultas más pequeñas y aportar solo los fragmentos relevantes.</a:t>
            </a:r>
            <a:endParaRPr lang="en-US" sz="1100" dirty="0"/>
          </a:p>
        </p:txBody>
      </p:sp>
      <p:sp>
        <p:nvSpPr>
          <p:cNvPr id="16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TECNOLOGÍA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Modelos de lenguaje grande (LLM)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71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 LLM son modelos de inteligencia artificial diseñados y entrenados para comprender, generar y manipular lenguaje humano.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Gran volumen de datos de entrenamiento, de orígenes diversos.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Comprensión contextual para generar texto coherente y relevante.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Redes neuronales con millones o miles de millones de parámetros.</a:t>
            </a:r>
            <a:endParaRPr lang="en-US" sz="125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Versatilidad para adaptarse a tareas, dominios e idiomas.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36118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730A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 GitHub Copilot, el modelo considera el archivo actual, otros archivos abiertos y las pestañas abiertas en el IDE para generar finalizaciones de código más precisas y pertinentes.</a:t>
            </a:r>
            <a:endParaRPr lang="en-US" sz="1200" dirty="0"/>
          </a:p>
        </p:txBody>
      </p:sp>
      <p:pic>
        <p:nvPicPr>
          <p:cNvPr id="8" name="Image 0" descr="Ilustración abstracta de capas de una red neuronal"/>
          <p:cNvPicPr>
            <a:picLocks noChangeAspect="1"/>
          </p:cNvPicPr>
          <p:nvPr/>
        </p:nvPicPr>
        <p:blipFill>
          <a:blip r:embed="rId3"/>
          <a:srcRect l="27191" r="27191"/>
          <a:stretch/>
        </p:blipFill>
        <p:spPr>
          <a:xfrm>
            <a:off x="5669280" y="1371600"/>
            <a:ext cx="2971800" cy="3108960"/>
          </a:xfrm>
          <a:prstGeom prst="rect">
            <a:avLst/>
          </a:prstGeom>
        </p:spPr>
      </p:pic>
      <p:sp>
        <p:nvSpPr>
          <p:cNvPr id="9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ADAPTACIÓN DE MODELOS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 de los LLM y optimización LoRA</a:t>
            </a:r>
            <a:endParaRPr lang="en-US" sz="2500" dirty="0"/>
          </a:p>
        </p:txBody>
      </p:sp>
      <p:sp>
        <p:nvSpPr>
          <p:cNvPr id="4" name="Regl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115568"/>
            <a:ext cx="822960" cy="411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3977640" cy="297180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1417320"/>
            <a:ext cx="50292" cy="29718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367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 preciso (fine-tuning)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2039112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Adapta modelos previamente entrenados a tareas o dominios específicos. Consiste en entrenar el modelo con un conjunto de datos más pequeño y específico de la tarea, el conjunto de datos de destino, aprovechando los conocimientos y parámetros del modelo entrenado con un conjunto de origen más grande. Así se mejora su rendimiento en tareas concretas.</a:t>
            </a:r>
            <a:endParaRPr lang="en-US" sz="1200" dirty="0"/>
          </a:p>
        </p:txBody>
      </p:sp>
      <p:sp>
        <p:nvSpPr>
          <p:cNvPr id="9" name="Tarjeta de fond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17320"/>
            <a:ext cx="3977640" cy="2971800"/>
          </a:xfrm>
          <a:prstGeom prst="rect">
            <a:avLst/>
          </a:prstGeom>
          <a:solidFill>
            <a:srgbClr val="F5F6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Barr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417320"/>
            <a:ext cx="50292" cy="2971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3677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B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(Low-Rank Adaptation)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37760" y="203911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 entrenamiento completo tradicional ajusta todas las partes de la red neuronal: es lento y consume muchos recursos. LoRA adapta modelos preentrenados sin repetir todo el entrenamiento.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898648"/>
            <a:ext cx="3474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Agrega componentes entrenables más pequeños a cada capa.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Mantiene sin modificar el modelo original.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Reduce el tiempo y el consumo de recursos.</a:t>
            </a:r>
            <a:endParaRPr lang="en-US" sz="1100" dirty="0"/>
          </a:p>
          <a:p>
            <a:pPr marL="342900" indent="-3429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4B556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Supera a métodos como los adaptadores y el ajuste de prefijos.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444398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LoRA mejora los LLM para requisitos de codificación con menos componentes entrenables y menos recursos.</a:t>
            </a:r>
            <a:endParaRPr lang="en-US" sz="1050" dirty="0"/>
          </a:p>
        </p:txBody>
      </p:sp>
      <p:sp>
        <p:nvSpPr>
          <p:cNvPr id="15" name="Línea de pi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920" y="4718304"/>
            <a:ext cx="8138160" cy="10973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7914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· Ingeniería de solicitudes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863840" y="47914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2012-07-30T22:48:03Z</dcterms:created>
  <dcterms:modified xsi:type="dcterms:W3CDTF">2026-08-19T18:39:04Z</dcterms:modified>
</cp:coreProperties>
</file>