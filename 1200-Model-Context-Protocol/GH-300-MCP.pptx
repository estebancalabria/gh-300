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75931-34CD-F6F5-A258-478CF5F4E5F0}" v="3" dt="2026-08-20T20:22:16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File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0"/>
            <a:ext cx="64008" cy="51435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C4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4400" dirty="0"/>
          </a:p>
          <a:p>
            <a:pPr marL="0" indent="0">
              <a:buNone/>
            </a:pPr>
            <a:r>
              <a:rPr lang="en-US" sz="1500" dirty="0">
                <a:solidFill>
                  <a:srgbClr val="C9D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Protocolo de</a:t>
            </a:r>
            <a:endParaRPr lang="en-US" sz="4400" dirty="0"/>
          </a:p>
          <a:p>
            <a:pPr marL="0" indent="0">
              <a:buNone/>
            </a:pPr>
            <a:r>
              <a:rPr lang="en-US" sz="1500" dirty="0">
                <a:solidFill>
                  <a:srgbClr val="C9D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de modelo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794760" y="14173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3600" dirty="0"/>
          </a:p>
        </p:txBody>
      </p:sp>
      <p:sp>
        <p:nvSpPr>
          <p:cNvPr id="7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2834640"/>
            <a:ext cx="822960" cy="457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3063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hospedada, segura y escalable de GitHub en flujos de trabajo asistidos por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476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en Visual Studio Code · Uso con Copilot Chat · Modo agente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DEL MÓDULO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8191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15819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MCP y el servidor MCP de GitHub</a:t>
            </a:r>
            <a:endParaRPr lang="en-US" sz="1250" dirty="0"/>
          </a:p>
        </p:txBody>
      </p:sp>
      <p:sp>
        <p:nvSpPr>
          <p:cNvPr id="10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8191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22392" y="15819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conectan los clientes MCP</a:t>
            </a:r>
            <a:endParaRPr lang="en-US" sz="1250" dirty="0"/>
          </a:p>
        </p:txBody>
      </p:sp>
      <p:sp>
        <p:nvSpPr>
          <p:cNvPr id="14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13432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13432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36829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1872" y="236829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usar el servidor hospedado</a:t>
            </a:r>
            <a:endParaRPr lang="en-US" sz="1250" dirty="0"/>
          </a:p>
        </p:txBody>
      </p:sp>
      <p:sp>
        <p:nvSpPr>
          <p:cNvPr id="18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313432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313432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36829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22392" y="236829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en Visual Studio Code</a:t>
            </a:r>
            <a:endParaRPr lang="en-US" sz="1250" dirty="0"/>
          </a:p>
        </p:txBody>
      </p:sp>
      <p:sp>
        <p:nvSpPr>
          <p:cNvPr id="22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99816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99816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1546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1872" y="315468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OAuth, PAT y Docker</a:t>
            </a:r>
            <a:endParaRPr lang="en-US" sz="1250" dirty="0"/>
          </a:p>
        </p:txBody>
      </p:sp>
      <p:sp>
        <p:nvSpPr>
          <p:cNvPr id="26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099816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2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099816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1546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22392" y="315468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de problemas</a:t>
            </a:r>
            <a:endParaRPr lang="en-US" sz="1250" dirty="0"/>
          </a:p>
        </p:txBody>
      </p:sp>
      <p:sp>
        <p:nvSpPr>
          <p:cNvPr id="30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86200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3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886200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394106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61872" y="3941064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con Copilot Chat y modo agente</a:t>
            </a:r>
            <a:endParaRPr lang="en-US" sz="1250" dirty="0"/>
          </a:p>
        </p:txBody>
      </p:sp>
      <p:sp>
        <p:nvSpPr>
          <p:cNvPr id="34" name="Tarjeta de agen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886200"/>
            <a:ext cx="3886200" cy="640080"/>
          </a:xfrm>
          <a:prstGeom prst="rect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3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886200"/>
            <a:ext cx="54864" cy="6400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94106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22392" y="3941064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Procedimientos recomendados</a:t>
            </a:r>
            <a:endParaRPr lang="en-US" sz="1250" dirty="0"/>
          </a:p>
        </p:txBody>
      </p:sp>
      <p:sp>
        <p:nvSpPr>
          <p:cNvPr id="3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de se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File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554480"/>
            <a:ext cx="64008" cy="19202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00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C4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y el servidor MCP de GitHub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43000" y="2971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 del Protocolo de contexto de modelo y su integración con GitHub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servidor MCP de GitHub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78638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 hospedada, segura y escalable de integrar GitHub en flujos de trabajo asistidos por IA.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Basado en el Protocolo de contexto de modelo (MCP), introducido por Anthropic.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Amplía GitHub Copilot y otras herramientas de IA para automatizar tareas y administrar repositorios.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 la experiencia de desarrollo con asistencia de IA y reconocimiento del contexto.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Disponible para Visual Studio Code, con ampliación prevista a otros editores y plataformas.</a:t>
            </a:r>
            <a:endParaRPr lang="en-US" sz="14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FINALIZAR EL MÓDULO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78638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Comprender qué son MCP y el servidor MCP de GitHub, y cuál es su utilidad.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el servidor MCP de GitHub en Visual Studio Code.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el servidor MCP de GitHub con Copilot Chat para automatizar tareas de desarrollo.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y resolver problemas comunes.</a:t>
            </a:r>
            <a:endParaRPr lang="en-US" sz="14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EMPEZAR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Prerrequisitos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388620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Cabecera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3886200" cy="45720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27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Requeridos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67128"/>
            <a:ext cx="333756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Cuenta de GitHub.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 u otro editor compatible con MCP.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organizaciones o empresas con Copilot Business o Copilot Enterprise, la directiva «Servidores MCP en Copilot» debe estar habilitada.</a:t>
            </a:r>
            <a:endParaRPr lang="en-US" sz="11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388620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abecera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3886200" cy="457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27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67128"/>
            <a:ext cx="333756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de acceso personal (PAT) de GitHub para configuración avanzada y control de permisos.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para experimentar con una configuración de servidor local.</a:t>
            </a:r>
            <a:endParaRPr lang="en-US" sz="1150" dirty="0"/>
          </a:p>
        </p:txBody>
      </p:sp>
      <p:sp>
        <p:nvSpPr>
          <p:cNvPr id="1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PROTOCOLO DE CONTEXTO DE MODELO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MCP?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la fricción de configuración y habilita funcionalidades como la evaluación de prioridades de problemas y la búsqueda semántica.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93976"/>
            <a:ext cx="786384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como un estándar de conexión para herramientas de IA.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 una forma coherente y segura de conectar modelos de IA con las herramientas y fuentes de datos que necesitan.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herramientas: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biblioteca creciente de herramientas que los modelos de IA pueden utilizar.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Flexibilidad: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trabajar con diferentes proveedores de IA manteniendo flujos de trabajo coherentes.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encaja con el entorno de desarrollo y los procesos existentes.</a:t>
            </a:r>
            <a:endParaRPr lang="en-US" sz="1400" dirty="0"/>
          </a:p>
        </p:txBody>
      </p:sp>
      <p:sp>
        <p:nvSpPr>
          <p:cNvPr id="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MODOS DE CONEXIÓN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conectan los clientes MCP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cliente MCP —Claude, un IDE u otra herramienta— puede interactuar con servidores y servicios de tres formas.</a:t>
            </a:r>
            <a:endParaRPr lang="en-US" sz="125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local con datos locales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cliente se comunica con un servidor MCP en la propia máquina, conectado a archivos o bases de datos locales.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Cuándo usarlo: desarrollo local o datos privados.</a:t>
            </a:r>
            <a:endParaRPr lang="en-US" sz="1000" dirty="0"/>
          </a:p>
        </p:txBody>
      </p:sp>
      <p:sp>
        <p:nvSpPr>
          <p:cNvPr id="13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5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2256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2256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72256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local como puente a servicios remotos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72256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cliente se conecta a un servidor local que se comunica con un servicio remoto mediante sus API web.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Cuándo usarlo: cuando conviene caché, comprobaciones de seguridad o preprocesamiento.</a:t>
            </a:r>
            <a:endParaRPr lang="en-US" sz="1000" dirty="0"/>
          </a:p>
        </p:txBody>
      </p:sp>
      <p:sp>
        <p:nvSpPr>
          <p:cNvPr id="1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1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9840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98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9840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remota a través de Internet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9840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cliente se conecta a un servidor MCP completamente remoto, que se comunica con otros servicios mediante API web.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Cuándo usarlo: procesos en la nube, SaaS o integraciones de terceros solo en línea.</a:t>
            </a:r>
            <a:endParaRPr lang="en-US" sz="1000" dirty="0"/>
          </a:p>
        </p:txBody>
      </p:sp>
      <p:sp>
        <p:nvSpPr>
          <p:cNvPr id="2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de se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File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554480"/>
            <a:ext cx="64008" cy="19202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00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C4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usar el servidor MCP de GitHub?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43000" y="2971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servidor local autogestionado al servidor hospedado por GitHub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local frente a servidor hospedado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388620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Cabecera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3886200" cy="45720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27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local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67128"/>
            <a:ext cx="333756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Requiere normalmente Docker.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manual de tokens.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manual que ralentiza la puesta en marcha.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Dificulta la integración con clientes web como GitHub.com.</a:t>
            </a:r>
            <a:endParaRPr lang="en-US" sz="11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388620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abecera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3886200" cy="457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27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hospedado de 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67128"/>
            <a:ext cx="333756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rápida y sencilla, sin archivos Docker ni configuración manual.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de IA como Copilot Chat en web y móvil.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 los proyectos a medida que crecen.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 de sesión empresarial seguro, búsqueda semántica de código y correcciones automatizadas.</a:t>
            </a:r>
            <a:endParaRPr lang="en-US" sz="1150" dirty="0"/>
          </a:p>
        </p:txBody>
      </p:sp>
      <p:sp>
        <p:nvSpPr>
          <p:cNvPr id="1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BENEFICIOS CLAVE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Ventajas del servidor hospedado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78638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 la necesidad de archivos de configuración manual o Docker.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 autenticación OAuth sencilla con un solo clic.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trabajar en entornos web, de escritorio y móviles.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Admite proveedores de identidad empresariales como Entra y Auth0.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 automáticamente según las necesidades de uso.</a:t>
            </a:r>
            <a:endParaRPr lang="en-US" sz="14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servidor MCP en acción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Panel de da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2697480" cy="304495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842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5800" y="294436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disponibles actualmente en el servidor MCP de 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1618488"/>
            <a:ext cx="498348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Analizar y resumir código para comprender proyectos.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y administrar problemas y solicitudes de incorporación de cambios.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Automatizar la evaluación de prioridades del repositorio y el seguimiento de tareas.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problemas, editar archivos y crear ramas.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Clasificar pull requests y problemas para priorizarlos.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de código abierto que conecta Copilot y otras herramientas de IA directamente con los repositorios.</a:t>
            </a:r>
            <a:endParaRPr lang="en-US" sz="1300" dirty="0"/>
          </a:p>
        </p:txBody>
      </p:sp>
      <p:sp>
        <p:nvSpPr>
          <p:cNvPr id="1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de se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File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554480"/>
            <a:ext cx="64008" cy="19202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00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C4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en Visual Studio Code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43000" y="2971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OAuth, token de acceso personal, Docker y solución de problemas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OPCIONES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Vías de configuración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servidor MCP de GitHub se integra en el entorno de desarrollo mediante cualquiera de estas configuraciones.</a:t>
            </a:r>
            <a:endParaRPr lang="en-US" sz="125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Autorización con GitHub en un solo clic desde la paleta de comandos de VS Code. Es la vía recomendada y más rápida.</a:t>
            </a:r>
            <a:endParaRPr lang="en-US" sz="1100" dirty="0"/>
          </a:p>
        </p:txBody>
      </p:sp>
      <p:sp>
        <p:nvSpPr>
          <p:cNvPr id="13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5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2256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2256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72256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de acceso personal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72256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avanzada con control de permisos mediante un PAT con ámbito de repositorio y lectura de paquetes.</a:t>
            </a:r>
            <a:endParaRPr lang="en-US" sz="1100" dirty="0"/>
          </a:p>
        </p:txBody>
      </p:sp>
      <p:sp>
        <p:nvSpPr>
          <p:cNvPr id="1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1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9840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98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9840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con Docker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9840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local del servidor mediante la imagen oficial. Requiere Docker en ejecución y autenticación por PAT; OAuth no se admite.</a:t>
            </a:r>
            <a:endParaRPr lang="en-US" sz="1100" dirty="0"/>
          </a:p>
        </p:txBody>
      </p:sp>
      <p:sp>
        <p:nvSpPr>
          <p:cNvPr id="2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 EN VS CODE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mediante OAuth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Tras la instalación, el servidor queda disponible en los proyectos de VS Code para automatizar tareas, administrar problemas y analizar código.</a:t>
            </a:r>
            <a:endParaRPr lang="en-US" sz="1250" dirty="0"/>
          </a:p>
        </p:txBody>
      </p:sp>
      <p:sp>
        <p:nvSpPr>
          <p:cNvPr id="7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940487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404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47672"/>
            <a:ext cx="7498080" cy="3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la paleta de comandos con Ctrl+Mayús+P (Windows/Linux) o Cmd+Mayús+P (Mac).</a:t>
            </a:r>
            <a:endParaRPr lang="en-US" sz="1250" dirty="0"/>
          </a:p>
        </p:txBody>
      </p:sp>
      <p:sp>
        <p:nvSpPr>
          <p:cNvPr id="10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289919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1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9187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918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299063"/>
            <a:ext cx="7498080" cy="3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«MCP: agregar el servidor» y presionar Enter.</a:t>
            </a:r>
            <a:endParaRPr lang="en-US" sz="1250" dirty="0"/>
          </a:p>
        </p:txBody>
      </p:sp>
      <p:sp>
        <p:nvSpPr>
          <p:cNvPr id="14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641310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5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43269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432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50454"/>
            <a:ext cx="7498080" cy="3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«HTTP (HTTP o Server-Sent Events)».</a:t>
            </a:r>
            <a:endParaRPr lang="en-US" sz="1250" dirty="0"/>
          </a:p>
        </p:txBody>
      </p:sp>
      <p:sp>
        <p:nvSpPr>
          <p:cNvPr id="18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992701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9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994660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94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001845"/>
            <a:ext cx="7498080" cy="3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Introducir como dirección del servidor: https://api.githubcopilot.com/mcp/</a:t>
            </a:r>
            <a:endParaRPr lang="en-US" sz="1250" dirty="0"/>
          </a:p>
        </p:txBody>
      </p:sp>
      <p:sp>
        <p:nvSpPr>
          <p:cNvPr id="22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344091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3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346051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34605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353235"/>
            <a:ext cx="7498080" cy="3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Introducir un identificador de servidor o utilizar el valor predeterminado.</a:t>
            </a:r>
            <a:endParaRPr lang="en-US" sz="1250" dirty="0"/>
          </a:p>
        </p:txBody>
      </p:sp>
      <p:sp>
        <p:nvSpPr>
          <p:cNvPr id="26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695482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7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697442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69744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704626"/>
            <a:ext cx="7498080" cy="3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dónde guardar la configuración: de usuario o del área de trabajo.</a:t>
            </a:r>
            <a:endParaRPr lang="en-US" sz="1250" dirty="0"/>
          </a:p>
        </p:txBody>
      </p:sp>
      <p:sp>
        <p:nvSpPr>
          <p:cNvPr id="30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4046873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31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48833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0488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4056017"/>
            <a:ext cx="7498080" cy="3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Autorizar con GitHub mediante OAuth: seleccionar «Permitir» e iniciar sesión si se solicita.</a:t>
            </a:r>
            <a:endParaRPr lang="en-US" sz="1250" dirty="0"/>
          </a:p>
        </p:txBody>
      </p:sp>
      <p:sp>
        <p:nvSpPr>
          <p:cNvPr id="3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mediante token de acceso personal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58419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841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27048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 PAT con el ámbito de repositorio y lectura de paquetes en la cuenta de GitHub.</a:t>
            </a:r>
            <a:endParaRPr lang="en-US" sz="1250" dirty="0"/>
          </a:p>
        </p:txBody>
      </p:sp>
      <p:sp>
        <p:nvSpPr>
          <p:cNvPr id="9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1997964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0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6425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6425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007108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Seguir los pasos anteriores, pero cancelar OAuth cuando se solicite.</a:t>
            </a:r>
            <a:endParaRPr lang="en-US" sz="1250" dirty="0"/>
          </a:p>
        </p:txBody>
      </p:sp>
      <p:sp>
        <p:nvSpPr>
          <p:cNvPr id="13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478024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4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4431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443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en el archivo de configuración el encabezado de autorización con el token de entrada.</a:t>
            </a:r>
            <a:endParaRPr lang="en-US" sz="1250" dirty="0"/>
          </a:p>
        </p:txBody>
      </p:sp>
      <p:sp>
        <p:nvSpPr>
          <p:cNvPr id="17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958084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8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02437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2437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67228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un mensaje de entrada de tipo promptString con password activado para solicitar el token de forma segura.</a:t>
            </a:r>
            <a:endParaRPr lang="en-US" sz="1250" dirty="0"/>
          </a:p>
        </p:txBody>
      </p:sp>
      <p:sp>
        <p:nvSpPr>
          <p:cNvPr id="21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438144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2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50443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0443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447288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Reiniciar el servidor MCP en VS Code e introducir el PAT cuando se solicite.</a:t>
            </a:r>
            <a:endParaRPr lang="en-US" sz="1250" dirty="0"/>
          </a:p>
        </p:txBody>
      </p:sp>
      <p:sp>
        <p:nvSpPr>
          <p:cNvPr id="25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918204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6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8449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984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927348"/>
            <a:ext cx="7498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servidor MCP utilizará el PAT para la autorización.</a:t>
            </a:r>
            <a:endParaRPr lang="en-US" sz="1250" dirty="0"/>
          </a:p>
        </p:txBody>
      </p:sp>
      <p:sp>
        <p:nvSpPr>
          <p:cNvPr id="29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DE CONFIGURACIÓN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Fragmentos de configuración del PAT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78638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Encabezado de autorización: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"headers": { "Authorization": "Bearer ${input:github_token}" }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 de entrada: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"inputs": [ { "id": "github_token", "type": "promptString", "description": "GitHub Personal Access Token", "password": true } ]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indicador password: true evita que el token quede visible o almacenado en texto plano.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Tras guardar los cambios, reiniciar el servidor MCP para que la nueva configuración se aplique.</a:t>
            </a:r>
            <a:endParaRPr lang="en-US" sz="14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LOCAL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local con Docker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uso local el servidor requiere Docker y autenticación mediante PAT; OAuth no se admite en esta configuración.</a:t>
            </a:r>
            <a:endParaRPr lang="en-US" sz="1250" dirty="0"/>
          </a:p>
        </p:txBody>
      </p:sp>
      <p:sp>
        <p:nvSpPr>
          <p:cNvPr id="7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969770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697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47672"/>
            <a:ext cx="7498080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que Docker está instalado y ejecutándose.</a:t>
            </a:r>
            <a:endParaRPr lang="en-US" sz="1250" dirty="0"/>
          </a:p>
        </p:txBody>
      </p:sp>
      <p:sp>
        <p:nvSpPr>
          <p:cNvPr id="10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348484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1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379726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797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357628"/>
            <a:ext cx="7498080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un PAT con los ámbitos necesarios.</a:t>
            </a:r>
            <a:endParaRPr lang="en-US" sz="1250" dirty="0"/>
          </a:p>
        </p:txBody>
      </p:sp>
      <p:sp>
        <p:nvSpPr>
          <p:cNvPr id="14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758440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5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789682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896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67584"/>
            <a:ext cx="7498080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la entrada github_token de tipo promptString con password: true.</a:t>
            </a:r>
            <a:endParaRPr lang="en-US" sz="1250" dirty="0"/>
          </a:p>
        </p:txBody>
      </p:sp>
      <p:sp>
        <p:nvSpPr>
          <p:cNvPr id="18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168396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9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199638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9963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177540"/>
            <a:ext cx="7498080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el servidor github con el comando docker y la imagen ghcr.io/github/github-mcp-server.</a:t>
            </a:r>
            <a:endParaRPr lang="en-US" sz="1250" dirty="0"/>
          </a:p>
        </p:txBody>
      </p:sp>
      <p:sp>
        <p:nvSpPr>
          <p:cNvPr id="22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578352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3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609594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095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587496"/>
            <a:ext cx="7498080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Asociar la variable GITHUB_PERSONAL_ACCESS_TOKEN al token introducido.</a:t>
            </a:r>
            <a:endParaRPr lang="en-US" sz="1250" dirty="0"/>
          </a:p>
        </p:txBody>
      </p:sp>
      <p:sp>
        <p:nvSpPr>
          <p:cNvPr id="26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988308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7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19550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195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997452"/>
            <a:ext cx="7498080" cy="40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Reiniciar el servidor MCP e introducir el PAT cuando se solicite.</a:t>
            </a:r>
            <a:endParaRPr lang="en-US" sz="1250" dirty="0"/>
          </a:p>
        </p:txBody>
      </p:sp>
      <p:sp>
        <p:nvSpPr>
          <p:cNvPr id="3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CONSIDERACIONES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Enterprise Server y restricciones de PAT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78638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GitHub Enterprise Server con restricciones de PAT, solo se puede acceder a los ámbitos de API permitidos por la directiva de la organización.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todos los puntos de conexión están restringidos, el servidor MCP no estará disponible.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Conviene revisar con antelación la directiva de la organización antes de planificar la configuración local.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organizaciones con Copilot Business o Copilot Enterprise, la directiva «Servidores MCP en Copilot» debe estar habilitada.</a:t>
            </a:r>
            <a:endParaRPr lang="en-US" sz="14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COMPROBACIONES HABITUALES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de problemas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78638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que se inició sesión en GitHub desde Visual Studio Code.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se utiliza un PAT, verificar que tenga los ámbitos correctos y esté escrito correctamente.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la configuración para detectar errores tipográficos o campos faltantes.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se utiliza Docker, comprobar que esté instalado y ejecutándose.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Reiniciar VS Code o el servidor MCP para resolver problemas temporales de conexión.</a:t>
            </a:r>
            <a:endParaRPr lang="en-US" sz="14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 de se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File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554480"/>
            <a:ext cx="64008" cy="192024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600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C4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SECCIÓN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9659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con Copilot Chat y modo agente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43000" y="2971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responder a una petición única al ciclo de explorar, adaptar y refinar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TRABAJO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con Copilot Chat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servidores MCP amplían Copilot conectándolo con herramientas y recursos externos; con el modo agente puede planear, ejecutar y refinar flujos de trabajo.</a:t>
            </a:r>
            <a:endParaRPr lang="en-US" sz="1250" dirty="0"/>
          </a:p>
        </p:txBody>
      </p:sp>
      <p:sp>
        <p:nvSpPr>
          <p:cNvPr id="7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39112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9476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el Chat de Copilot en Visual Studio Code y cambiar al modo agente para activar las herramientas del servidor MCP.</a:t>
            </a:r>
            <a:endParaRPr lang="en-US" sz="1250" dirty="0"/>
          </a:p>
        </p:txBody>
      </p:sp>
      <p:sp>
        <p:nvSpPr>
          <p:cNvPr id="10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2487168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1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587752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4963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«Seleccionar herramientas» para visualizar las funcionalidades disponibles.</a:t>
            </a:r>
            <a:endParaRPr lang="en-US" sz="1250" dirty="0"/>
          </a:p>
        </p:txBody>
      </p:sp>
      <p:sp>
        <p:nvSpPr>
          <p:cNvPr id="14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035808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5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136392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0449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Utilizar lenguaje natural: crear un nuevo problema, resumir un repositorio u obtener información sobre el trabajo.</a:t>
            </a:r>
            <a:endParaRPr lang="en-US" sz="1250" dirty="0"/>
          </a:p>
        </p:txBody>
      </p:sp>
      <p:sp>
        <p:nvSpPr>
          <p:cNvPr id="18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7280" y="3584448"/>
            <a:ext cx="7498080" cy="10973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9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685032"/>
            <a:ext cx="365760" cy="365760"/>
          </a:xfrm>
          <a:prstGeom prst="ellipse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5935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Seguir las indicaciones de Copilot Chat para completar las tareas.</a:t>
            </a:r>
            <a:endParaRPr lang="en-US" sz="1250" dirty="0"/>
          </a:p>
        </p:txBody>
      </p:sp>
      <p:sp>
        <p:nvSpPr>
          <p:cNvPr id="22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agente y MCP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388620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Cabecera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27048"/>
            <a:ext cx="3886200" cy="457200"/>
          </a:xfrm>
          <a:prstGeom prst="rect">
            <a:avLst/>
          </a:prstGeom>
          <a:solidFill>
            <a:srgbClr val="D8534F"/>
          </a:solidFill>
          <a:ln w="12700">
            <a:solidFill>
              <a:srgbClr val="D85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27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agénticas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67128"/>
            <a:ext cx="333756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Trabajar de forma independiente mediante flujos de varios pasos sin instrucciones constantes.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Tomar decisiones y elegir herramientas o enfoques según el contexto.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Adaptarse, mejorar e iterar en función de los resultados y comentarios.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actúa como un colaborador que comprende el contexto general.</a:t>
            </a:r>
            <a:endParaRPr lang="en-US" sz="11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3886200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abecera d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527048"/>
            <a:ext cx="3886200" cy="45720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270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MCP amplía el modo agente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67128"/>
            <a:ext cx="3337560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Acceder directamente a datos externos, API y herramientas empresariales.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el contexto entre plataformas sin cambiar de aplicación.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Completar bucles agentes: buscar información, analizar resultados y ejecutar los siguientes pasos de forma dinámica.</a:t>
            </a:r>
            <a:endParaRPr lang="en-US" sz="1150" dirty="0"/>
          </a:p>
        </p:txBody>
      </p:sp>
      <p:sp>
        <p:nvSpPr>
          <p:cNvPr id="1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Ventajas de combinar MCP con el modo agente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flujo pasa de responder a una única petición a trabajar mediante un ciclo de explorar, adaptar y refinar.</a:t>
            </a:r>
            <a:endParaRPr lang="en-US" sz="125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extendido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puede obtener información de varios sistemas además del editor de código.</a:t>
            </a:r>
            <a:endParaRPr lang="en-US" sz="1100" dirty="0"/>
          </a:p>
        </p:txBody>
      </p:sp>
      <p:sp>
        <p:nvSpPr>
          <p:cNvPr id="13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6224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5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72256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2256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72256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Menor esfuerzo manual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72256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 tareas rutinarias como abrir problemas, administrar flujos de trabajo o ejecutar comprobaciones.</a:t>
            </a:r>
            <a:endParaRPr lang="en-US" sz="1100" dirty="0"/>
          </a:p>
        </p:txBody>
      </p:sp>
      <p:sp>
        <p:nvSpPr>
          <p:cNvPr id="1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911096"/>
            <a:ext cx="2511552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3808" y="1911096"/>
            <a:ext cx="2511552" cy="50292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1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39840" y="2130552"/>
            <a:ext cx="347472" cy="347472"/>
          </a:xfrm>
          <a:prstGeom prst="ellipse">
            <a:avLst/>
          </a:prstGeom>
          <a:solidFill>
            <a:srgbClr val="E9F1FA"/>
          </a:solidFill>
          <a:ln w="12700">
            <a:solidFill>
              <a:srgbClr val="E9F1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984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9840" y="2569464"/>
            <a:ext cx="1999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sin problemas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9840" y="3227832"/>
            <a:ext cx="1999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realizar tareas que abarcan herramientas y plataformas sin conectores personalizados ni cambios constantes de aplicación.</a:t>
            </a:r>
            <a:endParaRPr lang="en-US" sz="1100" dirty="0"/>
          </a:p>
        </p:txBody>
      </p:sp>
      <p:sp>
        <p:nvSpPr>
          <p:cNvPr id="2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E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Procedimientos recomendados</a:t>
            </a:r>
            <a:endParaRPr lang="en-US" sz="26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61872"/>
            <a:ext cx="822960" cy="41148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786384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claramente los objetivos: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especificar qué debe lograr Copilot y cuál debe ser el resultado final.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Proporcionar contexto: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incluir información sobre el proyecto o flujo de trabajo, como vínculos, referencias o pasos anteriores.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Establecer límites: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indicar si debe detenerse en la planificación sin realizar cambios y limitar las herramientas MCP activas.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confirmación: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grandes cambios, solicitar que Copilot resuma el plan para aprobarlo o refinarlo.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0F3D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archivos de solicitud o instrucciones:</a:t>
            </a:r>
            <a:r>
              <a:rPr lang="en-US" sz="14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orientar el comportamiento de Copilot con servidores MCP específicos y mantener coherencia.</a:t>
            </a:r>
            <a:endParaRPr lang="en-US" sz="140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18304"/>
            <a:ext cx="8046720" cy="13716"/>
          </a:xfrm>
          <a:prstGeom prst="rect">
            <a:avLst/>
          </a:prstGeom>
          <a:solidFill>
            <a:srgbClr val="D3DEEA"/>
          </a:solidFill>
          <a:ln w="12700">
            <a:solidFill>
              <a:srgbClr val="D3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MCP de 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773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clave</a:t>
            </a:r>
            <a:endParaRPr lang="en-US" sz="3000" dirty="0"/>
          </a:p>
        </p:txBody>
      </p:sp>
      <p:sp>
        <p:nvSpPr>
          <p:cNvPr id="4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143000"/>
            <a:ext cx="822960" cy="4572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5" name="Franj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463040"/>
            <a:ext cx="7498080" cy="548640"/>
          </a:xfrm>
          <a:prstGeom prst="rect">
            <a:avLst/>
          </a:prstGeom>
          <a:solidFill>
            <a:srgbClr val="17497C"/>
          </a:solidFill>
          <a:ln w="12700">
            <a:solidFill>
              <a:srgbClr val="17497C"/>
            </a:solidFill>
            <a:prstDash val="solid"/>
          </a:ln>
        </p:spPr>
      </p:sp>
      <p:sp>
        <p:nvSpPr>
          <p:cNvPr id="6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463040"/>
            <a:ext cx="45720" cy="548640"/>
          </a:xfrm>
          <a:prstGeom prst="rect">
            <a:avLst/>
          </a:prstGeom>
          <a:solidFill>
            <a:srgbClr val="6FB0EE"/>
          </a:solidFill>
          <a:ln w="12700">
            <a:solidFill>
              <a:srgbClr val="6FB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es un estándar de conexión seguro y coherente entre modelos de IA, herramientas y fuentes de datos.</a:t>
            </a:r>
            <a:endParaRPr lang="en-US" sz="1250" dirty="0"/>
          </a:p>
        </p:txBody>
      </p:sp>
      <p:sp>
        <p:nvSpPr>
          <p:cNvPr id="8" name="Franj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121408"/>
            <a:ext cx="7498080" cy="548640"/>
          </a:xfrm>
          <a:prstGeom prst="rect">
            <a:avLst/>
          </a:prstGeom>
          <a:solidFill>
            <a:srgbClr val="17497C"/>
          </a:solidFill>
          <a:ln w="12700">
            <a:solidFill>
              <a:srgbClr val="17497C"/>
            </a:solidFill>
            <a:prstDash val="solid"/>
          </a:ln>
        </p:spPr>
      </p:sp>
      <p:sp>
        <p:nvSpPr>
          <p:cNvPr id="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121408"/>
            <a:ext cx="45720" cy="548640"/>
          </a:xfrm>
          <a:prstGeom prst="rect">
            <a:avLst/>
          </a:prstGeom>
          <a:solidFill>
            <a:srgbClr val="6FB0EE"/>
          </a:solidFill>
          <a:ln w="12700">
            <a:solidFill>
              <a:srgbClr val="6FB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21408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servidor hospedado de GitHub elimina Docker y la configuración manual, con OAuth de un solo clic.</a:t>
            </a:r>
            <a:endParaRPr lang="en-US" sz="1250" dirty="0"/>
          </a:p>
        </p:txBody>
      </p:sp>
      <p:sp>
        <p:nvSpPr>
          <p:cNvPr id="11" name="Franj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779776"/>
            <a:ext cx="7498080" cy="548640"/>
          </a:xfrm>
          <a:prstGeom prst="rect">
            <a:avLst/>
          </a:prstGeom>
          <a:solidFill>
            <a:srgbClr val="17497C"/>
          </a:solidFill>
          <a:ln w="12700">
            <a:solidFill>
              <a:srgbClr val="17497C"/>
            </a:solidFill>
            <a:prstDash val="solid"/>
          </a:ln>
        </p:spPr>
      </p:sp>
      <p:sp>
        <p:nvSpPr>
          <p:cNvPr id="12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779776"/>
            <a:ext cx="45720" cy="548640"/>
          </a:xfrm>
          <a:prstGeom prst="rect">
            <a:avLst/>
          </a:prstGeom>
          <a:solidFill>
            <a:srgbClr val="6FB0EE"/>
          </a:solidFill>
          <a:ln w="12700">
            <a:solidFill>
              <a:srgbClr val="6FB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779776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configuración en VS Code admite OAuth, token de acceso personal y, opcionalmente, Docker en local.</a:t>
            </a:r>
            <a:endParaRPr lang="en-US" sz="1250" dirty="0"/>
          </a:p>
        </p:txBody>
      </p:sp>
      <p:sp>
        <p:nvSpPr>
          <p:cNvPr id="14" name="Franj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438144"/>
            <a:ext cx="7498080" cy="548640"/>
          </a:xfrm>
          <a:prstGeom prst="rect">
            <a:avLst/>
          </a:prstGeom>
          <a:solidFill>
            <a:srgbClr val="17497C"/>
          </a:solidFill>
          <a:ln w="12700">
            <a:solidFill>
              <a:srgbClr val="17497C"/>
            </a:solidFill>
            <a:prstDash val="solid"/>
          </a:ln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438144"/>
            <a:ext cx="45720" cy="548640"/>
          </a:xfrm>
          <a:prstGeom prst="rect">
            <a:avLst/>
          </a:prstGeom>
          <a:solidFill>
            <a:srgbClr val="6FB0EE"/>
          </a:solidFill>
          <a:ln w="12700">
            <a:solidFill>
              <a:srgbClr val="6FB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38144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el modo agente, Copilot planea, ejecuta y refina flujos de trabajo de varios pasos.</a:t>
            </a:r>
            <a:endParaRPr lang="en-US" sz="1250" dirty="0"/>
          </a:p>
        </p:txBody>
      </p:sp>
      <p:sp>
        <p:nvSpPr>
          <p:cNvPr id="17" name="Franj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096512"/>
            <a:ext cx="7498080" cy="548640"/>
          </a:xfrm>
          <a:prstGeom prst="rect">
            <a:avLst/>
          </a:prstGeom>
          <a:solidFill>
            <a:srgbClr val="17497C"/>
          </a:solidFill>
          <a:ln w="12700">
            <a:solidFill>
              <a:srgbClr val="17497C"/>
            </a:solidFill>
            <a:prstDash val="solid"/>
          </a:ln>
        </p:spPr>
      </p:sp>
      <p:sp>
        <p:nvSpPr>
          <p:cNvPr id="18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4096512"/>
            <a:ext cx="45720" cy="548640"/>
          </a:xfrm>
          <a:prstGeom prst="rect">
            <a:avLst/>
          </a:prstGeom>
          <a:solidFill>
            <a:srgbClr val="6FB0EE"/>
          </a:solidFill>
          <a:ln w="12700">
            <a:solidFill>
              <a:srgbClr val="6FB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96512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claros, contexto, límites y confirmación son la base de un uso eficaz.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2026-08-20T20:23:04Z</dcterms:modified>
</cp:coreProperties>
</file>