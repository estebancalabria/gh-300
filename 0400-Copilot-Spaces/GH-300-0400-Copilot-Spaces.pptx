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A2142D-C4E0-3287-41C4-F763894A94E7}" v="3" dt="2026-08-19T18:52:41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lustración abstracta de un contexto de IA delimitado y enfocado"/>
          <p:cNvPicPr>
            <a:picLocks noChangeAspect="1"/>
          </p:cNvPicPr>
          <p:nvPr/>
        </p:nvPicPr>
        <p:blipFill>
          <a:blip r:embed="rId3"/>
          <a:srcRect l="2000" r="2000"/>
          <a:stretch/>
        </p:blipFill>
        <p:spPr>
          <a:xfrm>
            <a:off x="5852160" y="0"/>
            <a:ext cx="3291840" cy="5143500"/>
          </a:xfrm>
          <a:prstGeom prst="rect">
            <a:avLst/>
          </a:prstGeom>
        </p:spPr>
      </p:pic>
      <p:sp>
        <p:nvSpPr>
          <p:cNvPr id="3" name="Panel de port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852160" cy="5143500"/>
          </a:xfrm>
          <a:prstGeom prst="rect">
            <a:avLst/>
          </a:prstGeom>
          <a:solidFill>
            <a:srgbClr val="0E1633"/>
          </a:solidFill>
          <a:ln w="12700">
            <a:solidFill>
              <a:srgbClr val="0E16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143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4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48132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Spaces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40080" y="248716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B9C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de IA ancladas en un contexto cuidadosamente mantenido: más coherentes, precisas, fundamentadas y reproducibles.</a:t>
            </a:r>
            <a:endParaRPr lang="en-US" sz="1500" dirty="0"/>
          </a:p>
        </p:txBody>
      </p:sp>
      <p:sp>
        <p:nvSpPr>
          <p:cNvPr id="7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611880"/>
            <a:ext cx="1005840" cy="45720"/>
          </a:xfrm>
          <a:prstGeom prst="rect">
            <a:avLst/>
          </a:prstGeom>
          <a:solidFill>
            <a:srgbClr val="2B54DE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5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· Gobernanza · Buenas prácticas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5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16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chat enfocado, no genérico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del chat general de Copilot, que ofrece sugerencias más amplias, un espacio centra el modelo en archivos, problemas, solicitudes de incorporación de cambios e instrucciones concretas.</a:t>
            </a:r>
            <a:endParaRPr lang="en-US" sz="1400" dirty="0"/>
          </a:p>
        </p:txBody>
      </p:sp>
      <p:sp>
        <p:nvSpPr>
          <p:cNvPr id="5" name="Tarjeta de benefici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03120"/>
            <a:ext cx="1874520" cy="1920240"/>
          </a:xfrm>
          <a:prstGeom prst="rect">
            <a:avLst/>
          </a:prstGeom>
          <a:solidFill>
            <a:srgbClr val="F3F5FC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6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03120"/>
            <a:ext cx="1874520" cy="64008"/>
          </a:xfrm>
          <a:prstGeom prst="rect">
            <a:avLst/>
          </a:prstGeom>
          <a:solidFill>
            <a:srgbClr val="2B54DE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3591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Coherencia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69748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respuestas se mantienen alineadas con las mismas fuentes seleccionadas.</a:t>
            </a:r>
            <a:endParaRPr lang="en-US" sz="1200" dirty="0"/>
          </a:p>
        </p:txBody>
      </p:sp>
      <p:sp>
        <p:nvSpPr>
          <p:cNvPr id="9" name="Tarjeta de benefici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6040" y="2103120"/>
            <a:ext cx="1874520" cy="1920240"/>
          </a:xfrm>
          <a:prstGeom prst="rect">
            <a:avLst/>
          </a:prstGeom>
          <a:solidFill>
            <a:srgbClr val="F3F5FC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0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6040" y="2103120"/>
            <a:ext cx="1874520" cy="64008"/>
          </a:xfrm>
          <a:prstGeom prst="rect">
            <a:avLst/>
          </a:prstGeom>
          <a:solidFill>
            <a:srgbClr val="7A4DE8"/>
          </a:solidFill>
          <a:ln w="12700">
            <a:solidFill>
              <a:srgbClr val="7A4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23591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70632" y="269748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ruido: el modelo trabaja solo sobre lo que realmente importa.</a:t>
            </a:r>
            <a:endParaRPr lang="en-US" sz="1200" dirty="0"/>
          </a:p>
        </p:txBody>
      </p:sp>
      <p:sp>
        <p:nvSpPr>
          <p:cNvPr id="13" name="Tarjeta de benefici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03120"/>
            <a:ext cx="1874520" cy="1920240"/>
          </a:xfrm>
          <a:prstGeom prst="rect">
            <a:avLst/>
          </a:prstGeom>
          <a:solidFill>
            <a:srgbClr val="F3F5FC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4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103120"/>
            <a:ext cx="1874520" cy="64008"/>
          </a:xfrm>
          <a:prstGeom prst="rect">
            <a:avLst/>
          </a:prstGeom>
          <a:solidFill>
            <a:srgbClr val="2B54DE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23591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8032" y="269748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respuesta se apoya en material verificable del repositorio.</a:t>
            </a:r>
            <a:endParaRPr lang="en-US" sz="1200" dirty="0"/>
          </a:p>
        </p:txBody>
      </p:sp>
      <p:sp>
        <p:nvSpPr>
          <p:cNvPr id="17" name="Tarjeta de benefici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0840" y="2103120"/>
            <a:ext cx="1874520" cy="1920240"/>
          </a:xfrm>
          <a:prstGeom prst="rect">
            <a:avLst/>
          </a:prstGeom>
          <a:solidFill>
            <a:srgbClr val="F3F5FC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8" name="Acento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0840" y="2103120"/>
            <a:ext cx="1874520" cy="64008"/>
          </a:xfrm>
          <a:prstGeom prst="rect">
            <a:avLst/>
          </a:prstGeom>
          <a:solidFill>
            <a:srgbClr val="7A4DE8"/>
          </a:solidFill>
          <a:ln w="12700">
            <a:solidFill>
              <a:srgbClr val="7A4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5432" y="23591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Reproducibilidad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85432" y="269748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espacio produce resultados predecibles en el tiempo.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5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VAS A APRENDER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16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Conceptos principales</a:t>
            </a:r>
            <a:endParaRPr lang="en-US" sz="3000" dirty="0"/>
          </a:p>
        </p:txBody>
      </p:sp>
      <p:sp>
        <p:nvSpPr>
          <p:cNvPr id="4" name="Tarjeta de concep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5448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blurRad="127000" dist="25400" dir="5400000" algn="bl" rotWithShape="0">
              <a:srgbClr val="16255C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739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54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17556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son los espacios de Copilot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en qué se diferencian del chat general de Copilot.</a:t>
            </a:r>
            <a:endParaRPr lang="en-US" sz="1200" dirty="0"/>
          </a:p>
        </p:txBody>
      </p:sp>
      <p:sp>
        <p:nvSpPr>
          <p:cNvPr id="8" name="Tarjeta de concep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55448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blurRad="127000" dist="25400" dir="5400000" algn="bl" rotWithShape="0">
              <a:srgbClr val="16255C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7739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A4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577840" y="17556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qué importa delimitar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77840" y="21031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contexto bien acotado mejora calidad y coherencia.</a:t>
            </a:r>
            <a:endParaRPr lang="en-US" sz="1200" dirty="0"/>
          </a:p>
        </p:txBody>
      </p:sp>
      <p:sp>
        <p:nvSpPr>
          <p:cNvPr id="12" name="Tarjeta de concep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97180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blurRad="127000" dist="25400" dir="5400000" algn="bl" rotWithShape="0">
              <a:srgbClr val="16255C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1912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54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63040" y="31729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se construye el contexto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35204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Archivos, problemas, solicitudes de cambios e instrucciones.</a:t>
            </a:r>
            <a:endParaRPr lang="en-US" sz="1200" dirty="0"/>
          </a:p>
        </p:txBody>
      </p:sp>
      <p:sp>
        <p:nvSpPr>
          <p:cNvPr id="16" name="Tarjeta de concep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97180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blurRad="127000" dist="25400" dir="5400000" algn="bl" rotWithShape="0">
              <a:srgbClr val="16255C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1912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A4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577840" y="31729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Cuándo conviene usar un espacio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77840" y="35204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específicas, repetibles y de dominio determinado.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16255C"/>
          </a:solidFill>
          <a:ln w="12700">
            <a:solidFill>
              <a:srgbClr val="1625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34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A4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un espacio de Copilot?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B9C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chat de Copilot dedicado y fundamentado en un conjunto seleccionado de contextos.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8056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6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espacio puede utilizar</a:t>
            </a:r>
            <a:endParaRPr lang="en-US" sz="1800" dirty="0"/>
          </a:p>
        </p:txBody>
      </p:sp>
      <p:sp>
        <p:nvSpPr>
          <p:cNvPr id="7" name="Viñeta circul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80560" y="1472184"/>
            <a:ext cx="310896" cy="310896"/>
          </a:xfrm>
          <a:prstGeom prst="ellipse">
            <a:avLst/>
          </a:prstGeom>
          <a:solidFill>
            <a:srgbClr val="2B54DE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56048" y="147218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de GitHub</a:t>
            </a:r>
            <a:endParaRPr lang="en-US" sz="1500" dirty="0"/>
          </a:p>
        </p:txBody>
      </p:sp>
      <p:sp>
        <p:nvSpPr>
          <p:cNvPr id="10" name="Viñeta circul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80560" y="2185416"/>
            <a:ext cx="310896" cy="310896"/>
          </a:xfrm>
          <a:prstGeom prst="ellipse">
            <a:avLst/>
          </a:prstGeom>
          <a:solidFill>
            <a:srgbClr val="7A4DE8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185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2185416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</a:t>
            </a:r>
            <a:endParaRPr lang="en-US" sz="1500" dirty="0"/>
          </a:p>
        </p:txBody>
      </p:sp>
      <p:sp>
        <p:nvSpPr>
          <p:cNvPr id="13" name="Viñeta circul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80560" y="2898648"/>
            <a:ext cx="310896" cy="310896"/>
          </a:xfrm>
          <a:prstGeom prst="ellipse">
            <a:avLst/>
          </a:prstGeom>
          <a:solidFill>
            <a:srgbClr val="2B54DE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898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56048" y="2898648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de incorporación de cambios</a:t>
            </a:r>
            <a:endParaRPr lang="en-US" sz="1500" dirty="0"/>
          </a:p>
        </p:txBody>
      </p:sp>
      <p:sp>
        <p:nvSpPr>
          <p:cNvPr id="16" name="Viñeta circul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80560" y="3611880"/>
            <a:ext cx="310896" cy="310896"/>
          </a:xfrm>
          <a:prstGeom prst="ellipse">
            <a:avLst/>
          </a:prstGeom>
          <a:solidFill>
            <a:srgbClr val="7A4DE8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56048" y="3611880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de texto libre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80560" y="43159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elementos aportan el contexto necesario para que Copilot trabaje sobre un tema específico.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5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16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contexto define la eficacia del espacio</a:t>
            </a:r>
            <a:endParaRPr lang="en-US" sz="3000" dirty="0"/>
          </a:p>
        </p:txBody>
      </p:sp>
      <p:pic>
        <p:nvPicPr>
          <p:cNvPr id="4" name="Image 0" descr="Ilustración de archivos y enlaces reunidos en un contexto único"/>
          <p:cNvPicPr>
            <a:picLocks noChangeAspect="1"/>
          </p:cNvPicPr>
          <p:nvPr/>
        </p:nvPicPr>
        <p:blipFill>
          <a:blip r:embed="rId3"/>
          <a:srcRect t="2771" b="2771"/>
          <a:stretch/>
        </p:blipFill>
        <p:spPr>
          <a:xfrm>
            <a:off x="5394960" y="1325880"/>
            <a:ext cx="3200400" cy="2148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29844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selección y el orden importan: conviene comenzar por los archivos o instrucciones más relevantes para favorecer respuestas precisas.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20299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Adjuntar archivos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de código fuente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Markdown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de configuración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recursos relevantes del repositorio</a:t>
            </a:r>
            <a:endParaRPr lang="en-US" sz="1300" dirty="0"/>
          </a:p>
        </p:txBody>
      </p:sp>
      <p:sp>
        <p:nvSpPr>
          <p:cNvPr id="8" name="Nota destac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703320"/>
            <a:ext cx="8046720" cy="914400"/>
          </a:xfrm>
          <a:prstGeom prst="rect">
            <a:avLst/>
          </a:prstGeom>
          <a:solidFill>
            <a:srgbClr val="F3F5FC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822192"/>
            <a:ext cx="7498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archivos vinculados se referencian desde la rama predeterminada, de modo que el espacio se mantiene actualizado a medida que el repositorio evoluciona. Cuando la configuración lo permite, también se pueden cargar imágenes, conjuntos de datos, textos, documentos enriquecidos y hojas de cálculo desde la máquina local.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5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16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 pueden definir las instrucciones</a:t>
            </a:r>
            <a:endParaRPr lang="en-US" sz="3000" dirty="0"/>
          </a:p>
        </p:txBody>
      </p:sp>
      <p:sp>
        <p:nvSpPr>
          <p:cNvPr id="4" name="Tarjeta de instrucc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54480"/>
            <a:ext cx="2560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1907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4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05740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ejemplo, resumir un proceso de incorporación.</a:t>
            </a:r>
            <a:endParaRPr lang="en-US" sz="1200" dirty="0"/>
          </a:p>
        </p:txBody>
      </p:sp>
      <p:sp>
        <p:nvSpPr>
          <p:cNvPr id="7" name="Tarjeta de instrucc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554480"/>
            <a:ext cx="2560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3008" y="171907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4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Preferencias de estilo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93008" y="205740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utilizar un tono formal y consistente.</a:t>
            </a:r>
            <a:endParaRPr lang="en-US" sz="1200" dirty="0"/>
          </a:p>
        </p:txBody>
      </p:sp>
      <p:sp>
        <p:nvSpPr>
          <p:cNvPr id="10" name="Tarjeta de instrucc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554480"/>
            <a:ext cx="2560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171907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4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Ejemplos canónicos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36208" y="205740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muestren cómo debería ser la salida esperada.</a:t>
            </a:r>
            <a:endParaRPr lang="en-US" sz="1200" dirty="0"/>
          </a:p>
        </p:txBody>
      </p:sp>
      <p:sp>
        <p:nvSpPr>
          <p:cNvPr id="13" name="Tarjeta de instrucc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880360"/>
            <a:ext cx="2560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0449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4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Áreas de experiencia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" y="33832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en el que debe centrarse Copilot.</a:t>
            </a:r>
            <a:endParaRPr lang="en-US" sz="1200" dirty="0"/>
          </a:p>
        </p:txBody>
      </p:sp>
      <p:sp>
        <p:nvSpPr>
          <p:cNvPr id="16" name="Tarjeta de instrucc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880360"/>
            <a:ext cx="2560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30449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4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tarea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93008" y="33832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Aquello en lo que debe ayudar y lo que debe evitar.</a:t>
            </a:r>
            <a:endParaRPr lang="en-US" sz="1200" dirty="0"/>
          </a:p>
        </p:txBody>
      </p:sp>
      <p:sp>
        <p:nvSpPr>
          <p:cNvPr id="19" name="Tarjeta de instrucció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2880360"/>
            <a:ext cx="2560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30449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54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Flujos paso a paso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36208" y="338328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ejemplo para trabajo y solución de problemas.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3159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instrucciones deben ser breves, claras, centradas y accionables. Pueden actualizarse en cualquier momento para refinar el comportamiento del espacio.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5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USO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16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Profundidad en lugar de amplitud</a:t>
            </a:r>
            <a:endParaRPr lang="en-US" sz="3000" dirty="0"/>
          </a:p>
        </p:txBody>
      </p:sp>
      <p:sp>
        <p:nvSpPr>
          <p:cNvPr id="4" name="Tarjeta comparativa Spac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3931920" cy="3246120"/>
          </a:xfrm>
          <a:prstGeom prst="rect">
            <a:avLst/>
          </a:prstGeom>
          <a:solidFill>
            <a:srgbClr val="16255C"/>
          </a:solidFill>
          <a:ln w="12700">
            <a:solidFill>
              <a:srgbClr val="1625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espacio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B9C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restringido a lo más relevante. Respuestas más predecibles y fundamentadas sobre un ámbito estricto: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determinado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runbook o cuaderno de estrategias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conjunto de datos conocido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de trabajo específico</a:t>
            </a:r>
            <a:endParaRPr lang="en-US" sz="1300" dirty="0"/>
          </a:p>
        </p:txBody>
      </p:sp>
      <p:sp>
        <p:nvSpPr>
          <p:cNvPr id="8" name="Tarjeta comparativa chat gen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1371600"/>
            <a:ext cx="3840480" cy="3246120"/>
          </a:xfrm>
          <a:prstGeom prst="rect">
            <a:avLst/>
          </a:prstGeom>
          <a:solidFill>
            <a:srgbClr val="F3F5FC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6276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16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 general o todo el repositorio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029200" y="2240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 una detección más extensa del material disponible, pero suele ser menos preciso.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3017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4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Spaces intercambia amplitud por profundidad.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espacio cuando necesites respuestas coherentes y reproducibles.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5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16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Cinco reglas para un espacio saludable</a:t>
            </a:r>
            <a:endParaRPr lang="en-US" sz="3000" dirty="0"/>
          </a:p>
        </p:txBody>
      </p:sp>
      <p:sp>
        <p:nvSpPr>
          <p:cNvPr id="4" name="Fila de práctic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81328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54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48132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los espacios pequeños y enfocados por los límites de contexto del modelo.</a:t>
            </a:r>
            <a:endParaRPr lang="en-US" sz="1400" dirty="0"/>
          </a:p>
        </p:txBody>
      </p:sp>
      <p:sp>
        <p:nvSpPr>
          <p:cNvPr id="7" name="Fila de práctic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39696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3969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4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13969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archivos de la rama predeterminada para conservar el contenido actualizado.</a:t>
            </a:r>
            <a:endParaRPr lang="en-US" sz="1400" dirty="0"/>
          </a:p>
        </p:txBody>
      </p:sp>
      <p:sp>
        <p:nvSpPr>
          <p:cNvPr id="10" name="Fila de práctic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798064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9806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54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79806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instrucciones claras y concisas.</a:t>
            </a:r>
            <a:endParaRPr lang="en-US" sz="1400" dirty="0"/>
          </a:p>
        </p:txBody>
      </p:sp>
      <p:sp>
        <p:nvSpPr>
          <p:cNvPr id="13" name="Fila de práctic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56432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5643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4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4564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ejemplos canónicos que delimiten el estilo y las salidas esperadas.</a:t>
            </a:r>
            <a:endParaRPr lang="en-US" sz="1400" dirty="0"/>
          </a:p>
        </p:txBody>
      </p:sp>
      <p:sp>
        <p:nvSpPr>
          <p:cNvPr id="16" name="Fila de práctic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114800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1480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54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11480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el contexto empezando por las fuentes más importantes.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A4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MARCHA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Creando tu primer espacio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B9C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configurado y nombrado, el espacio se convierte en un área de trabajo reutilizable donde Copilot opera dentro de un ámbito claramente definido.</a:t>
            </a:r>
            <a:endParaRPr lang="en-US" sz="1300" dirty="0"/>
          </a:p>
        </p:txBody>
      </p:sp>
      <p:sp>
        <p:nvSpPr>
          <p:cNvPr id="5" name="Tarjeta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03120"/>
            <a:ext cx="1481328" cy="2194560"/>
          </a:xfrm>
          <a:prstGeom prst="rect">
            <a:avLst/>
          </a:prstGeom>
          <a:solidFill>
            <a:srgbClr val="16255C"/>
          </a:solidFill>
          <a:ln w="12700">
            <a:solidFill>
              <a:srgbClr val="2C3B72"/>
            </a:solidFill>
            <a:prstDash val="solid"/>
          </a:ln>
        </p:spPr>
      </p:sp>
      <p:sp>
        <p:nvSpPr>
          <p:cNvPr id="6" name="Círcul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304288"/>
            <a:ext cx="384048" cy="384048"/>
          </a:xfrm>
          <a:prstGeom prst="ellipse">
            <a:avLst/>
          </a:prstGeom>
          <a:solidFill>
            <a:srgbClr val="2B54DE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798064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espacio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346704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A8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github.com/copilot/spaces, seleccionar Crear espacio.</a:t>
            </a:r>
            <a:endParaRPr lang="en-US" sz="1050" dirty="0"/>
          </a:p>
        </p:txBody>
      </p:sp>
      <p:sp>
        <p:nvSpPr>
          <p:cNvPr id="10" name="Tarjeta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5416" y="2103120"/>
            <a:ext cx="1481328" cy="2194560"/>
          </a:xfrm>
          <a:prstGeom prst="rect">
            <a:avLst/>
          </a:prstGeom>
          <a:solidFill>
            <a:srgbClr val="16255C"/>
          </a:solidFill>
          <a:ln w="12700">
            <a:solidFill>
              <a:srgbClr val="2C3B72"/>
            </a:solidFill>
            <a:prstDash val="solid"/>
          </a:ln>
        </p:spPr>
      </p:sp>
      <p:sp>
        <p:nvSpPr>
          <p:cNvPr id="11" name="Círcul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68296" y="2304288"/>
            <a:ext cx="384048" cy="384048"/>
          </a:xfrm>
          <a:prstGeom prst="ellipse">
            <a:avLst/>
          </a:prstGeom>
          <a:solidFill>
            <a:srgbClr val="2B54DE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68296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68296" y="2798064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Asignar un nombre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68296" y="3346704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A8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título claro y orientado al propósito del trabajo.</a:t>
            </a:r>
            <a:endParaRPr lang="en-US" sz="1050" dirty="0"/>
          </a:p>
        </p:txBody>
      </p:sp>
      <p:sp>
        <p:nvSpPr>
          <p:cNvPr id="15" name="Tarjeta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2192" y="2103120"/>
            <a:ext cx="1481328" cy="2194560"/>
          </a:xfrm>
          <a:prstGeom prst="rect">
            <a:avLst/>
          </a:prstGeom>
          <a:solidFill>
            <a:srgbClr val="16255C"/>
          </a:solidFill>
          <a:ln w="12700">
            <a:solidFill>
              <a:srgbClr val="2C3B72"/>
            </a:solidFill>
            <a:prstDash val="solid"/>
          </a:ln>
        </p:spPr>
      </p:sp>
      <p:sp>
        <p:nvSpPr>
          <p:cNvPr id="16" name="Círcul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05072" y="2304288"/>
            <a:ext cx="384048" cy="384048"/>
          </a:xfrm>
          <a:prstGeom prst="ellipse">
            <a:avLst/>
          </a:prstGeom>
          <a:solidFill>
            <a:srgbClr val="2B54DE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05072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005072" y="2798064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Elegir la propiedad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05072" y="3346704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A8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o de la organización, con permisos integrados de GitHub.</a:t>
            </a:r>
            <a:endParaRPr lang="en-US" sz="1050" dirty="0"/>
          </a:p>
        </p:txBody>
      </p:sp>
      <p:sp>
        <p:nvSpPr>
          <p:cNvPr id="20" name="Tarjeta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58968" y="2103120"/>
            <a:ext cx="1481328" cy="2194560"/>
          </a:xfrm>
          <a:prstGeom prst="rect">
            <a:avLst/>
          </a:prstGeom>
          <a:solidFill>
            <a:srgbClr val="16255C"/>
          </a:solidFill>
          <a:ln w="12700">
            <a:solidFill>
              <a:srgbClr val="2C3B72"/>
            </a:solidFill>
            <a:prstDash val="solid"/>
          </a:ln>
        </p:spPr>
      </p:sp>
      <p:sp>
        <p:nvSpPr>
          <p:cNvPr id="21" name="Círcul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41848" y="2304288"/>
            <a:ext cx="384048" cy="384048"/>
          </a:xfrm>
          <a:prstGeom prst="ellipse">
            <a:avLst/>
          </a:prstGeom>
          <a:solidFill>
            <a:srgbClr val="2B54DE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4184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41848" y="2798064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Agregar descripción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41848" y="3346704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A8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Opcional: no afecta las respuestas, pero orienta a otros usuarios.</a:t>
            </a:r>
            <a:endParaRPr lang="en-US" sz="1050" dirty="0"/>
          </a:p>
        </p:txBody>
      </p:sp>
      <p:sp>
        <p:nvSpPr>
          <p:cNvPr id="25" name="Tarjeta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95744" y="2103120"/>
            <a:ext cx="1481328" cy="2194560"/>
          </a:xfrm>
          <a:prstGeom prst="rect">
            <a:avLst/>
          </a:prstGeom>
          <a:solidFill>
            <a:srgbClr val="16255C"/>
          </a:solidFill>
          <a:ln w="12700">
            <a:solidFill>
              <a:srgbClr val="2C3B72"/>
            </a:solidFill>
            <a:prstDash val="solid"/>
          </a:ln>
        </p:spPr>
      </p:sp>
      <p:sp>
        <p:nvSpPr>
          <p:cNvPr id="26" name="Círcul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78624" y="2304288"/>
            <a:ext cx="384048" cy="384048"/>
          </a:xfrm>
          <a:prstGeom prst="ellipse">
            <a:avLst/>
          </a:prstGeom>
          <a:solidFill>
            <a:srgbClr val="2B54DE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78624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78624" y="2798064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Guardar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78624" y="3346704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A8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y la descripción pueden modificarse después con Editar.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5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espacios propiedad de una organización pueden compartirse mediante el modelo de permisos integrado de GitHub.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5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16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Dos formas de alimentar un espacio</a:t>
            </a:r>
            <a:endParaRPr lang="en-US" sz="3000" dirty="0"/>
          </a:p>
        </p:txBody>
      </p:sp>
      <p:sp>
        <p:nvSpPr>
          <p:cNvPr id="4" name="Tarjeta instruccion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2468880" cy="3200400"/>
          </a:xfrm>
          <a:prstGeom prst="rect">
            <a:avLst/>
          </a:prstGeom>
          <a:solidFill>
            <a:srgbClr val="F3F5FC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4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Instrucciones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libre que describe en qué debe centrarse Copilot: áreas de experiencia, tipos de tareas, objetivos y aspectos que debe evitar.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429000" y="13716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54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 adjuntos</a:t>
            </a:r>
            <a:endParaRPr lang="en-US" sz="1800" dirty="0"/>
          </a:p>
        </p:txBody>
      </p:sp>
      <p:sp>
        <p:nvSpPr>
          <p:cNvPr id="8" name="Fila de datos adjunto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1810512"/>
            <a:ext cx="5166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Adjuntar archivos y carpetas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39312" y="21214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documentación y otro contenido de repositorios.</a:t>
            </a:r>
            <a:endParaRPr lang="en-US" sz="1150" dirty="0"/>
          </a:p>
        </p:txBody>
      </p:sp>
      <p:sp>
        <p:nvSpPr>
          <p:cNvPr id="11" name="Fila de datos adjunto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2532888"/>
            <a:ext cx="5166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25968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Vincular problemas y cambios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39312" y="28437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Pegando las direcciones URL correspondientes.</a:t>
            </a:r>
            <a:endParaRPr lang="en-US" sz="1150" dirty="0"/>
          </a:p>
        </p:txBody>
      </p:sp>
      <p:sp>
        <p:nvSpPr>
          <p:cNvPr id="14" name="Fila de datos adjunto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3255264"/>
            <a:ext cx="5166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3319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Cargar un archivo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39312" y="35661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Imágenes, textos, documentos enriquecidos y hojas de cálculo.</a:t>
            </a:r>
            <a:endParaRPr lang="en-US" sz="1150" dirty="0"/>
          </a:p>
        </p:txBody>
      </p:sp>
      <p:sp>
        <p:nvSpPr>
          <p:cNvPr id="17" name="Fila de datos adjunto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9000" y="3977640"/>
            <a:ext cx="5166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9312" y="4041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Agregar contenido de texto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39312" y="42885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Transcripciones, notas u otra información relevante.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hace referencia a la versión más reciente del código en la rama principal del repositorio.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5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16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Visibilidad, uso compartido y detectabilidad</a:t>
            </a:r>
            <a:endParaRPr lang="en-US" sz="3000" dirty="0"/>
          </a:p>
        </p:txBody>
      </p:sp>
      <p:sp>
        <p:nvSpPr>
          <p:cNvPr id="4" name="Tarjeta de gobernanz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36192"/>
            <a:ext cx="39319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blurRad="127000" dist="25400" dir="5400000" algn="bl" rotWithShape="0">
              <a:srgbClr val="16255C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190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4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Visibilidad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Establecerla según la amplitud con la que se utilizará el espacio: propiedad personal o visible para la organización.</a:t>
            </a:r>
            <a:endParaRPr lang="en-US" sz="1250" dirty="0"/>
          </a:p>
        </p:txBody>
      </p:sp>
      <p:sp>
        <p:nvSpPr>
          <p:cNvPr id="7" name="Tarjeta de gobernanz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536192"/>
            <a:ext cx="39319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blurRad="127000" dist="25400" dir="5400000" algn="bl" rotWithShape="0">
              <a:srgbClr val="16255C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7190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4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Uso compartido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208483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mediante vínculo y aprovechar la exploración de nivel de organización o los catálogos disponibles.</a:t>
            </a:r>
            <a:endParaRPr lang="en-US" sz="1250" dirty="0"/>
          </a:p>
        </p:txBody>
      </p:sp>
      <p:sp>
        <p:nvSpPr>
          <p:cNvPr id="10" name="Tarjeta de gobernanz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72384"/>
            <a:ext cx="39319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blurRad="127000" dist="25400" dir="5400000" algn="bl" rotWithShape="0">
              <a:srgbClr val="16255C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2552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54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Detectabilidad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claro y orientado al propósito, con etiquetas y palabras clave en la descripción.</a:t>
            </a:r>
            <a:endParaRPr lang="en-US" sz="1250" dirty="0"/>
          </a:p>
        </p:txBody>
      </p:sp>
      <p:sp>
        <p:nvSpPr>
          <p:cNvPr id="13" name="Tarjeta de gobernanz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3072384"/>
            <a:ext cx="39319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  <a:effectLst>
            <a:outerShdw blurRad="127000" dist="25400" dir="5400000" algn="bl" rotWithShape="0">
              <a:srgbClr val="16255C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2552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4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trabajo por espacio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3621024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breve que indique el ámbito, la audiencia prevista y las salidas esperadas.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5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16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espacio no concede acceso nuevo</a:t>
            </a:r>
            <a:endParaRPr lang="en-US" sz="3000" dirty="0"/>
          </a:p>
        </p:txBody>
      </p:sp>
      <p:pic>
        <p:nvPicPr>
          <p:cNvPr id="4" name="Image 0" descr="Ilustración de un escudo sobre una red de permisos"/>
          <p:cNvPicPr>
            <a:picLocks noChangeAspect="1"/>
          </p:cNvPicPr>
          <p:nvPr/>
        </p:nvPicPr>
        <p:blipFill>
          <a:blip r:embed="rId3"/>
          <a:srcRect t="629" b="629"/>
          <a:stretch/>
        </p:blipFill>
        <p:spPr>
          <a:xfrm>
            <a:off x="5349240" y="1371600"/>
            <a:ext cx="324612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sigue los permisos existentes de GitHub: solo se expone contenido que los usuarios ya tienen derecho a ver. Si un espacio vincula repositorios privados, problemas o solicitudes de incorporación de cambios, únicamente quienes tengan los permisos adecuados verán ese material reflejado en las respuestas.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2697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Prácticas recomendadas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30632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pegar datos confidenciales en notas de texto libre.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Preferir archivos controlados por versiones, con revisiones y permisos normales.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que los orígenes adjuntos sean adecuados para la visibilidad elegida.</a:t>
            </a:r>
            <a:endParaRPr lang="en-US" sz="1300" dirty="0"/>
          </a:p>
        </p:txBody>
      </p:sp>
      <p:sp>
        <p:nvSpPr>
          <p:cNvPr id="8" name="Nota de segurid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49240" y="3840480"/>
            <a:ext cx="3246120" cy="822960"/>
          </a:xfrm>
          <a:prstGeom prst="rect">
            <a:avLst/>
          </a:prstGeom>
          <a:solidFill>
            <a:srgbClr val="F3F5FC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32120" y="39776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el acceso con un usuario que no sea propietario y que tenga los permisos esperados.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A4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Versionado y actualización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B9C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espacios permanecen actualizados al utilizar orígenes de GitHub en directo, lo que reduce la necesidad de copiar contenido en documentos independientes.</a:t>
            </a:r>
            <a:endParaRPr lang="en-US" sz="1300" dirty="0"/>
          </a:p>
        </p:txBody>
      </p:sp>
      <p:sp>
        <p:nvSpPr>
          <p:cNvPr id="5" name="Tarjeta de version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11680"/>
            <a:ext cx="3931920" cy="1965960"/>
          </a:xfrm>
          <a:prstGeom prst="rect">
            <a:avLst/>
          </a:prstGeom>
          <a:solidFill>
            <a:srgbClr val="16255C"/>
          </a:solidFill>
          <a:ln w="12700">
            <a:solidFill>
              <a:srgbClr val="2C3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24028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E9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Siempre en directo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265176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archivos vinculados reflejan la rama predeterminada del repositorio, y los problemas y solicitudes de cambios evolucionan a medida que cambian.</a:t>
            </a:r>
            <a:endParaRPr lang="en-US" sz="1250" dirty="0"/>
          </a:p>
        </p:txBody>
      </p:sp>
      <p:sp>
        <p:nvSpPr>
          <p:cNvPr id="8" name="Tarjeta de version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2011680"/>
            <a:ext cx="3931920" cy="1965960"/>
          </a:xfrm>
          <a:prstGeom prst="rect">
            <a:avLst/>
          </a:prstGeom>
          <a:solidFill>
            <a:srgbClr val="16255C"/>
          </a:solidFill>
          <a:ln w="12700">
            <a:solidFill>
              <a:srgbClr val="2C3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224028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4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Cuando necesitas una instantánea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19472" y="265176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Restringir las referencias a los archivos pertinentes, agregar un ejemplo breve en texto libre o adjuntar un archivo con el contenido exacto que debe usar el espacio.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5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el ámbito pequeño hace que las actualizaciones sean predecibles y fundamentadas.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5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16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Ligera, pero intencionada</a:t>
            </a:r>
            <a:endParaRPr lang="en-US" sz="3000" dirty="0"/>
          </a:p>
        </p:txBody>
      </p:sp>
      <p:sp>
        <p:nvSpPr>
          <p:cNvPr id="4" name="Tarjeta de gobernanz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08760"/>
            <a:ext cx="2560320" cy="1280160"/>
          </a:xfrm>
          <a:prstGeom prst="rect">
            <a:avLst/>
          </a:prstGeom>
          <a:solidFill>
            <a:srgbClr val="F3F5FC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5" name="Acento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508760"/>
            <a:ext cx="54864" cy="1280160"/>
          </a:xfrm>
          <a:prstGeom prst="rect">
            <a:avLst/>
          </a:prstGeom>
          <a:solidFill>
            <a:srgbClr val="2B54DE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91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Propiedad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0391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un propietario o mantenedor responsable del espacio.</a:t>
            </a:r>
            <a:endParaRPr lang="en-US" sz="1200" dirty="0"/>
          </a:p>
        </p:txBody>
      </p:sp>
      <p:sp>
        <p:nvSpPr>
          <p:cNvPr id="8" name="Tarjeta de gobernanz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508760"/>
            <a:ext cx="2560320" cy="1280160"/>
          </a:xfrm>
          <a:prstGeom prst="rect">
            <a:avLst/>
          </a:prstGeom>
          <a:solidFill>
            <a:srgbClr val="F3F5FC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9" name="Acento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508760"/>
            <a:ext cx="54864" cy="1280160"/>
          </a:xfrm>
          <a:prstGeom prst="rect">
            <a:avLst/>
          </a:prstGeom>
          <a:solidFill>
            <a:srgbClr val="7A4DE8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1691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Orientación de uso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47872" y="20391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"Cómo usar este Espacio" al comienzo de las instrucciones.</a:t>
            </a:r>
            <a:endParaRPr lang="en-US" sz="1200" dirty="0"/>
          </a:p>
        </p:txBody>
      </p:sp>
      <p:sp>
        <p:nvSpPr>
          <p:cNvPr id="12" name="Tarjeta de gobernanz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508760"/>
            <a:ext cx="2560320" cy="1280160"/>
          </a:xfrm>
          <a:prstGeom prst="rect">
            <a:avLst/>
          </a:prstGeom>
          <a:solidFill>
            <a:srgbClr val="F3F5FC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3" name="Acento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508760"/>
            <a:ext cx="54864" cy="1280160"/>
          </a:xfrm>
          <a:prstGeom prst="rect">
            <a:avLst/>
          </a:prstGeom>
          <a:solidFill>
            <a:srgbClr val="2B54DE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16916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Ejemplos canónicos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91072" y="203911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y 3 ejemplos que definan una salida adecuada.</a:t>
            </a:r>
            <a:endParaRPr lang="en-US" sz="1200" dirty="0"/>
          </a:p>
        </p:txBody>
      </p:sp>
      <p:sp>
        <p:nvSpPr>
          <p:cNvPr id="16" name="Tarjeta de gobernanz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971800"/>
            <a:ext cx="2560320" cy="1280160"/>
          </a:xfrm>
          <a:prstGeom prst="rect">
            <a:avLst/>
          </a:prstGeom>
          <a:solidFill>
            <a:srgbClr val="F3F5FC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7" name="Acento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971800"/>
            <a:ext cx="54864" cy="1280160"/>
          </a:xfrm>
          <a:prstGeom prst="rect">
            <a:avLst/>
          </a:prstGeom>
          <a:solidFill>
            <a:srgbClr val="7A4DE8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154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Nomenclatura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" y="35021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Convenciones coherentes, como "ServiceName—Onboarding Helper".</a:t>
            </a:r>
            <a:endParaRPr lang="en-US" sz="1200" dirty="0"/>
          </a:p>
        </p:txBody>
      </p:sp>
      <p:sp>
        <p:nvSpPr>
          <p:cNvPr id="20" name="Tarjeta de gobernanz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971800"/>
            <a:ext cx="2560320" cy="1280160"/>
          </a:xfrm>
          <a:prstGeom prst="rect">
            <a:avLst/>
          </a:prstGeom>
          <a:solidFill>
            <a:srgbClr val="F3F5FC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21" name="Acento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2971800"/>
            <a:ext cx="54864" cy="1280160"/>
          </a:xfrm>
          <a:prstGeom prst="rect">
            <a:avLst/>
          </a:prstGeom>
          <a:solidFill>
            <a:srgbClr val="2B54DE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3154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Cadencia de revisión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47872" y="35021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ejemplo, mensual o en cada versión del producto.</a:t>
            </a:r>
            <a:endParaRPr lang="en-US" sz="1200" dirty="0"/>
          </a:p>
        </p:txBody>
      </p:sp>
      <p:sp>
        <p:nvSpPr>
          <p:cNvPr id="24" name="Tarjeta de gobernanz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2971800"/>
            <a:ext cx="2560320" cy="1280160"/>
          </a:xfrm>
          <a:prstGeom prst="rect">
            <a:avLst/>
          </a:prstGeom>
          <a:solidFill>
            <a:srgbClr val="F3F5FC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25" name="Acento later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2971800"/>
            <a:ext cx="54864" cy="1280160"/>
          </a:xfrm>
          <a:prstGeom prst="rect">
            <a:avLst/>
          </a:prstGeom>
          <a:solidFill>
            <a:srgbClr val="7A4DE8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3154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Higiene del contexto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91072" y="35021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fuentes obsoletas y dividir el espacio si abarca más de un trabajo.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4988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las instrucciones alineadas con la realidad del proyecto.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5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A PUNTO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16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Lista de comprobación</a:t>
            </a:r>
            <a:endParaRPr lang="en-US" sz="3000" dirty="0"/>
          </a:p>
        </p:txBody>
      </p:sp>
      <p:sp>
        <p:nvSpPr>
          <p:cNvPr id="4" name="Fila de la lis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5" name="Casilla marc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09344"/>
            <a:ext cx="274320" cy="274320"/>
          </a:xfrm>
          <a:prstGeom prst="rect">
            <a:avLst/>
          </a:prstGeom>
          <a:solidFill>
            <a:srgbClr val="2B54DE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4630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Nomenclatura y propósito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57600" y="14630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claro, descripción de 1 a 2 oraciones y nota inicial de uso.</a:t>
            </a:r>
            <a:endParaRPr lang="en-US" sz="1200" dirty="0"/>
          </a:p>
        </p:txBody>
      </p:sp>
      <p:sp>
        <p:nvSpPr>
          <p:cNvPr id="8" name="Fila de la lis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21408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9" name="Casilla marc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267712"/>
            <a:ext cx="274320" cy="274320"/>
          </a:xfrm>
          <a:prstGeom prst="rect">
            <a:avLst/>
          </a:prstGeom>
          <a:solidFill>
            <a:srgbClr val="7A4DE8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1214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Propiedad y visibilidad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57600" y="212140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 correcto, visibilidad adecuada y acceso verificado.</a:t>
            </a:r>
            <a:endParaRPr lang="en-US" sz="1200" dirty="0"/>
          </a:p>
        </p:txBody>
      </p:sp>
      <p:sp>
        <p:nvSpPr>
          <p:cNvPr id="12" name="Fila de la lis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779776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3" name="Casilla marc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926080"/>
            <a:ext cx="274320" cy="274320"/>
          </a:xfrm>
          <a:prstGeom prst="rect">
            <a:avLst/>
          </a:prstGeom>
          <a:solidFill>
            <a:srgbClr val="2B54DE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277977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 y privacidad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0" y="277977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confidenciales en texto libre; orígenes adecuados y sin material obsoleto.</a:t>
            </a:r>
            <a:endParaRPr lang="en-US" sz="1200" dirty="0"/>
          </a:p>
        </p:txBody>
      </p:sp>
      <p:sp>
        <p:nvSpPr>
          <p:cNvPr id="16" name="Fila de la lis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38144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7" name="Casilla marc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3584448"/>
            <a:ext cx="274320" cy="274320"/>
          </a:xfrm>
          <a:prstGeom prst="rect">
            <a:avLst/>
          </a:prstGeom>
          <a:solidFill>
            <a:srgbClr val="7A4DE8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343814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Detectabilidad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657600" y="343814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Nomenclatura coherente, palabras clave y anuncio en el canal de la organización.</a:t>
            </a:r>
            <a:endParaRPr lang="en-US" sz="1200" dirty="0"/>
          </a:p>
        </p:txBody>
      </p:sp>
      <p:sp>
        <p:nvSpPr>
          <p:cNvPr id="20" name="Fila de la lis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96512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21" name="Casilla marc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4242816"/>
            <a:ext cx="274320" cy="274320"/>
          </a:xfrm>
          <a:prstGeom prst="rect">
            <a:avLst/>
          </a:prstGeom>
          <a:solidFill>
            <a:srgbClr val="2B54DE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409651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5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Revisión y gobernanza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657600" y="409651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vínculos, probar 2–3 indicaciones, actualizar ejemplos y confirmar visibilidad.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B5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DIARIO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E16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debes y no debes hacer</a:t>
            </a:r>
            <a:endParaRPr lang="en-US" sz="3000" dirty="0"/>
          </a:p>
        </p:txBody>
      </p:sp>
      <p:sp>
        <p:nvSpPr>
          <p:cNvPr id="4" name="Tarjeta recomendacione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71600"/>
            <a:ext cx="3931920" cy="3291840"/>
          </a:xfrm>
          <a:prstGeom prst="rect">
            <a:avLst/>
          </a:prstGeom>
          <a:solidFill>
            <a:srgbClr val="E8EDFB"/>
          </a:solidFill>
          <a:ln w="12700">
            <a:solidFill>
              <a:srgbClr val="C9D4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7276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54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Recomendado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las preguntas cerca de los orígenes adjuntos.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el espacio como un entorno de una sola tarea o dominio.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terminología propia y consistente.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la intención y añadir restricciones concretas.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código, consultas o comandos ejecutables y verificables.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referencias a los orígenes para facilitar la rastreabilidad.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6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 ajustando instrucciones y retirando orígenes ruidosos.</a:t>
            </a:r>
            <a:endParaRPr lang="en-US" sz="1150" dirty="0"/>
          </a:p>
        </p:txBody>
      </p:sp>
      <p:sp>
        <p:nvSpPr>
          <p:cNvPr id="7" name="Tarjeta advertencia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1371600"/>
            <a:ext cx="3840480" cy="3291840"/>
          </a:xfrm>
          <a:prstGeom prst="rect">
            <a:avLst/>
          </a:prstGeom>
          <a:solidFill>
            <a:srgbClr val="16255C"/>
          </a:solidFill>
          <a:ln w="12700">
            <a:solidFill>
              <a:srgbClr val="1625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5727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4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evitar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96596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Mencionar personas u otras extensiones de Copilot dentro del espacio.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que Copilot extraiga contenido que no esté incluido en el espacio.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que el espacio crezca más allá de una sola tarea.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Superar los límites de contexto del modelo: dividir en espacios menores.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D5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 datos confidenciales en notas de texto libre.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A4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delimitado, respuestas fundamentadas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B9C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espacio pequeño, bien nombrado, con instrucciones claras y fuentes vivas convierte a Copilot en un colaborador predecible para un trabajo concreto.</a:t>
            </a:r>
            <a:endParaRPr lang="en-US" sz="1500" dirty="0"/>
          </a:p>
        </p:txBody>
      </p:sp>
      <p:sp>
        <p:nvSpPr>
          <p:cNvPr id="5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794760"/>
            <a:ext cx="1005840" cy="45720"/>
          </a:xfrm>
          <a:prstGeom prst="rect">
            <a:avLst/>
          </a:prstGeom>
          <a:solidFill>
            <a:srgbClr val="2B54DE"/>
          </a:solidFill>
          <a:ln w="12700">
            <a:solidFill>
              <a:srgbClr val="2B5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005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5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github.com/copilot/spaces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2012-07-30T22:48:03Z</dcterms:created>
  <dcterms:modified xsi:type="dcterms:W3CDTF">2026-08-19T19:00:53Z</dcterms:modified>
</cp:coreProperties>
</file>